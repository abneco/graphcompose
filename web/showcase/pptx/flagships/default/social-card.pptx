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6256000" cy="812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8128000"/>
          </a:xfrm>
          <a:prstGeom prst="rect">
            <a:avLst/>
          </a:prstGeom>
          <a:solidFill>
            <a:srgbClr val="090C1B"/>
          </a:solidFill>
          <a:ln>
            <a:noFill/>
          </a:ln>
        </p:spPr>
      </p:sp>
      <p:sp>
        <p:nvSpPr>
          <p:cNvPr name="AutoShape 3" id="3"/>
          <p:cNvSpPr/>
          <p:nvPr/>
        </p:nvSpPr>
        <p:spPr>
          <a:xfrm>
            <a:off x="1016000" y="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4" id="4"/>
          <p:cNvSpPr/>
          <p:nvPr/>
        </p:nvSpPr>
        <p:spPr>
          <a:xfrm>
            <a:off x="2032000" y="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5" id="5"/>
          <p:cNvSpPr/>
          <p:nvPr/>
        </p:nvSpPr>
        <p:spPr>
          <a:xfrm>
            <a:off x="3048000" y="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6" id="6"/>
          <p:cNvSpPr/>
          <p:nvPr/>
        </p:nvSpPr>
        <p:spPr>
          <a:xfrm>
            <a:off x="4064000" y="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7" id="7"/>
          <p:cNvSpPr/>
          <p:nvPr/>
        </p:nvSpPr>
        <p:spPr>
          <a:xfrm>
            <a:off x="5080000" y="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8" id="8"/>
          <p:cNvSpPr/>
          <p:nvPr/>
        </p:nvSpPr>
        <p:spPr>
          <a:xfrm>
            <a:off x="6096000" y="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9" id="9"/>
          <p:cNvSpPr/>
          <p:nvPr/>
        </p:nvSpPr>
        <p:spPr>
          <a:xfrm>
            <a:off x="7112000" y="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10" id="10"/>
          <p:cNvSpPr/>
          <p:nvPr/>
        </p:nvSpPr>
        <p:spPr>
          <a:xfrm>
            <a:off x="8128000" y="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11" id="11"/>
          <p:cNvSpPr/>
          <p:nvPr/>
        </p:nvSpPr>
        <p:spPr>
          <a:xfrm>
            <a:off x="9144000" y="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12" id="12"/>
          <p:cNvSpPr/>
          <p:nvPr/>
        </p:nvSpPr>
        <p:spPr>
          <a:xfrm>
            <a:off x="10160000" y="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13" id="13"/>
          <p:cNvSpPr/>
          <p:nvPr/>
        </p:nvSpPr>
        <p:spPr>
          <a:xfrm>
            <a:off x="11176000" y="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14" id="14"/>
          <p:cNvSpPr/>
          <p:nvPr/>
        </p:nvSpPr>
        <p:spPr>
          <a:xfrm>
            <a:off x="12192000" y="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15" id="15"/>
          <p:cNvSpPr/>
          <p:nvPr/>
        </p:nvSpPr>
        <p:spPr>
          <a:xfrm>
            <a:off x="13208000" y="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16" id="16"/>
          <p:cNvSpPr/>
          <p:nvPr/>
        </p:nvSpPr>
        <p:spPr>
          <a:xfrm>
            <a:off x="14224000" y="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17" id="17"/>
          <p:cNvSpPr/>
          <p:nvPr/>
        </p:nvSpPr>
        <p:spPr>
          <a:xfrm>
            <a:off x="15240000" y="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18" id="18"/>
          <p:cNvSpPr/>
          <p:nvPr/>
        </p:nvSpPr>
        <p:spPr>
          <a:xfrm>
            <a:off x="0" y="1016000"/>
            <a:ext cx="16256000" cy="762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19" id="19"/>
          <p:cNvSpPr/>
          <p:nvPr/>
        </p:nvSpPr>
        <p:spPr>
          <a:xfrm>
            <a:off x="0" y="2032000"/>
            <a:ext cx="16256000" cy="762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20" id="20"/>
          <p:cNvSpPr/>
          <p:nvPr/>
        </p:nvSpPr>
        <p:spPr>
          <a:xfrm>
            <a:off x="0" y="3048000"/>
            <a:ext cx="16256000" cy="762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21" id="21"/>
          <p:cNvSpPr/>
          <p:nvPr/>
        </p:nvSpPr>
        <p:spPr>
          <a:xfrm>
            <a:off x="0" y="4064000"/>
            <a:ext cx="16256000" cy="762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22" id="22"/>
          <p:cNvSpPr/>
          <p:nvPr/>
        </p:nvSpPr>
        <p:spPr>
          <a:xfrm>
            <a:off x="0" y="5080000"/>
            <a:ext cx="16256000" cy="762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23" id="23"/>
          <p:cNvSpPr/>
          <p:nvPr/>
        </p:nvSpPr>
        <p:spPr>
          <a:xfrm>
            <a:off x="0" y="6096000"/>
            <a:ext cx="16256000" cy="762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24" id="24"/>
          <p:cNvSpPr/>
          <p:nvPr/>
        </p:nvSpPr>
        <p:spPr>
          <a:xfrm>
            <a:off x="0" y="7112000"/>
            <a:ext cx="16256000" cy="762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25" id="25"/>
          <p:cNvSpPr/>
          <p:nvPr/>
        </p:nvSpPr>
        <p:spPr>
          <a:xfrm>
            <a:off x="711200" y="431800"/>
            <a:ext cx="4318000" cy="939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sp>
      <p:pic>
        <p:nvPicPr>
          <p:cNvPr name="GraphCompose Clipped Composite" id="2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81000"/>
            <a:ext cx="4191000" cy="987992"/>
          </a:xfrm>
          <a:prstGeom prst="rect">
            <a:avLst/>
          </a:prstGeom>
        </p:spPr>
      </p:pic>
      <p:sp>
        <p:nvSpPr>
          <p:cNvPr name="GraphCompose Text Line" id="27"/>
          <p:cNvSpPr txBox="true"/>
          <p:nvPr/>
        </p:nvSpPr>
        <p:spPr>
          <a:xfrm>
            <a:off x="762000" y="1277989"/>
            <a:ext cx="3316656" cy="21145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true" i="false" u="none" strike="noStrike" kern="0">
                <a:solidFill>
                  <a:srgbClr val="F5F7FC"/>
                </a:solidFill>
                <a:latin typeface="Arial"/>
              </a:rPr>
              <a:t>One layout pass. Two outputs.</a:t>
            </a:r>
            <a:endParaRPr lang="en-US" sz="1100"/>
          </a:p>
        </p:txBody>
      </p:sp>
      <p:sp>
        <p:nvSpPr>
          <p:cNvPr name="GraphCompose Text Line" id="28"/>
          <p:cNvSpPr txBox="true"/>
          <p:nvPr/>
        </p:nvSpPr>
        <p:spPr>
          <a:xfrm>
            <a:off x="762000" y="7412476"/>
            <a:ext cx="3331210" cy="11479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50" b="false" i="false" u="none" strike="noStrike" kern="0">
                <a:solidFill>
                  <a:srgbClr val="37D6A1"/>
                </a:solidFill>
                <a:latin typeface="Courier New"/>
              </a:rPr>
              <a:t>Java 17+   ·   MIT   ·   Maven Central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>
            <a:off x="787400" y="3810000"/>
            <a:ext cx="1498600" cy="1422400"/>
          </a:xfrm>
          <a:prstGeom prst="roundRect">
            <a:avLst>
              <a:gd name="adj" fmla="val 5357"/>
            </a:avLst>
          </a:prstGeom>
          <a:solidFill>
            <a:srgbClr val="000000">
              <a:alpha val="0"/>
            </a:srgbClr>
          </a:solidFill>
          <a:ln w="11430">
            <a:solidFill>
              <a:srgbClr val="37D6A1">
                <a:alpha val="45098"/>
              </a:srgbClr>
            </a:solidFill>
          </a:ln>
        </p:spPr>
      </p:sp>
      <p:sp>
        <p:nvSpPr>
          <p:cNvPr name="AutoShape 30" id="30"/>
          <p:cNvSpPr/>
          <p:nvPr/>
        </p:nvSpPr>
        <p:spPr>
          <a:xfrm>
            <a:off x="990600" y="4064000"/>
            <a:ext cx="736600" cy="939800"/>
          </a:xfrm>
          <a:prstGeom prst="roundRect">
            <a:avLst>
              <a:gd name="adj" fmla="val 5172"/>
            </a:avLst>
          </a:prstGeom>
          <a:solidFill>
            <a:srgbClr val="141B33">
              <a:alpha val="92157"/>
            </a:srgbClr>
          </a:solidFill>
          <a:ln w="8890">
            <a:solidFill>
              <a:srgbClr val="CED5EB">
                <a:alpha val="45098"/>
              </a:srgbClr>
            </a:solidFill>
          </a:ln>
        </p:spPr>
      </p:sp>
      <p:sp>
        <p:nvSpPr>
          <p:cNvPr name="AutoShape 31" id="31"/>
          <p:cNvSpPr/>
          <p:nvPr/>
        </p:nvSpPr>
        <p:spPr>
          <a:xfrm>
            <a:off x="1104900" y="4216400"/>
            <a:ext cx="330200" cy="3048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32" id="32"/>
          <p:cNvSpPr/>
          <p:nvPr/>
        </p:nvSpPr>
        <p:spPr>
          <a:xfrm>
            <a:off x="1104900" y="4318000"/>
            <a:ext cx="431800" cy="3048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33" id="33"/>
          <p:cNvSpPr/>
          <p:nvPr/>
        </p:nvSpPr>
        <p:spPr>
          <a:xfrm>
            <a:off x="1104900" y="4419600"/>
            <a:ext cx="381000" cy="3048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34" id="34"/>
          <p:cNvSpPr/>
          <p:nvPr/>
        </p:nvSpPr>
        <p:spPr>
          <a:xfrm>
            <a:off x="1104900" y="4521200"/>
            <a:ext cx="330200" cy="3048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35" id="35"/>
          <p:cNvSpPr/>
          <p:nvPr/>
        </p:nvSpPr>
        <p:spPr>
          <a:xfrm>
            <a:off x="1143000" y="4152900"/>
            <a:ext cx="736600" cy="939800"/>
          </a:xfrm>
          <a:prstGeom prst="roundRect">
            <a:avLst>
              <a:gd name="adj" fmla="val 5172"/>
            </a:avLst>
          </a:prstGeom>
          <a:solidFill>
            <a:srgbClr val="141B33">
              <a:alpha val="92157"/>
            </a:srgbClr>
          </a:solidFill>
          <a:ln w="8890">
            <a:solidFill>
              <a:srgbClr val="CED5EB">
                <a:alpha val="45098"/>
              </a:srgbClr>
            </a:solidFill>
          </a:ln>
        </p:spPr>
      </p:sp>
      <p:sp>
        <p:nvSpPr>
          <p:cNvPr name="AutoShape 36" id="36"/>
          <p:cNvSpPr/>
          <p:nvPr/>
        </p:nvSpPr>
        <p:spPr>
          <a:xfrm>
            <a:off x="1257300" y="4305300"/>
            <a:ext cx="330200" cy="3048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37" id="37"/>
          <p:cNvSpPr/>
          <p:nvPr/>
        </p:nvSpPr>
        <p:spPr>
          <a:xfrm>
            <a:off x="1257300" y="4406900"/>
            <a:ext cx="431800" cy="3048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38" id="38"/>
          <p:cNvSpPr/>
          <p:nvPr/>
        </p:nvSpPr>
        <p:spPr>
          <a:xfrm>
            <a:off x="1257300" y="4508500"/>
            <a:ext cx="381000" cy="3048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39" id="39"/>
          <p:cNvSpPr/>
          <p:nvPr/>
        </p:nvSpPr>
        <p:spPr>
          <a:xfrm>
            <a:off x="1257300" y="4610100"/>
            <a:ext cx="330200" cy="3048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40" id="40"/>
          <p:cNvSpPr/>
          <p:nvPr/>
        </p:nvSpPr>
        <p:spPr>
          <a:xfrm>
            <a:off x="1295400" y="4241800"/>
            <a:ext cx="736600" cy="939800"/>
          </a:xfrm>
          <a:prstGeom prst="roundRect">
            <a:avLst>
              <a:gd name="adj" fmla="val 5172"/>
            </a:avLst>
          </a:prstGeom>
          <a:solidFill>
            <a:srgbClr val="141B33">
              <a:alpha val="92157"/>
            </a:srgbClr>
          </a:solidFill>
          <a:ln w="8890">
            <a:solidFill>
              <a:srgbClr val="CED5EB">
                <a:alpha val="45098"/>
              </a:srgbClr>
            </a:solidFill>
          </a:ln>
        </p:spPr>
      </p:sp>
      <p:sp>
        <p:nvSpPr>
          <p:cNvPr name="AutoShape 41" id="41"/>
          <p:cNvSpPr/>
          <p:nvPr/>
        </p:nvSpPr>
        <p:spPr>
          <a:xfrm>
            <a:off x="1409700" y="4394200"/>
            <a:ext cx="330200" cy="3048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42" id="42"/>
          <p:cNvSpPr/>
          <p:nvPr/>
        </p:nvSpPr>
        <p:spPr>
          <a:xfrm>
            <a:off x="1409700" y="4495800"/>
            <a:ext cx="431800" cy="3048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43" id="43"/>
          <p:cNvSpPr/>
          <p:nvPr/>
        </p:nvSpPr>
        <p:spPr>
          <a:xfrm>
            <a:off x="1409700" y="4597400"/>
            <a:ext cx="381000" cy="3048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44" id="44"/>
          <p:cNvSpPr/>
          <p:nvPr/>
        </p:nvSpPr>
        <p:spPr>
          <a:xfrm>
            <a:off x="1409700" y="4699000"/>
            <a:ext cx="330200" cy="3048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45" id="45"/>
          <p:cNvSpPr/>
          <p:nvPr/>
        </p:nvSpPr>
        <p:spPr>
          <a:xfrm>
            <a:off x="2489200" y="4521200"/>
            <a:ext cx="584200" cy="12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name="AutoShape 46" id="46"/>
          <p:cNvSpPr/>
          <p:nvPr/>
        </p:nvSpPr>
        <p:spPr>
          <a:xfrm>
            <a:off x="2489200" y="4578350"/>
            <a:ext cx="482600" cy="13970"/>
          </a:xfrm>
          <a:prstGeom prst="rect">
            <a:avLst/>
          </a:prstGeom>
          <a:solidFill>
            <a:srgbClr val="37D6A1">
              <a:alpha val="74902"/>
            </a:srgbClr>
          </a:solidFill>
          <a:ln>
            <a:noFill/>
          </a:ln>
        </p:spPr>
      </p:sp>
      <p:sp>
        <p:nvSpPr>
          <p:cNvPr name="AutoShape 47" id="47"/>
          <p:cNvSpPr/>
          <p:nvPr/>
        </p:nvSpPr>
        <p:spPr>
          <a:xfrm>
            <a:off x="2971800" y="4552950"/>
            <a:ext cx="63500" cy="63500"/>
          </a:xfrm>
          <a:prstGeom prst="ellipse">
            <a:avLst/>
          </a:prstGeom>
          <a:solidFill>
            <a:srgbClr val="37D6A1"/>
          </a:solidFill>
          <a:ln>
            <a:noFill/>
          </a:ln>
        </p:spPr>
      </p:sp>
      <p:sp>
        <p:nvSpPr>
          <p:cNvPr name="AutoShape 48" id="48"/>
          <p:cNvSpPr/>
          <p:nvPr/>
        </p:nvSpPr>
        <p:spPr>
          <a:xfrm>
            <a:off x="3225800" y="1905000"/>
            <a:ext cx="5283200" cy="5029200"/>
          </a:xfrm>
          <a:prstGeom prst="roundRect">
            <a:avLst>
              <a:gd name="adj" fmla="val 2020"/>
            </a:avLst>
          </a:prstGeom>
          <a:solidFill>
            <a:srgbClr val="0F1428">
              <a:alpha val="66667"/>
            </a:srgbClr>
          </a:solidFill>
          <a:ln w="12700">
            <a:solidFill>
              <a:srgbClr val="7C5CFC">
                <a:alpha val="41961"/>
              </a:srgbClr>
            </a:solidFill>
          </a:ln>
        </p:spPr>
      </p:sp>
      <p:sp>
        <p:nvSpPr>
          <p:cNvPr name="AutoShape 49" id="49"/>
          <p:cNvSpPr/>
          <p:nvPr/>
        </p:nvSpPr>
        <p:spPr>
          <a:xfrm>
            <a:off x="5406644" y="2235200"/>
            <a:ext cx="863600" cy="381000"/>
          </a:xfrm>
          <a:prstGeom prst="roundRect">
            <a:avLst>
              <a:gd name="adj" fmla="val 13333"/>
            </a:avLst>
          </a:prstGeom>
          <a:solidFill>
            <a:srgbClr val="141B33">
              <a:alpha val="85098"/>
            </a:srgbClr>
          </a:solidFill>
          <a:ln w="11430">
            <a:solidFill>
              <a:srgbClr val="B59FFF"/>
            </a:solidFill>
          </a:ln>
        </p:spPr>
      </p:sp>
      <p:sp>
        <p:nvSpPr>
          <p:cNvPr name="AutoShape 50" id="50"/>
          <p:cNvSpPr/>
          <p:nvPr/>
        </p:nvSpPr>
        <p:spPr>
          <a:xfrm>
            <a:off x="5508244" y="2336800"/>
            <a:ext cx="474980" cy="38100"/>
          </a:xfrm>
          <a:prstGeom prst="rect">
            <a:avLst/>
          </a:prstGeom>
          <a:solidFill>
            <a:srgbClr val="B59FFF">
              <a:alpha val="54902"/>
            </a:srgbClr>
          </a:solidFill>
          <a:ln>
            <a:noFill/>
          </a:ln>
        </p:spPr>
      </p:sp>
      <p:sp>
        <p:nvSpPr>
          <p:cNvPr name="AutoShape 51" id="51"/>
          <p:cNvSpPr/>
          <p:nvPr/>
        </p:nvSpPr>
        <p:spPr>
          <a:xfrm>
            <a:off x="5508244" y="2438400"/>
            <a:ext cx="310896" cy="30480"/>
          </a:xfrm>
          <a:prstGeom prst="rect">
            <a:avLst/>
          </a:prstGeom>
          <a:solidFill>
            <a:srgbClr val="F5F7FC">
              <a:alpha val="21961"/>
            </a:srgbClr>
          </a:solidFill>
          <a:ln>
            <a:noFill/>
          </a:ln>
        </p:spPr>
      </p:sp>
      <p:sp>
        <p:nvSpPr>
          <p:cNvPr name="AutoShape 52" id="52"/>
          <p:cNvSpPr/>
          <p:nvPr/>
        </p:nvSpPr>
        <p:spPr>
          <a:xfrm>
            <a:off x="5838444" y="2616200"/>
            <a:ext cx="12700" cy="254000"/>
          </a:xfrm>
          <a:prstGeom prst="rect">
            <a:avLst/>
          </a:prstGeom>
          <a:solidFill>
            <a:srgbClr val="7C5CFC">
              <a:alpha val="50196"/>
            </a:srgbClr>
          </a:solidFill>
          <a:ln>
            <a:noFill/>
          </a:ln>
        </p:spPr>
      </p:sp>
      <p:sp>
        <p:nvSpPr>
          <p:cNvPr name="AutoShape 53" id="53"/>
          <p:cNvSpPr/>
          <p:nvPr/>
        </p:nvSpPr>
        <p:spPr>
          <a:xfrm>
            <a:off x="4359148" y="2870200"/>
            <a:ext cx="2958592" cy="12700"/>
          </a:xfrm>
          <a:prstGeom prst="rect">
            <a:avLst/>
          </a:prstGeom>
          <a:solidFill>
            <a:srgbClr val="7C5CFC">
              <a:alpha val="50196"/>
            </a:srgbClr>
          </a:solidFill>
          <a:ln>
            <a:noFill/>
          </a:ln>
        </p:spPr>
      </p:sp>
      <p:sp>
        <p:nvSpPr>
          <p:cNvPr name="AutoShape 54" id="54"/>
          <p:cNvSpPr/>
          <p:nvPr/>
        </p:nvSpPr>
        <p:spPr>
          <a:xfrm>
            <a:off x="4359148" y="2870200"/>
            <a:ext cx="12700" cy="254000"/>
          </a:xfrm>
          <a:prstGeom prst="rect">
            <a:avLst/>
          </a:prstGeom>
          <a:solidFill>
            <a:srgbClr val="7C5CFC">
              <a:alpha val="50196"/>
            </a:srgbClr>
          </a:solidFill>
          <a:ln>
            <a:noFill/>
          </a:ln>
        </p:spPr>
      </p:sp>
      <p:sp>
        <p:nvSpPr>
          <p:cNvPr name="AutoShape 55" id="55"/>
          <p:cNvSpPr/>
          <p:nvPr/>
        </p:nvSpPr>
        <p:spPr>
          <a:xfrm>
            <a:off x="3965448" y="3124200"/>
            <a:ext cx="787400" cy="355600"/>
          </a:xfrm>
          <a:prstGeom prst="roundRect">
            <a:avLst>
              <a:gd name="adj" fmla="val 14286"/>
            </a:avLst>
          </a:prstGeom>
          <a:solidFill>
            <a:srgbClr val="141B33">
              <a:alpha val="85098"/>
            </a:srgbClr>
          </a:solidFill>
          <a:ln w="11430">
            <a:solidFill>
              <a:srgbClr val="7C5CFC">
                <a:alpha val="85098"/>
              </a:srgbClr>
            </a:solidFill>
          </a:ln>
        </p:spPr>
      </p:sp>
      <p:sp>
        <p:nvSpPr>
          <p:cNvPr name="AutoShape 56" id="56"/>
          <p:cNvSpPr/>
          <p:nvPr/>
        </p:nvSpPr>
        <p:spPr>
          <a:xfrm>
            <a:off x="4067048" y="3225800"/>
            <a:ext cx="433070" cy="38100"/>
          </a:xfrm>
          <a:prstGeom prst="rect">
            <a:avLst/>
          </a:prstGeom>
          <a:solidFill>
            <a:srgbClr val="7C5CFC">
              <a:alpha val="54902"/>
            </a:srgbClr>
          </a:solidFill>
          <a:ln>
            <a:noFill/>
          </a:ln>
        </p:spPr>
      </p:sp>
      <p:sp>
        <p:nvSpPr>
          <p:cNvPr name="AutoShape 57" id="57"/>
          <p:cNvSpPr/>
          <p:nvPr/>
        </p:nvSpPr>
        <p:spPr>
          <a:xfrm>
            <a:off x="4067048" y="3327400"/>
            <a:ext cx="283464" cy="30480"/>
          </a:xfrm>
          <a:prstGeom prst="rect">
            <a:avLst/>
          </a:prstGeom>
          <a:solidFill>
            <a:srgbClr val="F5F7FC">
              <a:alpha val="21961"/>
            </a:srgbClr>
          </a:solidFill>
          <a:ln>
            <a:noFill/>
          </a:ln>
        </p:spPr>
      </p:sp>
      <p:sp>
        <p:nvSpPr>
          <p:cNvPr name="AutoShape 58" id="58"/>
          <p:cNvSpPr/>
          <p:nvPr/>
        </p:nvSpPr>
        <p:spPr>
          <a:xfrm>
            <a:off x="4359148" y="3479800"/>
            <a:ext cx="12700" cy="2286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59" id="59"/>
          <p:cNvSpPr/>
          <p:nvPr/>
        </p:nvSpPr>
        <p:spPr>
          <a:xfrm>
            <a:off x="3990848" y="3708400"/>
            <a:ext cx="736600" cy="127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60" id="60"/>
          <p:cNvSpPr/>
          <p:nvPr/>
        </p:nvSpPr>
        <p:spPr>
          <a:xfrm>
            <a:off x="3990848" y="3708400"/>
            <a:ext cx="12700" cy="1524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61" id="61"/>
          <p:cNvSpPr/>
          <p:nvPr/>
        </p:nvSpPr>
        <p:spPr>
          <a:xfrm>
            <a:off x="3876548" y="3860800"/>
            <a:ext cx="228600" cy="203200"/>
          </a:xfrm>
          <a:prstGeom prst="roundRect">
            <a:avLst>
              <a:gd name="adj" fmla="val 18750"/>
            </a:avLst>
          </a:prstGeom>
          <a:solidFill>
            <a:srgbClr val="141B33">
              <a:alpha val="90196"/>
            </a:srgbClr>
          </a:solidFill>
          <a:ln w="8890">
            <a:solidFill>
              <a:srgbClr val="7C5CFC">
                <a:alpha val="50196"/>
              </a:srgbClr>
            </a:solidFill>
          </a:ln>
        </p:spPr>
      </p:sp>
      <p:sp>
        <p:nvSpPr>
          <p:cNvPr name="AutoShape 62" id="62"/>
          <p:cNvSpPr/>
          <p:nvPr/>
        </p:nvSpPr>
        <p:spPr>
          <a:xfrm>
            <a:off x="4359148" y="3708400"/>
            <a:ext cx="12700" cy="1524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63" id="63"/>
          <p:cNvSpPr/>
          <p:nvPr/>
        </p:nvSpPr>
        <p:spPr>
          <a:xfrm>
            <a:off x="4244848" y="3860800"/>
            <a:ext cx="228600" cy="203200"/>
          </a:xfrm>
          <a:prstGeom prst="roundRect">
            <a:avLst>
              <a:gd name="adj" fmla="val 18750"/>
            </a:avLst>
          </a:prstGeom>
          <a:solidFill>
            <a:srgbClr val="141B33">
              <a:alpha val="90196"/>
            </a:srgbClr>
          </a:solidFill>
          <a:ln w="8890">
            <a:solidFill>
              <a:srgbClr val="7C5CFC">
                <a:alpha val="50196"/>
              </a:srgbClr>
            </a:solidFill>
          </a:ln>
        </p:spPr>
      </p:sp>
      <p:sp>
        <p:nvSpPr>
          <p:cNvPr name="AutoShape 64" id="64"/>
          <p:cNvSpPr/>
          <p:nvPr/>
        </p:nvSpPr>
        <p:spPr>
          <a:xfrm>
            <a:off x="4727448" y="3708400"/>
            <a:ext cx="12700" cy="1524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65" id="65"/>
          <p:cNvSpPr/>
          <p:nvPr/>
        </p:nvSpPr>
        <p:spPr>
          <a:xfrm>
            <a:off x="4613148" y="3860800"/>
            <a:ext cx="228600" cy="203200"/>
          </a:xfrm>
          <a:prstGeom prst="roundRect">
            <a:avLst>
              <a:gd name="adj" fmla="val 18750"/>
            </a:avLst>
          </a:prstGeom>
          <a:solidFill>
            <a:srgbClr val="141B33">
              <a:alpha val="90196"/>
            </a:srgbClr>
          </a:solidFill>
          <a:ln w="8890">
            <a:solidFill>
              <a:srgbClr val="7C5CFC">
                <a:alpha val="50196"/>
              </a:srgbClr>
            </a:solidFill>
          </a:ln>
        </p:spPr>
      </p:sp>
      <p:sp>
        <p:nvSpPr>
          <p:cNvPr name="AutoShape 66" id="66"/>
          <p:cNvSpPr/>
          <p:nvPr/>
        </p:nvSpPr>
        <p:spPr>
          <a:xfrm>
            <a:off x="5838444" y="2870200"/>
            <a:ext cx="12700" cy="254000"/>
          </a:xfrm>
          <a:prstGeom prst="rect">
            <a:avLst/>
          </a:prstGeom>
          <a:solidFill>
            <a:srgbClr val="7C5CFC">
              <a:alpha val="50196"/>
            </a:srgbClr>
          </a:solidFill>
          <a:ln>
            <a:noFill/>
          </a:ln>
        </p:spPr>
      </p:sp>
      <p:sp>
        <p:nvSpPr>
          <p:cNvPr name="AutoShape 67" id="67"/>
          <p:cNvSpPr/>
          <p:nvPr/>
        </p:nvSpPr>
        <p:spPr>
          <a:xfrm>
            <a:off x="5444744" y="3124200"/>
            <a:ext cx="787400" cy="355600"/>
          </a:xfrm>
          <a:prstGeom prst="roundRect">
            <a:avLst>
              <a:gd name="adj" fmla="val 14286"/>
            </a:avLst>
          </a:prstGeom>
          <a:solidFill>
            <a:srgbClr val="141B33">
              <a:alpha val="85098"/>
            </a:srgbClr>
          </a:solidFill>
          <a:ln w="11430">
            <a:solidFill>
              <a:srgbClr val="7C5CFC">
                <a:alpha val="85098"/>
              </a:srgbClr>
            </a:solidFill>
          </a:ln>
        </p:spPr>
      </p:sp>
      <p:sp>
        <p:nvSpPr>
          <p:cNvPr name="AutoShape 68" id="68"/>
          <p:cNvSpPr/>
          <p:nvPr/>
        </p:nvSpPr>
        <p:spPr>
          <a:xfrm>
            <a:off x="5546344" y="3225800"/>
            <a:ext cx="433070" cy="38100"/>
          </a:xfrm>
          <a:prstGeom prst="rect">
            <a:avLst/>
          </a:prstGeom>
          <a:solidFill>
            <a:srgbClr val="7C5CFC">
              <a:alpha val="54902"/>
            </a:srgbClr>
          </a:solidFill>
          <a:ln>
            <a:noFill/>
          </a:ln>
        </p:spPr>
      </p:sp>
      <p:sp>
        <p:nvSpPr>
          <p:cNvPr name="AutoShape 69" id="69"/>
          <p:cNvSpPr/>
          <p:nvPr/>
        </p:nvSpPr>
        <p:spPr>
          <a:xfrm>
            <a:off x="5546344" y="3327400"/>
            <a:ext cx="283464" cy="30480"/>
          </a:xfrm>
          <a:prstGeom prst="rect">
            <a:avLst/>
          </a:prstGeom>
          <a:solidFill>
            <a:srgbClr val="F5F7FC">
              <a:alpha val="21961"/>
            </a:srgbClr>
          </a:solidFill>
          <a:ln>
            <a:noFill/>
          </a:ln>
        </p:spPr>
      </p:sp>
      <p:sp>
        <p:nvSpPr>
          <p:cNvPr name="AutoShape 70" id="70"/>
          <p:cNvSpPr/>
          <p:nvPr/>
        </p:nvSpPr>
        <p:spPr>
          <a:xfrm>
            <a:off x="5838444" y="3479800"/>
            <a:ext cx="12700" cy="2286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71" id="71"/>
          <p:cNvSpPr/>
          <p:nvPr/>
        </p:nvSpPr>
        <p:spPr>
          <a:xfrm>
            <a:off x="5470144" y="3708400"/>
            <a:ext cx="736600" cy="127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72" id="72"/>
          <p:cNvSpPr/>
          <p:nvPr/>
        </p:nvSpPr>
        <p:spPr>
          <a:xfrm>
            <a:off x="5470144" y="3708400"/>
            <a:ext cx="12700" cy="1524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73" id="73"/>
          <p:cNvSpPr/>
          <p:nvPr/>
        </p:nvSpPr>
        <p:spPr>
          <a:xfrm>
            <a:off x="5355844" y="3860800"/>
            <a:ext cx="228600" cy="203200"/>
          </a:xfrm>
          <a:prstGeom prst="roundRect">
            <a:avLst>
              <a:gd name="adj" fmla="val 18750"/>
            </a:avLst>
          </a:prstGeom>
          <a:solidFill>
            <a:srgbClr val="141B33">
              <a:alpha val="90196"/>
            </a:srgbClr>
          </a:solidFill>
          <a:ln w="8890">
            <a:solidFill>
              <a:srgbClr val="7C5CFC">
                <a:alpha val="50196"/>
              </a:srgbClr>
            </a:solidFill>
          </a:ln>
        </p:spPr>
      </p:sp>
      <p:sp>
        <p:nvSpPr>
          <p:cNvPr name="AutoShape 74" id="74"/>
          <p:cNvSpPr/>
          <p:nvPr/>
        </p:nvSpPr>
        <p:spPr>
          <a:xfrm>
            <a:off x="5838444" y="3708400"/>
            <a:ext cx="12700" cy="1524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75" id="75"/>
          <p:cNvSpPr/>
          <p:nvPr/>
        </p:nvSpPr>
        <p:spPr>
          <a:xfrm>
            <a:off x="5724144" y="3860800"/>
            <a:ext cx="228600" cy="203200"/>
          </a:xfrm>
          <a:prstGeom prst="roundRect">
            <a:avLst>
              <a:gd name="adj" fmla="val 18750"/>
            </a:avLst>
          </a:prstGeom>
          <a:solidFill>
            <a:srgbClr val="141B33">
              <a:alpha val="90196"/>
            </a:srgbClr>
          </a:solidFill>
          <a:ln w="8890">
            <a:solidFill>
              <a:srgbClr val="7C5CFC">
                <a:alpha val="50196"/>
              </a:srgbClr>
            </a:solidFill>
          </a:ln>
        </p:spPr>
      </p:sp>
      <p:sp>
        <p:nvSpPr>
          <p:cNvPr name="AutoShape 76" id="76"/>
          <p:cNvSpPr/>
          <p:nvPr/>
        </p:nvSpPr>
        <p:spPr>
          <a:xfrm>
            <a:off x="6206744" y="3708400"/>
            <a:ext cx="12700" cy="1524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77" id="77"/>
          <p:cNvSpPr/>
          <p:nvPr/>
        </p:nvSpPr>
        <p:spPr>
          <a:xfrm>
            <a:off x="6092444" y="3860800"/>
            <a:ext cx="228600" cy="203200"/>
          </a:xfrm>
          <a:prstGeom prst="roundRect">
            <a:avLst>
              <a:gd name="adj" fmla="val 18750"/>
            </a:avLst>
          </a:prstGeom>
          <a:solidFill>
            <a:srgbClr val="141B33">
              <a:alpha val="90196"/>
            </a:srgbClr>
          </a:solidFill>
          <a:ln w="8890">
            <a:solidFill>
              <a:srgbClr val="7C5CFC">
                <a:alpha val="50196"/>
              </a:srgbClr>
            </a:solidFill>
          </a:ln>
        </p:spPr>
      </p:sp>
      <p:sp>
        <p:nvSpPr>
          <p:cNvPr name="AutoShape 78" id="78"/>
          <p:cNvSpPr/>
          <p:nvPr/>
        </p:nvSpPr>
        <p:spPr>
          <a:xfrm>
            <a:off x="7317740" y="2870200"/>
            <a:ext cx="12700" cy="254000"/>
          </a:xfrm>
          <a:prstGeom prst="rect">
            <a:avLst/>
          </a:prstGeom>
          <a:solidFill>
            <a:srgbClr val="7C5CFC">
              <a:alpha val="50196"/>
            </a:srgbClr>
          </a:solidFill>
          <a:ln>
            <a:noFill/>
          </a:ln>
        </p:spPr>
      </p:sp>
      <p:sp>
        <p:nvSpPr>
          <p:cNvPr name="AutoShape 79" id="79"/>
          <p:cNvSpPr/>
          <p:nvPr/>
        </p:nvSpPr>
        <p:spPr>
          <a:xfrm>
            <a:off x="6924040" y="3124200"/>
            <a:ext cx="787400" cy="355600"/>
          </a:xfrm>
          <a:prstGeom prst="roundRect">
            <a:avLst>
              <a:gd name="adj" fmla="val 14286"/>
            </a:avLst>
          </a:prstGeom>
          <a:solidFill>
            <a:srgbClr val="141B33">
              <a:alpha val="85098"/>
            </a:srgbClr>
          </a:solidFill>
          <a:ln w="11430">
            <a:solidFill>
              <a:srgbClr val="7C5CFC">
                <a:alpha val="85098"/>
              </a:srgbClr>
            </a:solidFill>
          </a:ln>
        </p:spPr>
      </p:sp>
      <p:sp>
        <p:nvSpPr>
          <p:cNvPr name="AutoShape 80" id="80"/>
          <p:cNvSpPr/>
          <p:nvPr/>
        </p:nvSpPr>
        <p:spPr>
          <a:xfrm>
            <a:off x="7025640" y="3225800"/>
            <a:ext cx="433070" cy="38100"/>
          </a:xfrm>
          <a:prstGeom prst="rect">
            <a:avLst/>
          </a:prstGeom>
          <a:solidFill>
            <a:srgbClr val="7C5CFC">
              <a:alpha val="54902"/>
            </a:srgbClr>
          </a:solidFill>
          <a:ln>
            <a:noFill/>
          </a:ln>
        </p:spPr>
      </p:sp>
      <p:sp>
        <p:nvSpPr>
          <p:cNvPr name="AutoShape 81" id="81"/>
          <p:cNvSpPr/>
          <p:nvPr/>
        </p:nvSpPr>
        <p:spPr>
          <a:xfrm>
            <a:off x="7025640" y="3327400"/>
            <a:ext cx="283464" cy="30480"/>
          </a:xfrm>
          <a:prstGeom prst="rect">
            <a:avLst/>
          </a:prstGeom>
          <a:solidFill>
            <a:srgbClr val="F5F7FC">
              <a:alpha val="21961"/>
            </a:srgbClr>
          </a:solidFill>
          <a:ln>
            <a:noFill/>
          </a:ln>
        </p:spPr>
      </p:sp>
      <p:sp>
        <p:nvSpPr>
          <p:cNvPr name="AutoShape 82" id="82"/>
          <p:cNvSpPr/>
          <p:nvPr/>
        </p:nvSpPr>
        <p:spPr>
          <a:xfrm>
            <a:off x="7317740" y="3479800"/>
            <a:ext cx="12700" cy="2286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83" id="83"/>
          <p:cNvSpPr/>
          <p:nvPr/>
        </p:nvSpPr>
        <p:spPr>
          <a:xfrm>
            <a:off x="6949440" y="3708400"/>
            <a:ext cx="736600" cy="127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84" id="84"/>
          <p:cNvSpPr/>
          <p:nvPr/>
        </p:nvSpPr>
        <p:spPr>
          <a:xfrm>
            <a:off x="6949440" y="3708400"/>
            <a:ext cx="12700" cy="1524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85" id="85"/>
          <p:cNvSpPr/>
          <p:nvPr/>
        </p:nvSpPr>
        <p:spPr>
          <a:xfrm>
            <a:off x="6835140" y="3860800"/>
            <a:ext cx="228600" cy="203200"/>
          </a:xfrm>
          <a:prstGeom prst="roundRect">
            <a:avLst>
              <a:gd name="adj" fmla="val 18750"/>
            </a:avLst>
          </a:prstGeom>
          <a:solidFill>
            <a:srgbClr val="141B33">
              <a:alpha val="90196"/>
            </a:srgbClr>
          </a:solidFill>
          <a:ln w="8890">
            <a:solidFill>
              <a:srgbClr val="7C5CFC">
                <a:alpha val="50196"/>
              </a:srgbClr>
            </a:solidFill>
          </a:ln>
        </p:spPr>
      </p:sp>
      <p:sp>
        <p:nvSpPr>
          <p:cNvPr name="AutoShape 86" id="86"/>
          <p:cNvSpPr/>
          <p:nvPr/>
        </p:nvSpPr>
        <p:spPr>
          <a:xfrm>
            <a:off x="7317740" y="3708400"/>
            <a:ext cx="12700" cy="1524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87" id="87"/>
          <p:cNvSpPr/>
          <p:nvPr/>
        </p:nvSpPr>
        <p:spPr>
          <a:xfrm>
            <a:off x="7203440" y="3860800"/>
            <a:ext cx="228600" cy="203200"/>
          </a:xfrm>
          <a:prstGeom prst="roundRect">
            <a:avLst>
              <a:gd name="adj" fmla="val 18750"/>
            </a:avLst>
          </a:prstGeom>
          <a:solidFill>
            <a:srgbClr val="141B33">
              <a:alpha val="90196"/>
            </a:srgbClr>
          </a:solidFill>
          <a:ln w="8890">
            <a:solidFill>
              <a:srgbClr val="7C5CFC">
                <a:alpha val="50196"/>
              </a:srgbClr>
            </a:solidFill>
          </a:ln>
        </p:spPr>
      </p:sp>
      <p:sp>
        <p:nvSpPr>
          <p:cNvPr name="AutoShape 88" id="88"/>
          <p:cNvSpPr/>
          <p:nvPr/>
        </p:nvSpPr>
        <p:spPr>
          <a:xfrm>
            <a:off x="7686040" y="3708400"/>
            <a:ext cx="12700" cy="1524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89" id="89"/>
          <p:cNvSpPr/>
          <p:nvPr/>
        </p:nvSpPr>
        <p:spPr>
          <a:xfrm>
            <a:off x="7571740" y="3860800"/>
            <a:ext cx="228600" cy="203200"/>
          </a:xfrm>
          <a:prstGeom prst="roundRect">
            <a:avLst>
              <a:gd name="adj" fmla="val 18750"/>
            </a:avLst>
          </a:prstGeom>
          <a:solidFill>
            <a:srgbClr val="141B33">
              <a:alpha val="90196"/>
            </a:srgbClr>
          </a:solidFill>
          <a:ln w="8890">
            <a:solidFill>
              <a:srgbClr val="7C5CFC">
                <a:alpha val="50196"/>
              </a:srgbClr>
            </a:solidFill>
          </a:ln>
        </p:spPr>
      </p:sp>
      <p:sp>
        <p:nvSpPr>
          <p:cNvPr name="AutoShape 90" id="90"/>
          <p:cNvSpPr/>
          <p:nvPr/>
        </p:nvSpPr>
        <p:spPr>
          <a:xfrm>
            <a:off x="3581400" y="4648200"/>
            <a:ext cx="4572000" cy="12700"/>
          </a:xfrm>
          <a:prstGeom prst="rect">
            <a:avLst/>
          </a:prstGeom>
          <a:solidFill>
            <a:srgbClr val="7C5CFC">
              <a:alpha val="27843"/>
            </a:srgbClr>
          </a:solidFill>
          <a:ln>
            <a:noFill/>
          </a:ln>
        </p:spPr>
      </p:sp>
      <p:sp>
        <p:nvSpPr>
          <p:cNvPr name="AutoShape 91" id="91"/>
          <p:cNvSpPr/>
          <p:nvPr/>
        </p:nvSpPr>
        <p:spPr>
          <a:xfrm>
            <a:off x="3606800" y="4876800"/>
            <a:ext cx="355600" cy="127000"/>
          </a:xfrm>
          <a:prstGeom prst="rect">
            <a:avLst/>
          </a:prstGeom>
          <a:solidFill>
            <a:srgbClr val="7C5CFC">
              <a:alpha val="30196"/>
            </a:srgbClr>
          </a:solidFill>
          <a:ln>
            <a:noFill/>
          </a:ln>
        </p:spPr>
      </p:sp>
      <p:sp>
        <p:nvSpPr>
          <p:cNvPr name="AutoShape 92" id="92"/>
          <p:cNvSpPr/>
          <p:nvPr/>
        </p:nvSpPr>
        <p:spPr>
          <a:xfrm>
            <a:off x="4114800" y="4876800"/>
            <a:ext cx="355600" cy="127000"/>
          </a:xfrm>
          <a:prstGeom prst="rect">
            <a:avLst/>
          </a:prstGeom>
          <a:solidFill>
            <a:srgbClr val="7C5CFC">
              <a:alpha val="30196"/>
            </a:srgbClr>
          </a:solidFill>
          <a:ln>
            <a:noFill/>
          </a:ln>
        </p:spPr>
      </p:sp>
      <p:sp>
        <p:nvSpPr>
          <p:cNvPr name="AutoShape 93" id="93"/>
          <p:cNvSpPr/>
          <p:nvPr/>
        </p:nvSpPr>
        <p:spPr>
          <a:xfrm>
            <a:off x="4622800" y="4876800"/>
            <a:ext cx="355600" cy="127000"/>
          </a:xfrm>
          <a:prstGeom prst="rect">
            <a:avLst/>
          </a:prstGeom>
          <a:solidFill>
            <a:srgbClr val="7C5CFC">
              <a:alpha val="30196"/>
            </a:srgbClr>
          </a:solidFill>
          <a:ln>
            <a:noFill/>
          </a:ln>
        </p:spPr>
      </p:sp>
      <p:sp>
        <p:nvSpPr>
          <p:cNvPr name="AutoShape 94" id="94"/>
          <p:cNvSpPr/>
          <p:nvPr/>
        </p:nvSpPr>
        <p:spPr>
          <a:xfrm>
            <a:off x="5130800" y="4876800"/>
            <a:ext cx="355600" cy="127000"/>
          </a:xfrm>
          <a:prstGeom prst="rect">
            <a:avLst/>
          </a:prstGeom>
          <a:solidFill>
            <a:srgbClr val="7C5CFC">
              <a:alpha val="30196"/>
            </a:srgbClr>
          </a:solidFill>
          <a:ln>
            <a:noFill/>
          </a:ln>
        </p:spPr>
      </p:sp>
      <p:sp>
        <p:nvSpPr>
          <p:cNvPr name="AutoShape 95" id="95"/>
          <p:cNvSpPr/>
          <p:nvPr/>
        </p:nvSpPr>
        <p:spPr>
          <a:xfrm>
            <a:off x="5638800" y="4876800"/>
            <a:ext cx="355600" cy="127000"/>
          </a:xfrm>
          <a:prstGeom prst="rect">
            <a:avLst/>
          </a:prstGeom>
          <a:solidFill>
            <a:srgbClr val="7C5CFC">
              <a:alpha val="30196"/>
            </a:srgbClr>
          </a:solidFill>
          <a:ln>
            <a:noFill/>
          </a:ln>
        </p:spPr>
      </p:sp>
      <p:sp>
        <p:nvSpPr>
          <p:cNvPr name="AutoShape 96" id="96"/>
          <p:cNvSpPr/>
          <p:nvPr/>
        </p:nvSpPr>
        <p:spPr>
          <a:xfrm>
            <a:off x="6146800" y="4876800"/>
            <a:ext cx="355600" cy="127000"/>
          </a:xfrm>
          <a:prstGeom prst="rect">
            <a:avLst/>
          </a:prstGeom>
          <a:solidFill>
            <a:srgbClr val="7C5CFC">
              <a:alpha val="30196"/>
            </a:srgbClr>
          </a:solidFill>
          <a:ln>
            <a:noFill/>
          </a:ln>
        </p:spPr>
      </p:sp>
      <p:sp>
        <p:nvSpPr>
          <p:cNvPr name="AutoShape 97" id="97"/>
          <p:cNvSpPr/>
          <p:nvPr/>
        </p:nvSpPr>
        <p:spPr>
          <a:xfrm>
            <a:off x="6654800" y="4876800"/>
            <a:ext cx="355600" cy="127000"/>
          </a:xfrm>
          <a:prstGeom prst="rect">
            <a:avLst/>
          </a:prstGeom>
          <a:solidFill>
            <a:srgbClr val="7C5CFC">
              <a:alpha val="30196"/>
            </a:srgbClr>
          </a:solidFill>
          <a:ln>
            <a:noFill/>
          </a:ln>
        </p:spPr>
      </p:sp>
      <p:sp>
        <p:nvSpPr>
          <p:cNvPr name="AutoShape 98" id="98"/>
          <p:cNvSpPr/>
          <p:nvPr/>
        </p:nvSpPr>
        <p:spPr>
          <a:xfrm>
            <a:off x="7162800" y="4876800"/>
            <a:ext cx="355600" cy="127000"/>
          </a:xfrm>
          <a:prstGeom prst="rect">
            <a:avLst/>
          </a:prstGeom>
          <a:solidFill>
            <a:srgbClr val="7C5CFC">
              <a:alpha val="30196"/>
            </a:srgbClr>
          </a:solidFill>
          <a:ln>
            <a:noFill/>
          </a:ln>
        </p:spPr>
      </p:sp>
      <p:sp>
        <p:nvSpPr>
          <p:cNvPr name="AutoShape 99" id="99"/>
          <p:cNvSpPr/>
          <p:nvPr/>
        </p:nvSpPr>
        <p:spPr>
          <a:xfrm>
            <a:off x="7670800" y="4876800"/>
            <a:ext cx="355600" cy="127000"/>
          </a:xfrm>
          <a:prstGeom prst="rect">
            <a:avLst/>
          </a:prstGeom>
          <a:solidFill>
            <a:srgbClr val="7C5CFC">
              <a:alpha val="30196"/>
            </a:srgbClr>
          </a:solidFill>
          <a:ln>
            <a:noFill/>
          </a:ln>
        </p:spPr>
      </p:sp>
      <p:sp>
        <p:nvSpPr>
          <p:cNvPr name="AutoShape 100" id="100"/>
          <p:cNvSpPr/>
          <p:nvPr/>
        </p:nvSpPr>
        <p:spPr>
          <a:xfrm>
            <a:off x="3606800" y="5257800"/>
            <a:ext cx="457200" cy="76200"/>
          </a:xfrm>
          <a:prstGeom prst="rect">
            <a:avLst/>
          </a:prstGeom>
          <a:solidFill>
            <a:srgbClr val="F5F7FC">
              <a:alpha val="12941"/>
            </a:srgbClr>
          </a:solidFill>
          <a:ln>
            <a:noFill/>
          </a:ln>
        </p:spPr>
      </p:sp>
      <p:sp>
        <p:nvSpPr>
          <p:cNvPr name="AutoShape 101" id="101"/>
          <p:cNvSpPr/>
          <p:nvPr/>
        </p:nvSpPr>
        <p:spPr>
          <a:xfrm>
            <a:off x="4267200" y="5257800"/>
            <a:ext cx="457200" cy="76200"/>
          </a:xfrm>
          <a:prstGeom prst="rect">
            <a:avLst/>
          </a:prstGeom>
          <a:solidFill>
            <a:srgbClr val="F5F7FC">
              <a:alpha val="12941"/>
            </a:srgbClr>
          </a:solidFill>
          <a:ln>
            <a:noFill/>
          </a:ln>
        </p:spPr>
      </p:sp>
      <p:sp>
        <p:nvSpPr>
          <p:cNvPr name="AutoShape 102" id="102"/>
          <p:cNvSpPr/>
          <p:nvPr/>
        </p:nvSpPr>
        <p:spPr>
          <a:xfrm>
            <a:off x="4927600" y="5257800"/>
            <a:ext cx="457200" cy="76200"/>
          </a:xfrm>
          <a:prstGeom prst="rect">
            <a:avLst/>
          </a:prstGeom>
          <a:solidFill>
            <a:srgbClr val="F5F7FC">
              <a:alpha val="12941"/>
            </a:srgbClr>
          </a:solidFill>
          <a:ln>
            <a:noFill/>
          </a:ln>
        </p:spPr>
      </p:sp>
      <p:sp>
        <p:nvSpPr>
          <p:cNvPr name="AutoShape 103" id="103"/>
          <p:cNvSpPr/>
          <p:nvPr/>
        </p:nvSpPr>
        <p:spPr>
          <a:xfrm>
            <a:off x="5588000" y="5257800"/>
            <a:ext cx="457200" cy="76200"/>
          </a:xfrm>
          <a:prstGeom prst="rect">
            <a:avLst/>
          </a:prstGeom>
          <a:solidFill>
            <a:srgbClr val="F5F7FC">
              <a:alpha val="12941"/>
            </a:srgbClr>
          </a:solidFill>
          <a:ln>
            <a:noFill/>
          </a:ln>
        </p:spPr>
      </p:sp>
      <p:sp>
        <p:nvSpPr>
          <p:cNvPr name="AutoShape 104" id="104"/>
          <p:cNvSpPr/>
          <p:nvPr/>
        </p:nvSpPr>
        <p:spPr>
          <a:xfrm>
            <a:off x="6248400" y="5257800"/>
            <a:ext cx="457200" cy="76200"/>
          </a:xfrm>
          <a:prstGeom prst="rect">
            <a:avLst/>
          </a:prstGeom>
          <a:solidFill>
            <a:srgbClr val="F5F7FC">
              <a:alpha val="12941"/>
            </a:srgbClr>
          </a:solidFill>
          <a:ln>
            <a:noFill/>
          </a:ln>
        </p:spPr>
      </p:sp>
      <p:sp>
        <p:nvSpPr>
          <p:cNvPr name="AutoShape 105" id="105"/>
          <p:cNvSpPr/>
          <p:nvPr/>
        </p:nvSpPr>
        <p:spPr>
          <a:xfrm>
            <a:off x="6908800" y="5257800"/>
            <a:ext cx="457200" cy="76200"/>
          </a:xfrm>
          <a:prstGeom prst="rect">
            <a:avLst/>
          </a:prstGeom>
          <a:solidFill>
            <a:srgbClr val="F5F7FC">
              <a:alpha val="12941"/>
            </a:srgbClr>
          </a:solidFill>
          <a:ln>
            <a:noFill/>
          </a:ln>
        </p:spPr>
      </p:sp>
      <p:sp>
        <p:nvSpPr>
          <p:cNvPr name="AutoShape 106" id="106"/>
          <p:cNvSpPr/>
          <p:nvPr/>
        </p:nvSpPr>
        <p:spPr>
          <a:xfrm>
            <a:off x="7569200" y="5257800"/>
            <a:ext cx="457200" cy="76200"/>
          </a:xfrm>
          <a:prstGeom prst="rect">
            <a:avLst/>
          </a:prstGeom>
          <a:solidFill>
            <a:srgbClr val="F5F7FC">
              <a:alpha val="12941"/>
            </a:srgbClr>
          </a:solidFill>
          <a:ln>
            <a:noFill/>
          </a:ln>
        </p:spPr>
      </p:sp>
      <p:sp>
        <p:nvSpPr>
          <p:cNvPr name="AutoShape 107" id="107"/>
          <p:cNvSpPr/>
          <p:nvPr/>
        </p:nvSpPr>
        <p:spPr>
          <a:xfrm>
            <a:off x="3606800" y="5511800"/>
            <a:ext cx="660400" cy="76200"/>
          </a:xfrm>
          <a:prstGeom prst="rect">
            <a:avLst/>
          </a:prstGeom>
          <a:solidFill>
            <a:srgbClr val="F5F7FC">
              <a:alpha val="10196"/>
            </a:srgbClr>
          </a:solidFill>
          <a:ln>
            <a:noFill/>
          </a:ln>
        </p:spPr>
      </p:sp>
      <p:sp>
        <p:nvSpPr>
          <p:cNvPr name="AutoShape 108" id="108"/>
          <p:cNvSpPr/>
          <p:nvPr/>
        </p:nvSpPr>
        <p:spPr>
          <a:xfrm>
            <a:off x="4521200" y="5511800"/>
            <a:ext cx="660400" cy="76200"/>
          </a:xfrm>
          <a:prstGeom prst="rect">
            <a:avLst/>
          </a:prstGeom>
          <a:solidFill>
            <a:srgbClr val="F5F7FC">
              <a:alpha val="10196"/>
            </a:srgbClr>
          </a:solidFill>
          <a:ln>
            <a:noFill/>
          </a:ln>
        </p:spPr>
      </p:sp>
      <p:sp>
        <p:nvSpPr>
          <p:cNvPr name="AutoShape 109" id="109"/>
          <p:cNvSpPr/>
          <p:nvPr/>
        </p:nvSpPr>
        <p:spPr>
          <a:xfrm>
            <a:off x="5435600" y="5511800"/>
            <a:ext cx="660400" cy="76200"/>
          </a:xfrm>
          <a:prstGeom prst="rect">
            <a:avLst/>
          </a:prstGeom>
          <a:solidFill>
            <a:srgbClr val="F5F7FC">
              <a:alpha val="10196"/>
            </a:srgbClr>
          </a:solidFill>
          <a:ln>
            <a:noFill/>
          </a:ln>
        </p:spPr>
      </p:sp>
      <p:sp>
        <p:nvSpPr>
          <p:cNvPr name="AutoShape 110" id="110"/>
          <p:cNvSpPr/>
          <p:nvPr/>
        </p:nvSpPr>
        <p:spPr>
          <a:xfrm>
            <a:off x="6350000" y="5511800"/>
            <a:ext cx="660400" cy="76200"/>
          </a:xfrm>
          <a:prstGeom prst="rect">
            <a:avLst/>
          </a:prstGeom>
          <a:solidFill>
            <a:srgbClr val="F5F7FC">
              <a:alpha val="10196"/>
            </a:srgbClr>
          </a:solidFill>
          <a:ln>
            <a:noFill/>
          </a:ln>
        </p:spPr>
      </p:sp>
      <p:sp>
        <p:nvSpPr>
          <p:cNvPr name="AutoShape 111" id="111"/>
          <p:cNvSpPr/>
          <p:nvPr/>
        </p:nvSpPr>
        <p:spPr>
          <a:xfrm>
            <a:off x="7264400" y="5511800"/>
            <a:ext cx="660400" cy="76200"/>
          </a:xfrm>
          <a:prstGeom prst="rect">
            <a:avLst/>
          </a:prstGeom>
          <a:solidFill>
            <a:srgbClr val="F5F7FC">
              <a:alpha val="10196"/>
            </a:srgbClr>
          </a:solidFill>
          <a:ln>
            <a:noFill/>
          </a:ln>
        </p:spPr>
      </p:sp>
      <p:sp>
        <p:nvSpPr>
          <p:cNvPr name="AutoShape 112" id="112"/>
          <p:cNvSpPr/>
          <p:nvPr/>
        </p:nvSpPr>
        <p:spPr>
          <a:xfrm>
            <a:off x="3581400" y="5867400"/>
            <a:ext cx="4572000" cy="12700"/>
          </a:xfrm>
          <a:prstGeom prst="rect">
            <a:avLst/>
          </a:prstGeom>
          <a:solidFill>
            <a:srgbClr val="7C5CFC">
              <a:alpha val="21961"/>
            </a:srgbClr>
          </a:solidFill>
          <a:ln>
            <a:noFill/>
          </a:ln>
        </p:spPr>
      </p:sp>
      <p:sp>
        <p:nvSpPr>
          <p:cNvPr name="GraphCompose Text Line" id="113"/>
          <p:cNvSpPr txBox="true"/>
          <p:nvPr/>
        </p:nvSpPr>
        <p:spPr>
          <a:xfrm>
            <a:off x="3581400" y="6020645"/>
            <a:ext cx="2172970" cy="9483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B1B9CF"/>
                </a:solidFill>
                <a:latin typeface="Courier New"/>
              </a:rPr>
              <a:t>measure  ·  paginate  ·  place</a:t>
            </a:r>
            <a:endParaRPr lang="en-US" sz="1100"/>
          </a:p>
        </p:txBody>
      </p:sp>
      <p:sp>
        <p:nvSpPr>
          <p:cNvPr name="GraphCompose Text Line" id="114"/>
          <p:cNvSpPr txBox="true"/>
          <p:nvPr/>
        </p:nvSpPr>
        <p:spPr>
          <a:xfrm>
            <a:off x="3276600" y="1546368"/>
            <a:ext cx="1761490" cy="10980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B59FFF"/>
                </a:solidFill>
                <a:latin typeface="Courier New"/>
              </a:rPr>
              <a:t>RESOLVED LAYOUT GRAPH</a:t>
            </a:r>
            <a:endParaRPr lang="en-US" sz="1100"/>
          </a:p>
        </p:txBody>
      </p:sp>
      <p:sp>
        <p:nvSpPr>
          <p:cNvPr name="Freeform 115" id="115"/>
          <p:cNvSpPr/>
          <p:nvPr/>
        </p:nvSpPr>
        <p:spPr>
          <a:xfrm>
            <a:off x="8509000" y="1193800"/>
            <a:ext cx="1422400" cy="2921000"/>
          </a:xfrm>
          <a:custGeom>
            <a:avLst/>
            <a:gdLst/>
            <a:ahLst/>
            <a:cxnLst/>
            <a:rect r="r" b="b" t="t" l="l"/>
            <a:pathLst>
              <a:path h="2921000" w="1422400">
                <a:moveTo>
                  <a:pt x="0" y="1968500"/>
                </a:moveTo>
                <a:lnTo>
                  <a:pt x="1422400" y="0"/>
                </a:lnTo>
                <a:lnTo>
                  <a:pt x="1422400" y="2921000"/>
                </a:lnTo>
                <a:close/>
              </a:path>
            </a:pathLst>
          </a:custGeom>
          <a:solidFill>
            <a:srgbClr val="7C5CFC">
              <a:alpha val="14902"/>
            </a:srgbClr>
          </a:solidFill>
          <a:ln cap="flat">
            <a:noFill/>
            <a:miter/>
          </a:ln>
        </p:spPr>
      </p:sp>
      <p:sp>
        <p:nvSpPr>
          <p:cNvPr name="Freeform 116" id="116"/>
          <p:cNvSpPr/>
          <p:nvPr/>
        </p:nvSpPr>
        <p:spPr>
          <a:xfrm>
            <a:off x="8509000" y="5153660"/>
            <a:ext cx="1422400" cy="2240280"/>
          </a:xfrm>
          <a:custGeom>
            <a:avLst/>
            <a:gdLst/>
            <a:ahLst/>
            <a:cxnLst/>
            <a:rect r="r" b="b" t="t" l="l"/>
            <a:pathLst>
              <a:path h="2240280" w="1422400">
                <a:moveTo>
                  <a:pt x="0" y="572516"/>
                </a:moveTo>
                <a:lnTo>
                  <a:pt x="1422400" y="0"/>
                </a:lnTo>
                <a:lnTo>
                  <a:pt x="1422400" y="2240280"/>
                </a:lnTo>
                <a:close/>
              </a:path>
            </a:pathLst>
          </a:custGeom>
          <a:solidFill>
            <a:srgbClr val="37D6A1">
              <a:alpha val="12941"/>
            </a:srgbClr>
          </a:solidFill>
          <a:ln cap="flat">
            <a:noFill/>
            <a:miter/>
          </a:ln>
        </p:spPr>
      </p:sp>
      <p:sp>
        <p:nvSpPr>
          <p:cNvPr name="AutoShape 117" id="117"/>
          <p:cNvSpPr/>
          <p:nvPr/>
        </p:nvSpPr>
        <p:spPr>
          <a:xfrm>
            <a:off x="8458200" y="3124200"/>
            <a:ext cx="101600" cy="101600"/>
          </a:xfrm>
          <a:prstGeom prst="ellipse">
            <a:avLst/>
          </a:prstGeom>
          <a:solidFill>
            <a:srgbClr val="7C5CFC"/>
          </a:solidFill>
          <a:ln>
            <a:noFill/>
          </a:ln>
        </p:spPr>
      </p:sp>
      <p:sp>
        <p:nvSpPr>
          <p:cNvPr name="AutoShape 118" id="118"/>
          <p:cNvSpPr/>
          <p:nvPr/>
        </p:nvSpPr>
        <p:spPr>
          <a:xfrm>
            <a:off x="8458200" y="5689600"/>
            <a:ext cx="101600" cy="101600"/>
          </a:xfrm>
          <a:prstGeom prst="ellipse">
            <a:avLst/>
          </a:prstGeom>
          <a:solidFill>
            <a:srgbClr val="37D6A1"/>
          </a:solidFill>
          <a:ln>
            <a:noFill/>
          </a:ln>
        </p:spPr>
      </p:sp>
      <p:sp>
        <p:nvSpPr>
          <p:cNvPr name="AutoShape 119" id="119"/>
          <p:cNvSpPr/>
          <p:nvPr/>
        </p:nvSpPr>
        <p:spPr>
          <a:xfrm>
            <a:off x="9931400" y="1066800"/>
            <a:ext cx="2413000" cy="3175000"/>
          </a:xfrm>
          <a:prstGeom prst="roundRect">
            <a:avLst>
              <a:gd name="adj" fmla="val 3158"/>
            </a:avLst>
          </a:prstGeom>
          <a:solidFill>
            <a:srgbClr val="0C1022">
              <a:alpha val="92549"/>
            </a:srgbClr>
          </a:solidFill>
          <a:ln w="19050">
            <a:solidFill>
              <a:srgbClr val="7C5CFC"/>
            </a:solidFill>
          </a:ln>
        </p:spPr>
      </p:sp>
      <p:sp>
        <p:nvSpPr>
          <p:cNvPr name="AutoShape 120" id="120"/>
          <p:cNvSpPr/>
          <p:nvPr/>
        </p:nvSpPr>
        <p:spPr>
          <a:xfrm>
            <a:off x="10109200" y="1244600"/>
            <a:ext cx="2057400" cy="2819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name="GraphCompose Text Line" id="121"/>
          <p:cNvSpPr txBox="true"/>
          <p:nvPr/>
        </p:nvSpPr>
        <p:spPr>
          <a:xfrm>
            <a:off x="10109200" y="1213681"/>
            <a:ext cx="1414361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true" i="false" u="none" strike="noStrike" kern="0">
                <a:solidFill>
                  <a:srgbClr val="F5F7FC"/>
                </a:solidFill>
                <a:latin typeface="Arial"/>
              </a:rPr>
              <a:t>Quarterly revenue</a:t>
            </a:r>
            <a:endParaRPr lang="en-US" sz="1100"/>
          </a:p>
        </p:txBody>
      </p:sp>
      <p:sp>
        <p:nvSpPr>
          <p:cNvPr name="GraphCompose Text Line" id="122"/>
          <p:cNvSpPr txBox="true"/>
          <p:nvPr/>
        </p:nvSpPr>
        <p:spPr>
          <a:xfrm>
            <a:off x="10109200" y="1466715"/>
            <a:ext cx="1940357" cy="9633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19" b="false" i="false" u="none" strike="noStrike" kern="0">
                <a:solidFill>
                  <a:srgbClr val="B1B9CF"/>
                </a:solidFill>
                <a:latin typeface="Arial"/>
              </a:rPr>
              <a:t>Composed once, resolved once, rendered</a:t>
            </a:r>
            <a:endParaRPr lang="en-US" sz="1100"/>
          </a:p>
        </p:txBody>
      </p:sp>
      <p:sp>
        <p:nvSpPr>
          <p:cNvPr name="GraphCompose Text Line" id="123"/>
          <p:cNvSpPr txBox="true"/>
          <p:nvPr/>
        </p:nvSpPr>
        <p:spPr>
          <a:xfrm>
            <a:off x="10109200" y="1563044"/>
            <a:ext cx="267452" cy="9633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19" b="false" i="false" u="none" strike="noStrike" kern="0">
                <a:solidFill>
                  <a:srgbClr val="B1B9CF"/>
                </a:solidFill>
                <a:latin typeface="Arial"/>
              </a:rPr>
              <a:t>twice.</a:t>
            </a:r>
            <a:endParaRPr lang="en-US" sz="1100"/>
          </a:p>
        </p:txBody>
      </p:sp>
      <p:cxnSp>
        <p:nvCxnSpPr>
          <p:cNvPr name="Connector 124" id="124"/>
          <p:cNvCxnSpPr/>
          <p:nvPr/>
        </p:nvCxnSpPr>
        <p:spPr>
          <a:xfrm flipV="false">
            <a:off x="10274300" y="3216910"/>
            <a:ext cx="1892300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25"/>
          <p:cNvSpPr txBox="true"/>
          <p:nvPr/>
        </p:nvSpPr>
        <p:spPr>
          <a:xfrm>
            <a:off x="10166350" y="3170950"/>
            <a:ext cx="5842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0</a:t>
            </a:r>
            <a:endParaRPr lang="en-US" sz="1100"/>
          </a:p>
        </p:txBody>
      </p:sp>
      <p:cxnSp>
        <p:nvCxnSpPr>
          <p:cNvPr name="Connector 126" id="126"/>
          <p:cNvCxnSpPr/>
          <p:nvPr/>
        </p:nvCxnSpPr>
        <p:spPr>
          <a:xfrm flipV="false">
            <a:off x="10274300" y="2863985"/>
            <a:ext cx="1892300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27"/>
          <p:cNvSpPr txBox="true"/>
          <p:nvPr/>
        </p:nvSpPr>
        <p:spPr>
          <a:xfrm>
            <a:off x="10109200" y="2818025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20</a:t>
            </a:r>
            <a:endParaRPr lang="en-US" sz="1100"/>
          </a:p>
        </p:txBody>
      </p:sp>
      <p:cxnSp>
        <p:nvCxnSpPr>
          <p:cNvPr name="Connector 128" id="128"/>
          <p:cNvCxnSpPr/>
          <p:nvPr/>
        </p:nvCxnSpPr>
        <p:spPr>
          <a:xfrm flipV="false">
            <a:off x="10274300" y="2511060"/>
            <a:ext cx="1892300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29"/>
          <p:cNvSpPr txBox="true"/>
          <p:nvPr/>
        </p:nvSpPr>
        <p:spPr>
          <a:xfrm>
            <a:off x="10109200" y="2465100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40</a:t>
            </a:r>
            <a:endParaRPr lang="en-US" sz="1100"/>
          </a:p>
        </p:txBody>
      </p:sp>
      <p:cxnSp>
        <p:nvCxnSpPr>
          <p:cNvPr name="Connector 130" id="130"/>
          <p:cNvCxnSpPr/>
          <p:nvPr/>
        </p:nvCxnSpPr>
        <p:spPr>
          <a:xfrm flipV="false">
            <a:off x="10274300" y="2158135"/>
            <a:ext cx="1892300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31"/>
          <p:cNvSpPr txBox="true"/>
          <p:nvPr/>
        </p:nvSpPr>
        <p:spPr>
          <a:xfrm>
            <a:off x="10109200" y="2112175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60</a:t>
            </a:r>
            <a:endParaRPr lang="en-US" sz="1100"/>
          </a:p>
        </p:txBody>
      </p:sp>
      <p:cxnSp>
        <p:nvCxnSpPr>
          <p:cNvPr name="Connector 132" id="132"/>
          <p:cNvCxnSpPr/>
          <p:nvPr/>
        </p:nvCxnSpPr>
        <p:spPr>
          <a:xfrm flipV="false">
            <a:off x="10274300" y="1805210"/>
            <a:ext cx="1892300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33"/>
          <p:cNvSpPr txBox="true"/>
          <p:nvPr/>
        </p:nvSpPr>
        <p:spPr>
          <a:xfrm>
            <a:off x="10109200" y="1759250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80</a:t>
            </a:r>
            <a:endParaRPr lang="en-US" sz="1100"/>
          </a:p>
        </p:txBody>
      </p:sp>
      <p:sp>
        <p:nvSpPr>
          <p:cNvPr name="AutoShape 134" id="134"/>
          <p:cNvSpPr/>
          <p:nvPr/>
        </p:nvSpPr>
        <p:spPr>
          <a:xfrm>
            <a:off x="10398955" y="2475767"/>
            <a:ext cx="223764" cy="741143"/>
          </a:xfrm>
          <a:prstGeom prst="roundRect">
            <a:avLst>
              <a:gd name="adj" fmla="val 8513"/>
            </a:avLst>
          </a:prstGeom>
          <a:solidFill>
            <a:srgbClr val="B59FFF"/>
          </a:solidFill>
          <a:ln>
            <a:noFill/>
          </a:ln>
        </p:spPr>
      </p:sp>
      <p:sp>
        <p:nvSpPr>
          <p:cNvPr name="AutoShape 135" id="135"/>
          <p:cNvSpPr/>
          <p:nvPr/>
        </p:nvSpPr>
        <p:spPr>
          <a:xfrm>
            <a:off x="10872030" y="2193427"/>
            <a:ext cx="223764" cy="1023483"/>
          </a:xfrm>
          <a:prstGeom prst="roundRect">
            <a:avLst>
              <a:gd name="adj" fmla="val 8513"/>
            </a:avLst>
          </a:prstGeom>
          <a:solidFill>
            <a:srgbClr val="B59FFF"/>
          </a:solidFill>
          <a:ln>
            <a:noFill/>
          </a:ln>
        </p:spPr>
      </p:sp>
      <p:sp>
        <p:nvSpPr>
          <p:cNvPr name="AutoShape 136" id="136"/>
          <p:cNvSpPr/>
          <p:nvPr/>
        </p:nvSpPr>
        <p:spPr>
          <a:xfrm>
            <a:off x="11345105" y="2316951"/>
            <a:ext cx="223764" cy="899959"/>
          </a:xfrm>
          <a:prstGeom prst="roundRect">
            <a:avLst>
              <a:gd name="adj" fmla="val 8513"/>
            </a:avLst>
          </a:prstGeom>
          <a:solidFill>
            <a:srgbClr val="B59FFF"/>
          </a:solidFill>
          <a:ln>
            <a:noFill/>
          </a:ln>
        </p:spPr>
      </p:sp>
      <p:sp>
        <p:nvSpPr>
          <p:cNvPr name="AutoShape 137" id="137"/>
          <p:cNvSpPr/>
          <p:nvPr/>
        </p:nvSpPr>
        <p:spPr>
          <a:xfrm>
            <a:off x="11818180" y="1911087"/>
            <a:ext cx="223764" cy="1305823"/>
          </a:xfrm>
          <a:prstGeom prst="roundRect">
            <a:avLst>
              <a:gd name="adj" fmla="val 8513"/>
            </a:avLst>
          </a:prstGeom>
          <a:solidFill>
            <a:srgbClr val="B59FFF"/>
          </a:solidFill>
          <a:ln>
            <a:noFill/>
          </a:ln>
        </p:spPr>
      </p:sp>
      <p:sp>
        <p:nvSpPr>
          <p:cNvPr name="GraphCompose Text Line" id="138"/>
          <p:cNvSpPr txBox="true"/>
          <p:nvPr/>
        </p:nvSpPr>
        <p:spPr>
          <a:xfrm>
            <a:off x="10453688" y="3248325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Q1</a:t>
            </a:r>
            <a:endParaRPr lang="en-US" sz="1100"/>
          </a:p>
        </p:txBody>
      </p:sp>
      <p:sp>
        <p:nvSpPr>
          <p:cNvPr name="GraphCompose Text Line" id="139"/>
          <p:cNvSpPr txBox="true"/>
          <p:nvPr/>
        </p:nvSpPr>
        <p:spPr>
          <a:xfrm>
            <a:off x="10926762" y="3248325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Q2</a:t>
            </a:r>
            <a:endParaRPr lang="en-US" sz="1100"/>
          </a:p>
        </p:txBody>
      </p:sp>
      <p:sp>
        <p:nvSpPr>
          <p:cNvPr name="GraphCompose Text Line" id="140"/>
          <p:cNvSpPr txBox="true"/>
          <p:nvPr/>
        </p:nvSpPr>
        <p:spPr>
          <a:xfrm>
            <a:off x="11399838" y="3248325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Q3</a:t>
            </a:r>
            <a:endParaRPr lang="en-US" sz="1100"/>
          </a:p>
        </p:txBody>
      </p:sp>
      <p:sp>
        <p:nvSpPr>
          <p:cNvPr name="GraphCompose Text Line" id="141"/>
          <p:cNvSpPr txBox="true"/>
          <p:nvPr/>
        </p:nvSpPr>
        <p:spPr>
          <a:xfrm>
            <a:off x="11872912" y="3248325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Q4</a:t>
            </a:r>
            <a:endParaRPr lang="en-US" sz="1100"/>
          </a:p>
        </p:txBody>
      </p:sp>
      <p:sp>
        <p:nvSpPr>
          <p:cNvPr name="AutoShape 142" id="142"/>
          <p:cNvSpPr/>
          <p:nvPr/>
        </p:nvSpPr>
        <p:spPr>
          <a:xfrm>
            <a:off x="10109200" y="3431477"/>
            <a:ext cx="2057400" cy="558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name="AutoShape 143" id="143"/>
          <p:cNvSpPr/>
          <p:nvPr/>
        </p:nvSpPr>
        <p:spPr>
          <a:xfrm>
            <a:off x="10109200" y="3431477"/>
            <a:ext cx="2057400" cy="5334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144" id="144"/>
          <p:cNvSpPr/>
          <p:nvPr/>
        </p:nvSpPr>
        <p:spPr>
          <a:xfrm>
            <a:off x="10109200" y="3571177"/>
            <a:ext cx="1933956" cy="5334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145" id="145"/>
          <p:cNvSpPr/>
          <p:nvPr/>
        </p:nvSpPr>
        <p:spPr>
          <a:xfrm>
            <a:off x="10109200" y="3710877"/>
            <a:ext cx="1995678" cy="5334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146" id="146"/>
          <p:cNvSpPr/>
          <p:nvPr/>
        </p:nvSpPr>
        <p:spPr>
          <a:xfrm>
            <a:off x="10109200" y="3850577"/>
            <a:ext cx="1275588" cy="5334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147" id="147"/>
          <p:cNvSpPr/>
          <p:nvPr/>
        </p:nvSpPr>
        <p:spPr>
          <a:xfrm>
            <a:off x="9931400" y="5029200"/>
            <a:ext cx="5080000" cy="2489200"/>
          </a:xfrm>
          <a:prstGeom prst="roundRect">
            <a:avLst>
              <a:gd name="adj" fmla="val 3061"/>
            </a:avLst>
          </a:prstGeom>
          <a:solidFill>
            <a:srgbClr val="0C1022">
              <a:alpha val="92549"/>
            </a:srgbClr>
          </a:solidFill>
          <a:ln w="19050">
            <a:solidFill>
              <a:srgbClr val="37D6A1"/>
            </a:solidFill>
          </a:ln>
        </p:spPr>
      </p:sp>
      <p:sp>
        <p:nvSpPr>
          <p:cNvPr name="AutoShape 148" id="148"/>
          <p:cNvSpPr/>
          <p:nvPr/>
        </p:nvSpPr>
        <p:spPr>
          <a:xfrm>
            <a:off x="10109200" y="5207000"/>
            <a:ext cx="4724400" cy="2133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name="GraphCompose Text Line" id="149"/>
          <p:cNvSpPr txBox="true"/>
          <p:nvPr/>
        </p:nvSpPr>
        <p:spPr>
          <a:xfrm>
            <a:off x="10109200" y="5176081"/>
            <a:ext cx="1414361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true" i="false" u="none" strike="noStrike" kern="0">
                <a:solidFill>
                  <a:srgbClr val="F5F7FC"/>
                </a:solidFill>
                <a:latin typeface="Arial"/>
              </a:rPr>
              <a:t>Quarterly revenue</a:t>
            </a:r>
            <a:endParaRPr lang="en-US" sz="1100"/>
          </a:p>
        </p:txBody>
      </p:sp>
      <p:sp>
        <p:nvSpPr>
          <p:cNvPr name="GraphCompose Text Line" id="150"/>
          <p:cNvSpPr txBox="true"/>
          <p:nvPr/>
        </p:nvSpPr>
        <p:spPr>
          <a:xfrm>
            <a:off x="10109200" y="5429115"/>
            <a:ext cx="2235490" cy="9633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19" b="false" i="false" u="none" strike="noStrike" kern="0">
                <a:solidFill>
                  <a:srgbClr val="B1B9CF"/>
                </a:solidFill>
                <a:latin typeface="Arial"/>
              </a:rPr>
              <a:t>Composed once, resolved once, rendered twice.</a:t>
            </a:r>
            <a:endParaRPr lang="en-US" sz="1100"/>
          </a:p>
        </p:txBody>
      </p:sp>
      <p:cxnSp>
        <p:nvCxnSpPr>
          <p:cNvPr name="Connector 151" id="151"/>
          <p:cNvCxnSpPr/>
          <p:nvPr/>
        </p:nvCxnSpPr>
        <p:spPr>
          <a:xfrm flipV="false">
            <a:off x="10274300" y="6397181"/>
            <a:ext cx="4559300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52"/>
          <p:cNvSpPr txBox="true"/>
          <p:nvPr/>
        </p:nvSpPr>
        <p:spPr>
          <a:xfrm>
            <a:off x="10166350" y="6351221"/>
            <a:ext cx="5842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0</a:t>
            </a:r>
            <a:endParaRPr lang="en-US" sz="1100"/>
          </a:p>
        </p:txBody>
      </p:sp>
      <p:cxnSp>
        <p:nvCxnSpPr>
          <p:cNvPr name="Connector 153" id="153"/>
          <p:cNvCxnSpPr/>
          <p:nvPr/>
        </p:nvCxnSpPr>
        <p:spPr>
          <a:xfrm flipV="false">
            <a:off x="10274300" y="6215705"/>
            <a:ext cx="4559300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54"/>
          <p:cNvSpPr txBox="true"/>
          <p:nvPr/>
        </p:nvSpPr>
        <p:spPr>
          <a:xfrm>
            <a:off x="10109200" y="6169745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20</a:t>
            </a:r>
            <a:endParaRPr lang="en-US" sz="1100"/>
          </a:p>
        </p:txBody>
      </p:sp>
      <p:cxnSp>
        <p:nvCxnSpPr>
          <p:cNvPr name="Connector 155" id="155"/>
          <p:cNvCxnSpPr/>
          <p:nvPr/>
        </p:nvCxnSpPr>
        <p:spPr>
          <a:xfrm flipV="false">
            <a:off x="10274300" y="6034230"/>
            <a:ext cx="4559300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56"/>
          <p:cNvSpPr txBox="true"/>
          <p:nvPr/>
        </p:nvSpPr>
        <p:spPr>
          <a:xfrm>
            <a:off x="10109200" y="5988270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40</a:t>
            </a:r>
            <a:endParaRPr lang="en-US" sz="1100"/>
          </a:p>
        </p:txBody>
      </p:sp>
      <p:cxnSp>
        <p:nvCxnSpPr>
          <p:cNvPr name="Connector 157" id="157"/>
          <p:cNvCxnSpPr/>
          <p:nvPr/>
        </p:nvCxnSpPr>
        <p:spPr>
          <a:xfrm flipV="false">
            <a:off x="10274300" y="5852755"/>
            <a:ext cx="4559300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58"/>
          <p:cNvSpPr txBox="true"/>
          <p:nvPr/>
        </p:nvSpPr>
        <p:spPr>
          <a:xfrm>
            <a:off x="10109200" y="5806795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60</a:t>
            </a:r>
            <a:endParaRPr lang="en-US" sz="1100"/>
          </a:p>
        </p:txBody>
      </p:sp>
      <p:cxnSp>
        <p:nvCxnSpPr>
          <p:cNvPr name="Connector 159" id="159"/>
          <p:cNvCxnSpPr/>
          <p:nvPr/>
        </p:nvCxnSpPr>
        <p:spPr>
          <a:xfrm flipV="false">
            <a:off x="10274300" y="5671280"/>
            <a:ext cx="4559300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60"/>
          <p:cNvSpPr txBox="true"/>
          <p:nvPr/>
        </p:nvSpPr>
        <p:spPr>
          <a:xfrm>
            <a:off x="10109200" y="5625320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80</a:t>
            </a:r>
            <a:endParaRPr lang="en-US" sz="1100"/>
          </a:p>
        </p:txBody>
      </p:sp>
      <p:sp>
        <p:nvSpPr>
          <p:cNvPr name="AutoShape 161" id="161"/>
          <p:cNvSpPr/>
          <p:nvPr/>
        </p:nvSpPr>
        <p:spPr>
          <a:xfrm>
            <a:off x="10574644" y="6016083"/>
            <a:ext cx="539137" cy="381098"/>
          </a:xfrm>
          <a:prstGeom prst="roundRect">
            <a:avLst>
              <a:gd name="adj" fmla="val 4999"/>
            </a:avLst>
          </a:prstGeom>
          <a:solidFill>
            <a:srgbClr val="37D6A1"/>
          </a:solidFill>
          <a:ln>
            <a:noFill/>
          </a:ln>
        </p:spPr>
      </p:sp>
      <p:sp>
        <p:nvSpPr>
          <p:cNvPr name="AutoShape 162" id="162"/>
          <p:cNvSpPr/>
          <p:nvPr/>
        </p:nvSpPr>
        <p:spPr>
          <a:xfrm>
            <a:off x="11714469" y="5870903"/>
            <a:ext cx="539137" cy="526278"/>
          </a:xfrm>
          <a:prstGeom prst="roundRect">
            <a:avLst>
              <a:gd name="adj" fmla="val 3620"/>
            </a:avLst>
          </a:prstGeom>
          <a:solidFill>
            <a:srgbClr val="37D6A1"/>
          </a:solidFill>
          <a:ln>
            <a:noFill/>
          </a:ln>
        </p:spPr>
      </p:sp>
      <p:sp>
        <p:nvSpPr>
          <p:cNvPr name="AutoShape 163" id="163"/>
          <p:cNvSpPr/>
          <p:nvPr/>
        </p:nvSpPr>
        <p:spPr>
          <a:xfrm>
            <a:off x="12854294" y="5934419"/>
            <a:ext cx="539137" cy="462761"/>
          </a:xfrm>
          <a:prstGeom prst="roundRect">
            <a:avLst>
              <a:gd name="adj" fmla="val 4117"/>
            </a:avLst>
          </a:prstGeom>
          <a:solidFill>
            <a:srgbClr val="37D6A1"/>
          </a:solidFill>
          <a:ln>
            <a:noFill/>
          </a:ln>
        </p:spPr>
      </p:sp>
      <p:sp>
        <p:nvSpPr>
          <p:cNvPr name="AutoShape 164" id="164"/>
          <p:cNvSpPr/>
          <p:nvPr/>
        </p:nvSpPr>
        <p:spPr>
          <a:xfrm>
            <a:off x="13994119" y="5725723"/>
            <a:ext cx="539137" cy="671458"/>
          </a:xfrm>
          <a:prstGeom prst="roundRect">
            <a:avLst>
              <a:gd name="adj" fmla="val 3533"/>
            </a:avLst>
          </a:prstGeom>
          <a:solidFill>
            <a:srgbClr val="37D6A1"/>
          </a:solidFill>
          <a:ln>
            <a:noFill/>
          </a:ln>
        </p:spPr>
      </p:sp>
      <p:sp>
        <p:nvSpPr>
          <p:cNvPr name="GraphCompose Text Line" id="165"/>
          <p:cNvSpPr txBox="true"/>
          <p:nvPr/>
        </p:nvSpPr>
        <p:spPr>
          <a:xfrm>
            <a:off x="10787062" y="6428595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Q1</a:t>
            </a:r>
            <a:endParaRPr lang="en-US" sz="1100"/>
          </a:p>
        </p:txBody>
      </p:sp>
      <p:sp>
        <p:nvSpPr>
          <p:cNvPr name="GraphCompose Text Line" id="166"/>
          <p:cNvSpPr txBox="true"/>
          <p:nvPr/>
        </p:nvSpPr>
        <p:spPr>
          <a:xfrm>
            <a:off x="11926888" y="6428595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Q2</a:t>
            </a:r>
            <a:endParaRPr lang="en-US" sz="1100"/>
          </a:p>
        </p:txBody>
      </p:sp>
      <p:sp>
        <p:nvSpPr>
          <p:cNvPr name="GraphCompose Text Line" id="167"/>
          <p:cNvSpPr txBox="true"/>
          <p:nvPr/>
        </p:nvSpPr>
        <p:spPr>
          <a:xfrm>
            <a:off x="13066712" y="6428595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Q3</a:t>
            </a:r>
            <a:endParaRPr lang="en-US" sz="1100"/>
          </a:p>
        </p:txBody>
      </p:sp>
      <p:sp>
        <p:nvSpPr>
          <p:cNvPr name="GraphCompose Text Line" id="168"/>
          <p:cNvSpPr txBox="true"/>
          <p:nvPr/>
        </p:nvSpPr>
        <p:spPr>
          <a:xfrm>
            <a:off x="14206538" y="6428595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Q4</a:t>
            </a:r>
            <a:endParaRPr lang="en-US" sz="1100"/>
          </a:p>
        </p:txBody>
      </p:sp>
      <p:sp>
        <p:nvSpPr>
          <p:cNvPr name="AutoShape 169" id="169"/>
          <p:cNvSpPr/>
          <p:nvPr/>
        </p:nvSpPr>
        <p:spPr>
          <a:xfrm>
            <a:off x="10109200" y="6611747"/>
            <a:ext cx="4724400" cy="558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name="AutoShape 170" id="170"/>
          <p:cNvSpPr/>
          <p:nvPr/>
        </p:nvSpPr>
        <p:spPr>
          <a:xfrm>
            <a:off x="10109200" y="6611747"/>
            <a:ext cx="4724400" cy="5334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171" id="171"/>
          <p:cNvSpPr/>
          <p:nvPr/>
        </p:nvSpPr>
        <p:spPr>
          <a:xfrm>
            <a:off x="10109200" y="6751447"/>
            <a:ext cx="4440936" cy="5334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172" id="172"/>
          <p:cNvSpPr/>
          <p:nvPr/>
        </p:nvSpPr>
        <p:spPr>
          <a:xfrm>
            <a:off x="10109200" y="6891147"/>
            <a:ext cx="4582668" cy="5334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173" id="173"/>
          <p:cNvSpPr/>
          <p:nvPr/>
        </p:nvSpPr>
        <p:spPr>
          <a:xfrm>
            <a:off x="10109200" y="7030847"/>
            <a:ext cx="2929128" cy="5334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GraphCompose Text Line" id="174"/>
          <p:cNvSpPr txBox="true"/>
          <p:nvPr/>
        </p:nvSpPr>
        <p:spPr>
          <a:xfrm>
            <a:off x="9982200" y="680184"/>
            <a:ext cx="275590" cy="11978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false" i="false" u="none" strike="noStrike" kern="0">
                <a:solidFill>
                  <a:srgbClr val="B59FFF"/>
                </a:solidFill>
                <a:latin typeface="Courier New"/>
              </a:rPr>
              <a:t>PDF</a:t>
            </a:r>
            <a:endParaRPr lang="en-US" sz="1100"/>
          </a:p>
        </p:txBody>
      </p:sp>
      <p:sp>
        <p:nvSpPr>
          <p:cNvPr name="GraphCompose Text Line" id="175"/>
          <p:cNvSpPr txBox="true"/>
          <p:nvPr/>
        </p:nvSpPr>
        <p:spPr>
          <a:xfrm>
            <a:off x="9982200" y="4642584"/>
            <a:ext cx="367030" cy="11978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false" i="false" u="none" strike="noStrike" kern="0">
                <a:solidFill>
                  <a:srgbClr val="37D6A1"/>
                </a:solidFill>
                <a:latin typeface="Courier New"/>
              </a:rPr>
              <a:t>PPTX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GraphCompose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creator>GraphCompose</dc:creator>
  <cp:keywords>graphcompose, java, pdf, pptx, document engine</cp:keywords>
  <dcterms:modified xsi:type="dcterms:W3CDTF">2011-08-01T06:04:30Z</dcterms:modified>
  <cp:revision>1</cp:revision>
  <dc:subject>Repository social preview: one layout pass, two outputs</dc:subject>
  <dc:title>GraphCompose - social preview card</dc:title>
</cp:coreProperties>
</file>