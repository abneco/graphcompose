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7560001" cy="106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7560001" cy="10692000"/>
          </a:xfrm>
          <a:prstGeom prst="rect">
            <a:avLst/>
          </a:prstGeom>
          <a:solidFill>
            <a:srgbClr val="FCF8F0"/>
          </a:solidFill>
          <a:ln>
            <a:noFill/>
          </a:ln>
        </p:spPr>
      </p:sp>
      <p:sp>
        <p:nvSpPr>
          <p:cNvPr name="AutoShape 3" id="3"/>
          <p:cNvSpPr/>
          <p:nvPr/>
        </p:nvSpPr>
        <p:spPr>
          <a:xfrm>
            <a:off x="431800" y="609600"/>
            <a:ext cx="6528079" cy="2177574"/>
          </a:xfrm>
          <a:prstGeom prst="roundRect">
            <a:avLst>
              <a:gd name="adj" fmla="val 8165"/>
            </a:avLst>
          </a:prstGeom>
          <a:solidFill>
            <a:srgbClr val="F4EEE4"/>
          </a:solidFill>
          <a:ln>
            <a:noFill/>
          </a:ln>
        </p:spPr>
      </p:sp>
      <p:cxnSp>
        <p:nvCxnSpPr>
          <p:cNvPr name="Connector 4" id="4"/>
          <p:cNvCxnSpPr/>
          <p:nvPr/>
        </p:nvCxnSpPr>
        <p:spPr>
          <a:xfrm>
            <a:off x="431800" y="609600"/>
            <a:ext cx="0" cy="2177574"/>
          </a:xfrm>
          <a:prstGeom prst="line">
            <a:avLst/>
          </a:prstGeom>
          <a:ln w="63500">
            <a:solidFill>
              <a:srgbClr val="C4994C"/>
            </a:solidFill>
          </a:ln>
        </p:spPr>
      </p:cxnSp>
      <p:sp>
        <p:nvSpPr>
          <p:cNvPr name="GraphCompose Text Line" id="5"/>
          <p:cNvSpPr txBox="true"/>
          <p:nvPr/>
        </p:nvSpPr>
        <p:spPr>
          <a:xfrm>
            <a:off x="711200" y="868784"/>
            <a:ext cx="1104951" cy="9985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true" i="false" u="none" strike="noStrike" kern="0">
                <a:solidFill>
                  <a:srgbClr val="707480"/>
                </a:solidFill>
                <a:latin typeface="Arial"/>
              </a:rPr>
              <a:t>Q2 SAMPLE REPORT</a:t>
            </a:r>
            <a:endParaRPr lang="en-US" sz="1100"/>
          </a:p>
        </p:txBody>
      </p:sp>
      <p:sp>
        <p:nvSpPr>
          <p:cNvPr name="GraphCompose Text Line" id="6"/>
          <p:cNvSpPr txBox="true"/>
          <p:nvPr/>
        </p:nvSpPr>
        <p:spPr>
          <a:xfrm>
            <a:off x="711200" y="1023859"/>
            <a:ext cx="5494223" cy="3289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true" i="false" u="none" strike="noStrike" kern="0">
                <a:solidFill>
                  <a:srgbClr val="143C4B"/>
                </a:solidFill>
                <a:latin typeface="Arial"/>
              </a:rPr>
              <a:t>Composing real documents with</a:t>
            </a:r>
            <a:endParaRPr lang="en-US" sz="1100"/>
          </a:p>
        </p:txBody>
      </p:sp>
      <p:sp>
        <p:nvSpPr>
          <p:cNvPr name="GraphCompose Text Line" id="7"/>
          <p:cNvSpPr txBox="true"/>
          <p:nvPr/>
        </p:nvSpPr>
        <p:spPr>
          <a:xfrm>
            <a:off x="711200" y="1352789"/>
            <a:ext cx="2668626" cy="3289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true" i="false" u="none" strike="noStrike" kern="0">
                <a:solidFill>
                  <a:srgbClr val="143C4B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GraphCompose Text Line" id="8"/>
          <p:cNvSpPr txBox="true"/>
          <p:nvPr/>
        </p:nvSpPr>
        <p:spPr>
          <a:xfrm>
            <a:off x="711200" y="1816617"/>
            <a:ext cx="5752389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single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Java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DSL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describes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intent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—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modules,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sections,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rows,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tables,</a:t>
            </a:r>
            <a:endParaRPr lang="en-US" sz="1100"/>
          </a:p>
        </p:txBody>
      </p:sp>
      <p:sp>
        <p:nvSpPr>
          <p:cNvPr name="GraphCompose Text Line" id="9"/>
          <p:cNvSpPr txBox="true"/>
          <p:nvPr/>
        </p:nvSpPr>
        <p:spPr>
          <a:xfrm>
            <a:off x="711200" y="1981082"/>
            <a:ext cx="5970549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shapes,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layers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—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and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engine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resolves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layout,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pagination,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and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PDFBox</a:t>
            </a:r>
            <a:endParaRPr lang="en-US" sz="1100"/>
          </a:p>
        </p:txBody>
      </p:sp>
      <p:sp>
        <p:nvSpPr>
          <p:cNvPr name="GraphCompose Text Line" id="10"/>
          <p:cNvSpPr txBox="true"/>
          <p:nvPr/>
        </p:nvSpPr>
        <p:spPr>
          <a:xfrm>
            <a:off x="711200" y="2145547"/>
            <a:ext cx="5011141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rendering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deterministically.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This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document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is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generated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by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one</a:t>
            </a:r>
            <a:endParaRPr lang="en-US" sz="1100"/>
          </a:p>
        </p:txBody>
      </p:sp>
      <p:sp>
        <p:nvSpPr>
          <p:cNvPr name="GraphCompose Inline Text Span" id="11"/>
          <p:cNvSpPr txBox="true"/>
          <p:nvPr/>
        </p:nvSpPr>
        <p:spPr>
          <a:xfrm>
            <a:off x="711200" y="2370526"/>
            <a:ext cx="1883410" cy="9483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4505F"/>
                </a:solidFill>
                <a:latin typeface="Courier New"/>
              </a:rPr>
              <a:t>MasterShowcaseExample.java</a:t>
            </a:r>
            <a:endParaRPr lang="en-US" sz="1100"/>
          </a:p>
        </p:txBody>
      </p:sp>
      <p:sp>
        <p:nvSpPr>
          <p:cNvPr name="GraphCompose Inline Text Span" id="12"/>
          <p:cNvSpPr txBox="true"/>
          <p:nvPr/>
        </p:nvSpPr>
        <p:spPr>
          <a:xfrm>
            <a:off x="2593340" y="2310012"/>
            <a:ext cx="50698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GraphCompose Inline Text Span" id="13"/>
          <p:cNvSpPr txBox="true"/>
          <p:nvPr/>
        </p:nvSpPr>
        <p:spPr>
          <a:xfrm>
            <a:off x="2642768" y="2310012"/>
            <a:ext cx="277927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file.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>
            <a:off x="431800" y="2964974"/>
            <a:ext cx="3113938" cy="2003743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15" id="15"/>
          <p:cNvCxnSpPr/>
          <p:nvPr/>
        </p:nvCxnSpPr>
        <p:spPr>
          <a:xfrm>
            <a:off x="431800" y="2964974"/>
            <a:ext cx="0" cy="2003743"/>
          </a:xfrm>
          <a:prstGeom prst="line">
            <a:avLst/>
          </a:prstGeom>
          <a:ln w="38100">
            <a:solidFill>
              <a:srgbClr val="C4994C"/>
            </a:solidFill>
          </a:ln>
        </p:spPr>
      </p:cxnSp>
      <p:sp>
        <p:nvSpPr>
          <p:cNvPr name="GraphCompose Text Line" id="16"/>
          <p:cNvSpPr txBox="true"/>
          <p:nvPr/>
        </p:nvSpPr>
        <p:spPr>
          <a:xfrm>
            <a:off x="635000" y="3142012"/>
            <a:ext cx="606590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222632"/>
                </a:solidFill>
                <a:latin typeface="Arial"/>
              </a:rPr>
              <a:t>Highlight</a:t>
            </a:r>
            <a:endParaRPr lang="en-US" sz="1100"/>
          </a:p>
        </p:txBody>
      </p:sp>
      <p:sp>
        <p:nvSpPr>
          <p:cNvPr name="GraphCompose Text Line" id="17"/>
          <p:cNvSpPr txBox="true"/>
          <p:nvPr/>
        </p:nvSpPr>
        <p:spPr>
          <a:xfrm>
            <a:off x="635000" y="3340299"/>
            <a:ext cx="2481758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Status: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On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track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—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every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gate</a:t>
            </a:r>
            <a:endParaRPr lang="en-US" sz="1100"/>
          </a:p>
        </p:txBody>
      </p:sp>
      <p:sp>
        <p:nvSpPr>
          <p:cNvPr name="GraphCompose Text Line" id="18"/>
          <p:cNvSpPr txBox="true"/>
          <p:nvPr/>
        </p:nvSpPr>
        <p:spPr>
          <a:xfrm>
            <a:off x="635000" y="3504764"/>
            <a:ext cx="1987296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green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—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release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window</a:t>
            </a:r>
            <a:endParaRPr lang="en-US" sz="1100"/>
          </a:p>
        </p:txBody>
      </p:sp>
      <p:sp>
        <p:nvSpPr>
          <p:cNvPr name="GraphCompose Text Line" id="19"/>
          <p:cNvSpPr txBox="true"/>
          <p:nvPr/>
        </p:nvSpPr>
        <p:spPr>
          <a:xfrm>
            <a:off x="635000" y="3669229"/>
            <a:ext cx="2600173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confirmed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for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sng" strike="noStrike" kern="0">
                <a:solidFill>
                  <a:srgbClr val="000000"/>
                </a:solidFill>
                <a:latin typeface="Arial"/>
              </a:rPr>
              <a:t>current</a:t>
            </a:r>
            <a:r>
              <a:rPr lang="en-US" sz="1400" b="false" i="false" u="sng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sng" strike="noStrike" kern="0">
                <a:solidFill>
                  <a:srgbClr val="000000"/>
                </a:solidFill>
                <a:latin typeface="Arial"/>
              </a:rPr>
              <a:t>quarter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.</a:t>
            </a:r>
            <a:endParaRPr lang="en-US" sz="1100"/>
          </a:p>
        </p:txBody>
      </p:sp>
      <p:sp>
        <p:nvSpPr>
          <p:cNvPr name="GraphCompose Text Line" id="20"/>
          <p:cNvSpPr txBox="true"/>
          <p:nvPr/>
        </p:nvSpPr>
        <p:spPr>
          <a:xfrm>
            <a:off x="635000" y="3909894"/>
            <a:ext cx="2708808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Performance: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E3846"/>
                </a:solidFill>
                <a:latin typeface="Arial"/>
              </a:rPr>
              <a:t>invoice-template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6.6</a:t>
            </a:r>
            <a:endParaRPr lang="en-US" sz="1100"/>
          </a:p>
        </p:txBody>
      </p:sp>
      <p:sp>
        <p:nvSpPr>
          <p:cNvPr name="GraphCompose Text Line" id="21"/>
          <p:cNvSpPr txBox="true"/>
          <p:nvPr/>
        </p:nvSpPr>
        <p:spPr>
          <a:xfrm>
            <a:off x="635000" y="4074359"/>
            <a:ext cx="1770202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ms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avg,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152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docs/sec;</a:t>
            </a:r>
            <a:endParaRPr lang="en-US" sz="1100"/>
          </a:p>
        </p:txBody>
      </p:sp>
      <p:sp>
        <p:nvSpPr>
          <p:cNvPr name="GraphCompose Text Line" id="22"/>
          <p:cNvSpPr txBox="true"/>
          <p:nvPr/>
        </p:nvSpPr>
        <p:spPr>
          <a:xfrm>
            <a:off x="635000" y="4238824"/>
            <a:ext cx="2214880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E3846"/>
                </a:solidFill>
                <a:latin typeface="Arial"/>
              </a:rPr>
              <a:t>feature-rich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54.2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ms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avg,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18</a:t>
            </a:r>
            <a:endParaRPr lang="en-US" sz="1100"/>
          </a:p>
        </p:txBody>
      </p:sp>
      <p:sp>
        <p:nvSpPr>
          <p:cNvPr name="GraphCompose Text Line" id="23"/>
          <p:cNvSpPr txBox="true"/>
          <p:nvPr/>
        </p:nvSpPr>
        <p:spPr>
          <a:xfrm>
            <a:off x="635000" y="4403289"/>
            <a:ext cx="1908531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docs/sec.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One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machine,</a:t>
            </a:r>
            <a:endParaRPr lang="en-US" sz="1100"/>
          </a:p>
        </p:txBody>
      </p:sp>
      <p:sp>
        <p:nvSpPr>
          <p:cNvPr name="GraphCompose Text Line" id="24"/>
          <p:cNvSpPr txBox="true"/>
          <p:nvPr/>
        </p:nvSpPr>
        <p:spPr>
          <a:xfrm>
            <a:off x="635000" y="4567754"/>
            <a:ext cx="959968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2026-07-26.</a:t>
            </a:r>
            <a:endParaRPr lang="en-US" sz="1100"/>
          </a:p>
        </p:txBody>
      </p:sp>
      <p:grpSp>
        <p:nvGrpSpPr>
          <p:cNvPr name="Group 25" id="25"/>
          <p:cNvGrpSpPr/>
          <p:nvPr/>
        </p:nvGrpSpPr>
        <p:grpSpPr>
          <a:xfrm flipH="false" flipV="false" rot="-720000">
            <a:off x="3907000" y="3091974"/>
            <a:ext cx="1498600" cy="1498600"/>
            <a:chOff x="3907000" y="3091974"/>
            <a:chExt cx="1498600" cy="1498600"/>
          </a:xfrm>
        </p:grpSpPr>
        <p:sp>
          <p:nvSpPr>
            <p:cNvPr name="AutoShape 26" id="26"/>
            <p:cNvSpPr/>
            <p:nvPr/>
          </p:nvSpPr>
          <p:spPr>
            <a:xfrm>
              <a:off x="3907000" y="3091974"/>
              <a:ext cx="1498600" cy="1498600"/>
            </a:xfrm>
            <a:prstGeom prst="ellipse">
              <a:avLst/>
            </a:prstGeom>
            <a:solidFill>
              <a:srgbClr val="14505F"/>
            </a:solidFill>
            <a:ln w="19050">
              <a:solidFill>
                <a:srgbClr val="C4994C"/>
              </a:solidFill>
            </a:ln>
          </p:spPr>
        </p:sp>
        <p:pic>
          <p:nvPicPr>
            <p:cNvPr name="GraphCompose Clipped Composite" id="27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07000" y="3091974"/>
              <a:ext cx="1498600" cy="1498600"/>
            </a:xfrm>
            <a:prstGeom prst="rect">
              <a:avLst/>
            </a:prstGeom>
          </p:spPr>
        </p:pic>
      </p:grpSp>
      <p:sp>
        <p:nvSpPr>
          <p:cNvPr name="AutoShape 28" id="28"/>
          <p:cNvSpPr/>
          <p:nvPr/>
        </p:nvSpPr>
        <p:spPr>
          <a:xfrm>
            <a:off x="5568400" y="2964974"/>
            <a:ext cx="1559800" cy="1996751"/>
          </a:xfrm>
          <a:prstGeom prst="roundRect">
            <a:avLst>
              <a:gd name="adj" fmla="val 6514"/>
            </a:avLst>
          </a:prstGeom>
          <a:solidFill>
            <a:srgbClr val="E8F4F5"/>
          </a:solidFill>
          <a:ln>
            <a:noFill/>
          </a:ln>
        </p:spPr>
      </p:sp>
      <p:sp>
        <p:nvSpPr>
          <p:cNvPr name="GraphCompose Text Line" id="29"/>
          <p:cNvSpPr txBox="true"/>
          <p:nvPr/>
        </p:nvSpPr>
        <p:spPr>
          <a:xfrm>
            <a:off x="5695400" y="3071758"/>
            <a:ext cx="415042" cy="9985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true" i="false" u="none" strike="noStrike" kern="0">
                <a:solidFill>
                  <a:srgbClr val="707480"/>
                </a:solidFill>
                <a:latin typeface="Arial"/>
              </a:rPr>
              <a:t>Audit ID</a:t>
            </a:r>
            <a:endParaRPr lang="en-US" sz="1100"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400" y="3255328"/>
            <a:ext cx="1346200" cy="1346200"/>
          </a:xfrm>
          <a:prstGeom prst="rect">
            <a:avLst/>
          </a:prstGeom>
        </p:spPr>
      </p:pic>
      <p:sp>
        <p:nvSpPr>
          <p:cNvPr name="GraphCompose Text Line" id="31"/>
          <p:cNvSpPr txBox="true"/>
          <p:nvPr/>
        </p:nvSpPr>
        <p:spPr>
          <a:xfrm>
            <a:off x="5695400" y="4643058"/>
            <a:ext cx="58420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14505F"/>
                </a:solidFill>
                <a:latin typeface="Courier New"/>
              </a:rPr>
              <a:t>DemchaAV/</a:t>
            </a:r>
            <a:endParaRPr lang="en-US" sz="1100"/>
          </a:p>
        </p:txBody>
      </p:sp>
      <p:sp>
        <p:nvSpPr>
          <p:cNvPr name="GraphCompose Text Line" id="32"/>
          <p:cNvSpPr txBox="true"/>
          <p:nvPr/>
        </p:nvSpPr>
        <p:spPr>
          <a:xfrm>
            <a:off x="5695400" y="4727906"/>
            <a:ext cx="77851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14505F"/>
                </a:solidFill>
                <a:latin typeface="Courier New"/>
              </a:rPr>
              <a:t>GraphCompose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>
            <a:off x="431800" y="5146516"/>
            <a:ext cx="6641668" cy="1530033"/>
          </a:xfrm>
          <a:prstGeom prst="roundRect">
            <a:avLst>
              <a:gd name="adj" fmla="val 8300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34" id="34"/>
          <p:cNvCxnSpPr/>
          <p:nvPr/>
        </p:nvCxnSpPr>
        <p:spPr>
          <a:xfrm>
            <a:off x="431800" y="5146516"/>
            <a:ext cx="0" cy="1530033"/>
          </a:xfrm>
          <a:prstGeom prst="line">
            <a:avLst/>
          </a:prstGeom>
          <a:ln w="38100">
            <a:solidFill>
              <a:srgbClr val="14505F"/>
            </a:solidFill>
          </a:ln>
        </p:spPr>
      </p:cxnSp>
      <p:sp>
        <p:nvSpPr>
          <p:cNvPr name="GraphCompose Text Line" id="35"/>
          <p:cNvSpPr txBox="true"/>
          <p:nvPr/>
        </p:nvSpPr>
        <p:spPr>
          <a:xfrm>
            <a:off x="635000" y="5309284"/>
            <a:ext cx="2029219" cy="19970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700" b="true" i="false" u="none" strike="noStrike" kern="0">
                <a:solidFill>
                  <a:srgbClr val="143C4B"/>
                </a:solidFill>
                <a:latin typeface="Arial"/>
              </a:rPr>
              <a:t>Executive summary</a:t>
            </a:r>
            <a:endParaRPr lang="en-US" sz="1100"/>
          </a:p>
        </p:txBody>
      </p:sp>
      <p:sp>
        <p:nvSpPr>
          <p:cNvPr name="GraphCompose Text Line" id="36"/>
          <p:cNvSpPr txBox="true"/>
          <p:nvPr/>
        </p:nvSpPr>
        <p:spPr>
          <a:xfrm>
            <a:off x="635000" y="5617727"/>
            <a:ext cx="5997219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features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below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are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what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turn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GraphCompose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from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"tidy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PDF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layouter"</a:t>
            </a:r>
            <a:endParaRPr lang="en-US" sz="1100"/>
          </a:p>
        </p:txBody>
      </p:sp>
      <p:sp>
        <p:nvSpPr>
          <p:cNvPr name="GraphCompose Text Line" id="37"/>
          <p:cNvSpPr txBox="true"/>
          <p:nvPr/>
        </p:nvSpPr>
        <p:spPr>
          <a:xfrm>
            <a:off x="635000" y="5782192"/>
            <a:ext cx="6236538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into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designed-document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engine: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shape-as-container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with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clip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path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rotate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/</a:t>
            </a:r>
            <a:endParaRPr lang="en-US" sz="1100"/>
          </a:p>
        </p:txBody>
      </p:sp>
      <p:sp>
        <p:nvSpPr>
          <p:cNvPr name="GraphCompose Text Line" id="38"/>
          <p:cNvSpPr txBox="true"/>
          <p:nvPr/>
        </p:nvSpPr>
        <p:spPr>
          <a:xfrm>
            <a:off x="635000" y="5946657"/>
            <a:ext cx="5619039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scale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+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per-layer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z-index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advanced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tables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(row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span,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zebra,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totals,</a:t>
            </a:r>
            <a:endParaRPr lang="en-US" sz="1100"/>
          </a:p>
        </p:txBody>
      </p:sp>
      <p:sp>
        <p:nvSpPr>
          <p:cNvPr name="GraphCompose Text Line" id="39"/>
          <p:cNvSpPr txBox="true"/>
          <p:nvPr/>
        </p:nvSpPr>
        <p:spPr>
          <a:xfrm>
            <a:off x="635000" y="6111122"/>
            <a:ext cx="5238191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repeating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header)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and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two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cinematic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templates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ModernInvoice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/</a:t>
            </a:r>
            <a:endParaRPr lang="en-US" sz="1100"/>
          </a:p>
        </p:txBody>
      </p:sp>
      <p:sp>
        <p:nvSpPr>
          <p:cNvPr name="GraphCompose Text Line" id="40"/>
          <p:cNvSpPr txBox="true"/>
          <p:nvPr/>
        </p:nvSpPr>
        <p:spPr>
          <a:xfrm>
            <a:off x="635000" y="6275587"/>
            <a:ext cx="3360445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ModernProposal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driven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by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BrandTheme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.</a:t>
            </a:r>
            <a:endParaRPr lang="en-US" sz="1100"/>
          </a:p>
        </p:txBody>
      </p:sp>
      <p:sp>
        <p:nvSpPr>
          <p:cNvPr name="GraphCompose Text Line" id="41"/>
          <p:cNvSpPr txBox="true"/>
          <p:nvPr/>
        </p:nvSpPr>
        <p:spPr>
          <a:xfrm>
            <a:off x="431800" y="6813917"/>
            <a:ext cx="1932927" cy="19970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700" b="true" i="false" u="none" strike="noStrike" kern="0">
                <a:solidFill>
                  <a:srgbClr val="143C4B"/>
                </a:solidFill>
                <a:latin typeface="Arial"/>
              </a:rPr>
              <a:t>Quarterly numbers</a:t>
            </a:r>
            <a:endParaRPr lang="en-US" sz="1100"/>
          </a:p>
        </p:txBody>
      </p:sp>
      <p:sp>
        <p:nvSpPr>
          <p:cNvPr name="GraphCompose Text Line" id="42"/>
          <p:cNvSpPr txBox="true"/>
          <p:nvPr/>
        </p:nvSpPr>
        <p:spPr>
          <a:xfrm>
            <a:off x="431800" y="7109802"/>
            <a:ext cx="6102190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Repeated header + zebra rows + bold totals; the table paginates row-by-row across the next page so column titles stay visible.</a:t>
            </a:r>
            <a:endParaRPr lang="en-US" sz="1100"/>
          </a:p>
        </p:txBody>
      </p:sp>
      <p:sp>
        <p:nvSpPr>
          <p:cNvPr name="GraphCompose Table Cell Fill" id="43"/>
          <p:cNvSpPr/>
          <p:nvPr/>
        </p:nvSpPr>
        <p:spPr>
          <a:xfrm>
            <a:off x="431800" y="7485285"/>
            <a:ext cx="762000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44"/>
          <p:cNvSpPr/>
          <p:nvPr/>
        </p:nvSpPr>
        <p:spPr>
          <a:xfrm>
            <a:off x="1193800" y="7485285"/>
            <a:ext cx="2219928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45"/>
          <p:cNvSpPr/>
          <p:nvPr/>
        </p:nvSpPr>
        <p:spPr>
          <a:xfrm>
            <a:off x="3413728" y="7485285"/>
            <a:ext cx="1016000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46"/>
          <p:cNvSpPr/>
          <p:nvPr/>
        </p:nvSpPr>
        <p:spPr>
          <a:xfrm>
            <a:off x="4429728" y="7485285"/>
            <a:ext cx="1016000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47"/>
          <p:cNvSpPr/>
          <p:nvPr/>
        </p:nvSpPr>
        <p:spPr>
          <a:xfrm>
            <a:off x="5445728" y="7485285"/>
            <a:ext cx="1016000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48"/>
          <p:cNvSpPr/>
          <p:nvPr/>
        </p:nvSpPr>
        <p:spPr>
          <a:xfrm>
            <a:off x="431800" y="7800086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49"/>
          <p:cNvSpPr/>
          <p:nvPr/>
        </p:nvSpPr>
        <p:spPr>
          <a:xfrm>
            <a:off x="1193800" y="7800086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0"/>
          <p:cNvSpPr/>
          <p:nvPr/>
        </p:nvSpPr>
        <p:spPr>
          <a:xfrm>
            <a:off x="3413728" y="7800086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1"/>
          <p:cNvSpPr/>
          <p:nvPr/>
        </p:nvSpPr>
        <p:spPr>
          <a:xfrm>
            <a:off x="4429728" y="7800086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2"/>
          <p:cNvSpPr/>
          <p:nvPr/>
        </p:nvSpPr>
        <p:spPr>
          <a:xfrm>
            <a:off x="5445728" y="7800086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3"/>
          <p:cNvSpPr/>
          <p:nvPr/>
        </p:nvSpPr>
        <p:spPr>
          <a:xfrm>
            <a:off x="431800" y="8089487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4"/>
          <p:cNvSpPr/>
          <p:nvPr/>
        </p:nvSpPr>
        <p:spPr>
          <a:xfrm>
            <a:off x="1193800" y="8089487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5"/>
          <p:cNvSpPr/>
          <p:nvPr/>
        </p:nvSpPr>
        <p:spPr>
          <a:xfrm>
            <a:off x="3413728" y="8089487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6"/>
          <p:cNvSpPr/>
          <p:nvPr/>
        </p:nvSpPr>
        <p:spPr>
          <a:xfrm>
            <a:off x="4429728" y="8089487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7"/>
          <p:cNvSpPr/>
          <p:nvPr/>
        </p:nvSpPr>
        <p:spPr>
          <a:xfrm>
            <a:off x="5445728" y="8089487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8"/>
          <p:cNvSpPr/>
          <p:nvPr/>
        </p:nvSpPr>
        <p:spPr>
          <a:xfrm>
            <a:off x="431800" y="8378889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9"/>
          <p:cNvSpPr/>
          <p:nvPr/>
        </p:nvSpPr>
        <p:spPr>
          <a:xfrm>
            <a:off x="1193800" y="8378889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0"/>
          <p:cNvSpPr/>
          <p:nvPr/>
        </p:nvSpPr>
        <p:spPr>
          <a:xfrm>
            <a:off x="3413728" y="8378889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1"/>
          <p:cNvSpPr/>
          <p:nvPr/>
        </p:nvSpPr>
        <p:spPr>
          <a:xfrm>
            <a:off x="4429728" y="8378889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2"/>
          <p:cNvSpPr/>
          <p:nvPr/>
        </p:nvSpPr>
        <p:spPr>
          <a:xfrm>
            <a:off x="5445728" y="8378889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3"/>
          <p:cNvSpPr/>
          <p:nvPr/>
        </p:nvSpPr>
        <p:spPr>
          <a:xfrm>
            <a:off x="431800" y="8668290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4"/>
          <p:cNvSpPr/>
          <p:nvPr/>
        </p:nvSpPr>
        <p:spPr>
          <a:xfrm>
            <a:off x="1193800" y="8668290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5"/>
          <p:cNvSpPr/>
          <p:nvPr/>
        </p:nvSpPr>
        <p:spPr>
          <a:xfrm>
            <a:off x="3413728" y="8668290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6"/>
          <p:cNvSpPr/>
          <p:nvPr/>
        </p:nvSpPr>
        <p:spPr>
          <a:xfrm>
            <a:off x="4429728" y="8668290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7"/>
          <p:cNvSpPr/>
          <p:nvPr/>
        </p:nvSpPr>
        <p:spPr>
          <a:xfrm>
            <a:off x="5445728" y="8668290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8"/>
          <p:cNvSpPr/>
          <p:nvPr/>
        </p:nvSpPr>
        <p:spPr>
          <a:xfrm>
            <a:off x="431800" y="8957691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9"/>
          <p:cNvSpPr/>
          <p:nvPr/>
        </p:nvSpPr>
        <p:spPr>
          <a:xfrm>
            <a:off x="1193800" y="8957691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0"/>
          <p:cNvSpPr/>
          <p:nvPr/>
        </p:nvSpPr>
        <p:spPr>
          <a:xfrm>
            <a:off x="3413728" y="8957691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1"/>
          <p:cNvSpPr/>
          <p:nvPr/>
        </p:nvSpPr>
        <p:spPr>
          <a:xfrm>
            <a:off x="4429728" y="8957691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2"/>
          <p:cNvSpPr/>
          <p:nvPr/>
        </p:nvSpPr>
        <p:spPr>
          <a:xfrm>
            <a:off x="5445728" y="8957691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3"/>
          <p:cNvSpPr/>
          <p:nvPr/>
        </p:nvSpPr>
        <p:spPr>
          <a:xfrm>
            <a:off x="431800" y="9247092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4"/>
          <p:cNvSpPr/>
          <p:nvPr/>
        </p:nvSpPr>
        <p:spPr>
          <a:xfrm>
            <a:off x="1193800" y="9247092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5"/>
          <p:cNvSpPr/>
          <p:nvPr/>
        </p:nvSpPr>
        <p:spPr>
          <a:xfrm>
            <a:off x="3413728" y="9247092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6"/>
          <p:cNvSpPr/>
          <p:nvPr/>
        </p:nvSpPr>
        <p:spPr>
          <a:xfrm>
            <a:off x="4429728" y="9247092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7"/>
          <p:cNvSpPr/>
          <p:nvPr/>
        </p:nvSpPr>
        <p:spPr>
          <a:xfrm>
            <a:off x="5445728" y="9247092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8"/>
          <p:cNvSpPr/>
          <p:nvPr/>
        </p:nvSpPr>
        <p:spPr>
          <a:xfrm>
            <a:off x="431800" y="9536494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9"/>
          <p:cNvSpPr/>
          <p:nvPr/>
        </p:nvSpPr>
        <p:spPr>
          <a:xfrm>
            <a:off x="1193800" y="9536494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80"/>
          <p:cNvSpPr/>
          <p:nvPr/>
        </p:nvSpPr>
        <p:spPr>
          <a:xfrm>
            <a:off x="3413728" y="9536494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81"/>
          <p:cNvSpPr/>
          <p:nvPr/>
        </p:nvSpPr>
        <p:spPr>
          <a:xfrm>
            <a:off x="4429728" y="9536494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82"/>
          <p:cNvSpPr/>
          <p:nvPr/>
        </p:nvSpPr>
        <p:spPr>
          <a:xfrm>
            <a:off x="5445728" y="9536494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cxnSp>
        <p:nvCxnSpPr>
          <p:cNvPr name="GraphCompose Table Cell Border" id="83"/>
          <p:cNvCxnSpPr/>
          <p:nvPr/>
        </p:nvCxnSpPr>
        <p:spPr>
          <a:xfrm>
            <a:off x="431800" y="7485285"/>
            <a:ext cx="76454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84"/>
          <p:cNvCxnSpPr/>
          <p:nvPr/>
        </p:nvCxnSpPr>
        <p:spPr>
          <a:xfrm>
            <a:off x="431800" y="7800086"/>
            <a:ext cx="76454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85"/>
          <p:cNvCxnSpPr/>
          <p:nvPr/>
        </p:nvCxnSpPr>
        <p:spPr>
          <a:xfrm>
            <a:off x="431800" y="7485285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86"/>
          <p:cNvCxnSpPr/>
          <p:nvPr/>
        </p:nvCxnSpPr>
        <p:spPr>
          <a:xfrm>
            <a:off x="1193800" y="7485285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87"/>
          <p:cNvSpPr txBox="true"/>
          <p:nvPr/>
        </p:nvSpPr>
        <p:spPr>
          <a:xfrm>
            <a:off x="546100" y="7564290"/>
            <a:ext cx="30289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Code</a:t>
            </a:r>
            <a:endParaRPr lang="en-US" sz="1100"/>
          </a:p>
        </p:txBody>
      </p:sp>
      <p:cxnSp>
        <p:nvCxnSpPr>
          <p:cNvPr name="GraphCompose Table Cell Border" id="88"/>
          <p:cNvCxnSpPr/>
          <p:nvPr/>
        </p:nvCxnSpPr>
        <p:spPr>
          <a:xfrm>
            <a:off x="1191260" y="7485285"/>
            <a:ext cx="2225008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89"/>
          <p:cNvCxnSpPr/>
          <p:nvPr/>
        </p:nvCxnSpPr>
        <p:spPr>
          <a:xfrm>
            <a:off x="1191260" y="7800086"/>
            <a:ext cx="2225008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90"/>
          <p:cNvCxnSpPr/>
          <p:nvPr/>
        </p:nvCxnSpPr>
        <p:spPr>
          <a:xfrm>
            <a:off x="3413728" y="7485285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91"/>
          <p:cNvSpPr txBox="true"/>
          <p:nvPr/>
        </p:nvSpPr>
        <p:spPr>
          <a:xfrm>
            <a:off x="1308100" y="7564290"/>
            <a:ext cx="49074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Initiative</a:t>
            </a:r>
            <a:endParaRPr lang="en-US" sz="1100"/>
          </a:p>
        </p:txBody>
      </p:sp>
      <p:cxnSp>
        <p:nvCxnSpPr>
          <p:cNvPr name="GraphCompose Table Cell Border" id="92"/>
          <p:cNvCxnSpPr/>
          <p:nvPr/>
        </p:nvCxnSpPr>
        <p:spPr>
          <a:xfrm>
            <a:off x="3411188" y="7485285"/>
            <a:ext cx="102108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93"/>
          <p:cNvCxnSpPr/>
          <p:nvPr/>
        </p:nvCxnSpPr>
        <p:spPr>
          <a:xfrm>
            <a:off x="3411188" y="7800086"/>
            <a:ext cx="102108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94"/>
          <p:cNvCxnSpPr/>
          <p:nvPr/>
        </p:nvCxnSpPr>
        <p:spPr>
          <a:xfrm>
            <a:off x="4429728" y="7485285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95"/>
          <p:cNvSpPr txBox="true"/>
          <p:nvPr/>
        </p:nvSpPr>
        <p:spPr>
          <a:xfrm>
            <a:off x="3528028" y="7564290"/>
            <a:ext cx="34982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Hours</a:t>
            </a:r>
            <a:endParaRPr lang="en-US" sz="1100"/>
          </a:p>
        </p:txBody>
      </p:sp>
      <p:cxnSp>
        <p:nvCxnSpPr>
          <p:cNvPr name="GraphCompose Table Cell Border" id="96"/>
          <p:cNvCxnSpPr/>
          <p:nvPr/>
        </p:nvCxnSpPr>
        <p:spPr>
          <a:xfrm>
            <a:off x="4427188" y="7485285"/>
            <a:ext cx="102108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97"/>
          <p:cNvCxnSpPr/>
          <p:nvPr/>
        </p:nvCxnSpPr>
        <p:spPr>
          <a:xfrm>
            <a:off x="4427188" y="7800086"/>
            <a:ext cx="102108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98"/>
          <p:cNvCxnSpPr/>
          <p:nvPr/>
        </p:nvCxnSpPr>
        <p:spPr>
          <a:xfrm>
            <a:off x="5445728" y="7485285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99"/>
          <p:cNvSpPr txBox="true"/>
          <p:nvPr/>
        </p:nvSpPr>
        <p:spPr>
          <a:xfrm>
            <a:off x="4544028" y="7564290"/>
            <a:ext cx="37673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Owner</a:t>
            </a:r>
            <a:endParaRPr lang="en-US" sz="1100"/>
          </a:p>
        </p:txBody>
      </p:sp>
      <p:cxnSp>
        <p:nvCxnSpPr>
          <p:cNvPr name="GraphCompose Table Cell Border" id="100"/>
          <p:cNvCxnSpPr/>
          <p:nvPr/>
        </p:nvCxnSpPr>
        <p:spPr>
          <a:xfrm>
            <a:off x="5443188" y="7485285"/>
            <a:ext cx="101854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01"/>
          <p:cNvCxnSpPr/>
          <p:nvPr/>
        </p:nvCxnSpPr>
        <p:spPr>
          <a:xfrm>
            <a:off x="5443188" y="7800086"/>
            <a:ext cx="101854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02"/>
          <p:cNvCxnSpPr/>
          <p:nvPr/>
        </p:nvCxnSpPr>
        <p:spPr>
          <a:xfrm>
            <a:off x="6461728" y="7485285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103"/>
          <p:cNvSpPr txBox="true"/>
          <p:nvPr/>
        </p:nvSpPr>
        <p:spPr>
          <a:xfrm>
            <a:off x="5560028" y="7564290"/>
            <a:ext cx="45696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Amount</a:t>
            </a:r>
            <a:endParaRPr lang="en-US" sz="1100"/>
          </a:p>
        </p:txBody>
      </p:sp>
      <p:cxnSp>
        <p:nvCxnSpPr>
          <p:cNvPr name="GraphCompose Table Cell Border" id="104"/>
          <p:cNvCxnSpPr/>
          <p:nvPr/>
        </p:nvCxnSpPr>
        <p:spPr>
          <a:xfrm>
            <a:off x="431800" y="8089487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05"/>
          <p:cNvCxnSpPr/>
          <p:nvPr/>
        </p:nvCxnSpPr>
        <p:spPr>
          <a:xfrm>
            <a:off x="431800" y="780008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06"/>
          <p:cNvCxnSpPr/>
          <p:nvPr/>
        </p:nvCxnSpPr>
        <p:spPr>
          <a:xfrm>
            <a:off x="1193800" y="780008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07"/>
          <p:cNvSpPr txBox="true"/>
          <p:nvPr/>
        </p:nvSpPr>
        <p:spPr>
          <a:xfrm>
            <a:off x="546100" y="7866392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INV-100</a:t>
            </a:r>
            <a:endParaRPr lang="en-US" sz="1100"/>
          </a:p>
        </p:txBody>
      </p:sp>
      <p:cxnSp>
        <p:nvCxnSpPr>
          <p:cNvPr name="GraphCompose Table Cell Border" id="108"/>
          <p:cNvCxnSpPr/>
          <p:nvPr/>
        </p:nvCxnSpPr>
        <p:spPr>
          <a:xfrm>
            <a:off x="1191260" y="8089487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09"/>
          <p:cNvCxnSpPr/>
          <p:nvPr/>
        </p:nvCxnSpPr>
        <p:spPr>
          <a:xfrm>
            <a:off x="3413728" y="780008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10"/>
          <p:cNvSpPr txBox="true"/>
          <p:nvPr/>
        </p:nvSpPr>
        <p:spPr>
          <a:xfrm>
            <a:off x="1308100" y="7866392"/>
            <a:ext cx="192551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 — quarterly delivery slice</a:t>
            </a:r>
            <a:endParaRPr lang="en-US" sz="1100"/>
          </a:p>
        </p:txBody>
      </p:sp>
      <p:cxnSp>
        <p:nvCxnSpPr>
          <p:cNvPr name="GraphCompose Table Cell Border" id="111"/>
          <p:cNvCxnSpPr/>
          <p:nvPr/>
        </p:nvCxnSpPr>
        <p:spPr>
          <a:xfrm>
            <a:off x="3411188" y="8089487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12"/>
          <p:cNvCxnSpPr/>
          <p:nvPr/>
        </p:nvCxnSpPr>
        <p:spPr>
          <a:xfrm>
            <a:off x="4429728" y="780008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13"/>
          <p:cNvSpPr txBox="true"/>
          <p:nvPr/>
        </p:nvSpPr>
        <p:spPr>
          <a:xfrm>
            <a:off x="3528028" y="7866392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40 h</a:t>
            </a:r>
            <a:endParaRPr lang="en-US" sz="1100"/>
          </a:p>
        </p:txBody>
      </p:sp>
      <p:cxnSp>
        <p:nvCxnSpPr>
          <p:cNvPr name="GraphCompose Table Cell Border" id="114"/>
          <p:cNvCxnSpPr/>
          <p:nvPr/>
        </p:nvCxnSpPr>
        <p:spPr>
          <a:xfrm>
            <a:off x="4427188" y="8089487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15"/>
          <p:cNvCxnSpPr/>
          <p:nvPr/>
        </p:nvCxnSpPr>
        <p:spPr>
          <a:xfrm>
            <a:off x="5445728" y="780008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16"/>
          <p:cNvSpPr txBox="true"/>
          <p:nvPr/>
        </p:nvSpPr>
        <p:spPr>
          <a:xfrm>
            <a:off x="4544028" y="7866392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Studio</a:t>
            </a:r>
            <a:endParaRPr lang="en-US" sz="1100"/>
          </a:p>
        </p:txBody>
      </p:sp>
      <p:cxnSp>
        <p:nvCxnSpPr>
          <p:cNvPr name="GraphCompose Table Cell Border" id="117"/>
          <p:cNvCxnSpPr/>
          <p:nvPr/>
        </p:nvCxnSpPr>
        <p:spPr>
          <a:xfrm>
            <a:off x="5443188" y="8089487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18"/>
          <p:cNvCxnSpPr/>
          <p:nvPr/>
        </p:nvCxnSpPr>
        <p:spPr>
          <a:xfrm>
            <a:off x="6461728" y="780008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19"/>
          <p:cNvSpPr txBox="true"/>
          <p:nvPr/>
        </p:nvSpPr>
        <p:spPr>
          <a:xfrm>
            <a:off x="5560028" y="7866392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£ 1,800</a:t>
            </a:r>
            <a:endParaRPr lang="en-US" sz="1100"/>
          </a:p>
        </p:txBody>
      </p:sp>
      <p:cxnSp>
        <p:nvCxnSpPr>
          <p:cNvPr name="GraphCompose Table Cell Border" id="120"/>
          <p:cNvCxnSpPr/>
          <p:nvPr/>
        </p:nvCxnSpPr>
        <p:spPr>
          <a:xfrm>
            <a:off x="431800" y="8378889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21"/>
          <p:cNvCxnSpPr/>
          <p:nvPr/>
        </p:nvCxnSpPr>
        <p:spPr>
          <a:xfrm>
            <a:off x="431800" y="808948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22"/>
          <p:cNvCxnSpPr/>
          <p:nvPr/>
        </p:nvCxnSpPr>
        <p:spPr>
          <a:xfrm>
            <a:off x="1193800" y="808948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23"/>
          <p:cNvSpPr txBox="true"/>
          <p:nvPr/>
        </p:nvSpPr>
        <p:spPr>
          <a:xfrm>
            <a:off x="546100" y="8155793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INV-101</a:t>
            </a:r>
            <a:endParaRPr lang="en-US" sz="1100"/>
          </a:p>
        </p:txBody>
      </p:sp>
      <p:cxnSp>
        <p:nvCxnSpPr>
          <p:cNvPr name="GraphCompose Table Cell Border" id="124"/>
          <p:cNvCxnSpPr/>
          <p:nvPr/>
        </p:nvCxnSpPr>
        <p:spPr>
          <a:xfrm>
            <a:off x="1191260" y="8378889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25"/>
          <p:cNvCxnSpPr/>
          <p:nvPr/>
        </p:nvCxnSpPr>
        <p:spPr>
          <a:xfrm>
            <a:off x="3413728" y="808948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26"/>
          <p:cNvSpPr txBox="true"/>
          <p:nvPr/>
        </p:nvSpPr>
        <p:spPr>
          <a:xfrm>
            <a:off x="1308100" y="8155793"/>
            <a:ext cx="192551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2 — quarterly delivery slice</a:t>
            </a:r>
            <a:endParaRPr lang="en-US" sz="1100"/>
          </a:p>
        </p:txBody>
      </p:sp>
      <p:cxnSp>
        <p:nvCxnSpPr>
          <p:cNvPr name="GraphCompose Table Cell Border" id="127"/>
          <p:cNvCxnSpPr/>
          <p:nvPr/>
        </p:nvCxnSpPr>
        <p:spPr>
          <a:xfrm>
            <a:off x="3411188" y="8378889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28"/>
          <p:cNvCxnSpPr/>
          <p:nvPr/>
        </p:nvCxnSpPr>
        <p:spPr>
          <a:xfrm>
            <a:off x="4429728" y="808948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29"/>
          <p:cNvSpPr txBox="true"/>
          <p:nvPr/>
        </p:nvSpPr>
        <p:spPr>
          <a:xfrm>
            <a:off x="3528028" y="8155793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43 h</a:t>
            </a:r>
            <a:endParaRPr lang="en-US" sz="1100"/>
          </a:p>
        </p:txBody>
      </p:sp>
      <p:cxnSp>
        <p:nvCxnSpPr>
          <p:cNvPr name="GraphCompose Table Cell Border" id="130"/>
          <p:cNvCxnSpPr/>
          <p:nvPr/>
        </p:nvCxnSpPr>
        <p:spPr>
          <a:xfrm>
            <a:off x="4427188" y="8378889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31"/>
          <p:cNvCxnSpPr/>
          <p:nvPr/>
        </p:nvCxnSpPr>
        <p:spPr>
          <a:xfrm>
            <a:off x="5445728" y="808948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32"/>
          <p:cNvSpPr txBox="true"/>
          <p:nvPr/>
        </p:nvSpPr>
        <p:spPr>
          <a:xfrm>
            <a:off x="4544028" y="8155793"/>
            <a:ext cx="27623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Audit</a:t>
            </a:r>
            <a:endParaRPr lang="en-US" sz="1100"/>
          </a:p>
        </p:txBody>
      </p:sp>
      <p:cxnSp>
        <p:nvCxnSpPr>
          <p:cNvPr name="GraphCompose Table Cell Border" id="133"/>
          <p:cNvCxnSpPr/>
          <p:nvPr/>
        </p:nvCxnSpPr>
        <p:spPr>
          <a:xfrm>
            <a:off x="5443188" y="8378889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34"/>
          <p:cNvCxnSpPr/>
          <p:nvPr/>
        </p:nvCxnSpPr>
        <p:spPr>
          <a:xfrm>
            <a:off x="6461728" y="808948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35"/>
          <p:cNvSpPr txBox="true"/>
          <p:nvPr/>
        </p:nvSpPr>
        <p:spPr>
          <a:xfrm>
            <a:off x="5560028" y="8155793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£ 2,015</a:t>
            </a:r>
            <a:endParaRPr lang="en-US" sz="1100"/>
          </a:p>
        </p:txBody>
      </p:sp>
      <p:cxnSp>
        <p:nvCxnSpPr>
          <p:cNvPr name="GraphCompose Table Cell Border" id="136"/>
          <p:cNvCxnSpPr/>
          <p:nvPr/>
        </p:nvCxnSpPr>
        <p:spPr>
          <a:xfrm>
            <a:off x="431800" y="8668290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37"/>
          <p:cNvCxnSpPr/>
          <p:nvPr/>
        </p:nvCxnSpPr>
        <p:spPr>
          <a:xfrm>
            <a:off x="431800" y="837888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38"/>
          <p:cNvCxnSpPr/>
          <p:nvPr/>
        </p:nvCxnSpPr>
        <p:spPr>
          <a:xfrm>
            <a:off x="1193800" y="837888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39"/>
          <p:cNvSpPr txBox="true"/>
          <p:nvPr/>
        </p:nvSpPr>
        <p:spPr>
          <a:xfrm>
            <a:off x="546100" y="8445194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INV-102</a:t>
            </a:r>
            <a:endParaRPr lang="en-US" sz="1100"/>
          </a:p>
        </p:txBody>
      </p:sp>
      <p:cxnSp>
        <p:nvCxnSpPr>
          <p:cNvPr name="GraphCompose Table Cell Border" id="140"/>
          <p:cNvCxnSpPr/>
          <p:nvPr/>
        </p:nvCxnSpPr>
        <p:spPr>
          <a:xfrm>
            <a:off x="1191260" y="8668290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41"/>
          <p:cNvCxnSpPr/>
          <p:nvPr/>
        </p:nvCxnSpPr>
        <p:spPr>
          <a:xfrm>
            <a:off x="3413728" y="837888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42"/>
          <p:cNvSpPr txBox="true"/>
          <p:nvPr/>
        </p:nvSpPr>
        <p:spPr>
          <a:xfrm>
            <a:off x="1308100" y="8445194"/>
            <a:ext cx="192551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3 — quarterly delivery slice</a:t>
            </a:r>
            <a:endParaRPr lang="en-US" sz="1100"/>
          </a:p>
        </p:txBody>
      </p:sp>
      <p:cxnSp>
        <p:nvCxnSpPr>
          <p:cNvPr name="GraphCompose Table Cell Border" id="143"/>
          <p:cNvCxnSpPr/>
          <p:nvPr/>
        </p:nvCxnSpPr>
        <p:spPr>
          <a:xfrm>
            <a:off x="3411188" y="8668290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44"/>
          <p:cNvCxnSpPr/>
          <p:nvPr/>
        </p:nvCxnSpPr>
        <p:spPr>
          <a:xfrm>
            <a:off x="4429728" y="837888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45"/>
          <p:cNvSpPr txBox="true"/>
          <p:nvPr/>
        </p:nvSpPr>
        <p:spPr>
          <a:xfrm>
            <a:off x="3528028" y="8445194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46 h</a:t>
            </a:r>
            <a:endParaRPr lang="en-US" sz="1100"/>
          </a:p>
        </p:txBody>
      </p:sp>
      <p:cxnSp>
        <p:nvCxnSpPr>
          <p:cNvPr name="GraphCompose Table Cell Border" id="146"/>
          <p:cNvCxnSpPr/>
          <p:nvPr/>
        </p:nvCxnSpPr>
        <p:spPr>
          <a:xfrm>
            <a:off x="4427188" y="8668290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47"/>
          <p:cNvCxnSpPr/>
          <p:nvPr/>
        </p:nvCxnSpPr>
        <p:spPr>
          <a:xfrm>
            <a:off x="5445728" y="837888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48"/>
          <p:cNvSpPr txBox="true"/>
          <p:nvPr/>
        </p:nvSpPr>
        <p:spPr>
          <a:xfrm>
            <a:off x="4544028" y="8445194"/>
            <a:ext cx="2694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Build</a:t>
            </a:r>
            <a:endParaRPr lang="en-US" sz="1100"/>
          </a:p>
        </p:txBody>
      </p:sp>
      <p:cxnSp>
        <p:nvCxnSpPr>
          <p:cNvPr name="GraphCompose Table Cell Border" id="149"/>
          <p:cNvCxnSpPr/>
          <p:nvPr/>
        </p:nvCxnSpPr>
        <p:spPr>
          <a:xfrm>
            <a:off x="5443188" y="8668290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50"/>
          <p:cNvCxnSpPr/>
          <p:nvPr/>
        </p:nvCxnSpPr>
        <p:spPr>
          <a:xfrm>
            <a:off x="6461728" y="837888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51"/>
          <p:cNvSpPr txBox="true"/>
          <p:nvPr/>
        </p:nvSpPr>
        <p:spPr>
          <a:xfrm>
            <a:off x="5560028" y="8445194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£ 2,230</a:t>
            </a:r>
            <a:endParaRPr lang="en-US" sz="1100"/>
          </a:p>
        </p:txBody>
      </p:sp>
      <p:cxnSp>
        <p:nvCxnSpPr>
          <p:cNvPr name="GraphCompose Table Cell Border" id="152"/>
          <p:cNvCxnSpPr/>
          <p:nvPr/>
        </p:nvCxnSpPr>
        <p:spPr>
          <a:xfrm>
            <a:off x="431800" y="8957691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53"/>
          <p:cNvCxnSpPr/>
          <p:nvPr/>
        </p:nvCxnSpPr>
        <p:spPr>
          <a:xfrm>
            <a:off x="431800" y="866829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54"/>
          <p:cNvCxnSpPr/>
          <p:nvPr/>
        </p:nvCxnSpPr>
        <p:spPr>
          <a:xfrm>
            <a:off x="1193800" y="866829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55"/>
          <p:cNvSpPr txBox="true"/>
          <p:nvPr/>
        </p:nvSpPr>
        <p:spPr>
          <a:xfrm>
            <a:off x="546100" y="8734595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INV-103</a:t>
            </a:r>
            <a:endParaRPr lang="en-US" sz="1100"/>
          </a:p>
        </p:txBody>
      </p:sp>
      <p:cxnSp>
        <p:nvCxnSpPr>
          <p:cNvPr name="GraphCompose Table Cell Border" id="156"/>
          <p:cNvCxnSpPr/>
          <p:nvPr/>
        </p:nvCxnSpPr>
        <p:spPr>
          <a:xfrm>
            <a:off x="1191260" y="8957691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57"/>
          <p:cNvCxnSpPr/>
          <p:nvPr/>
        </p:nvCxnSpPr>
        <p:spPr>
          <a:xfrm>
            <a:off x="3413728" y="866829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58"/>
          <p:cNvSpPr txBox="true"/>
          <p:nvPr/>
        </p:nvSpPr>
        <p:spPr>
          <a:xfrm>
            <a:off x="1308100" y="8734595"/>
            <a:ext cx="192551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4 — quarterly delivery slice</a:t>
            </a:r>
            <a:endParaRPr lang="en-US" sz="1100"/>
          </a:p>
        </p:txBody>
      </p:sp>
      <p:cxnSp>
        <p:nvCxnSpPr>
          <p:cNvPr name="GraphCompose Table Cell Border" id="159"/>
          <p:cNvCxnSpPr/>
          <p:nvPr/>
        </p:nvCxnSpPr>
        <p:spPr>
          <a:xfrm>
            <a:off x="3411188" y="8957691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60"/>
          <p:cNvCxnSpPr/>
          <p:nvPr/>
        </p:nvCxnSpPr>
        <p:spPr>
          <a:xfrm>
            <a:off x="4429728" y="866829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61"/>
          <p:cNvSpPr txBox="true"/>
          <p:nvPr/>
        </p:nvSpPr>
        <p:spPr>
          <a:xfrm>
            <a:off x="3528028" y="8734595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49 h</a:t>
            </a:r>
            <a:endParaRPr lang="en-US" sz="1100"/>
          </a:p>
        </p:txBody>
      </p:sp>
      <p:cxnSp>
        <p:nvCxnSpPr>
          <p:cNvPr name="GraphCompose Table Cell Border" id="162"/>
          <p:cNvCxnSpPr/>
          <p:nvPr/>
        </p:nvCxnSpPr>
        <p:spPr>
          <a:xfrm>
            <a:off x="4427188" y="8957691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63"/>
          <p:cNvCxnSpPr/>
          <p:nvPr/>
        </p:nvCxnSpPr>
        <p:spPr>
          <a:xfrm>
            <a:off x="5445728" y="866829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64"/>
          <p:cNvSpPr txBox="true"/>
          <p:nvPr/>
        </p:nvSpPr>
        <p:spPr>
          <a:xfrm>
            <a:off x="4544028" y="8734595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Studio</a:t>
            </a:r>
            <a:endParaRPr lang="en-US" sz="1100"/>
          </a:p>
        </p:txBody>
      </p:sp>
      <p:cxnSp>
        <p:nvCxnSpPr>
          <p:cNvPr name="GraphCompose Table Cell Border" id="165"/>
          <p:cNvCxnSpPr/>
          <p:nvPr/>
        </p:nvCxnSpPr>
        <p:spPr>
          <a:xfrm>
            <a:off x="5443188" y="8957691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66"/>
          <p:cNvCxnSpPr/>
          <p:nvPr/>
        </p:nvCxnSpPr>
        <p:spPr>
          <a:xfrm>
            <a:off x="6461728" y="866829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67"/>
          <p:cNvSpPr txBox="true"/>
          <p:nvPr/>
        </p:nvSpPr>
        <p:spPr>
          <a:xfrm>
            <a:off x="5560028" y="8734595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£ 2,445</a:t>
            </a:r>
            <a:endParaRPr lang="en-US" sz="1100"/>
          </a:p>
        </p:txBody>
      </p:sp>
      <p:cxnSp>
        <p:nvCxnSpPr>
          <p:cNvPr name="GraphCompose Table Cell Border" id="168"/>
          <p:cNvCxnSpPr/>
          <p:nvPr/>
        </p:nvCxnSpPr>
        <p:spPr>
          <a:xfrm>
            <a:off x="431800" y="9247092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69"/>
          <p:cNvCxnSpPr/>
          <p:nvPr/>
        </p:nvCxnSpPr>
        <p:spPr>
          <a:xfrm>
            <a:off x="431800" y="895769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70"/>
          <p:cNvCxnSpPr/>
          <p:nvPr/>
        </p:nvCxnSpPr>
        <p:spPr>
          <a:xfrm>
            <a:off x="1193800" y="895769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71"/>
          <p:cNvSpPr txBox="true"/>
          <p:nvPr/>
        </p:nvSpPr>
        <p:spPr>
          <a:xfrm>
            <a:off x="546100" y="9023997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INV-104</a:t>
            </a:r>
            <a:endParaRPr lang="en-US" sz="1100"/>
          </a:p>
        </p:txBody>
      </p:sp>
      <p:cxnSp>
        <p:nvCxnSpPr>
          <p:cNvPr name="GraphCompose Table Cell Border" id="172"/>
          <p:cNvCxnSpPr/>
          <p:nvPr/>
        </p:nvCxnSpPr>
        <p:spPr>
          <a:xfrm>
            <a:off x="1191260" y="9247092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73"/>
          <p:cNvCxnSpPr/>
          <p:nvPr/>
        </p:nvCxnSpPr>
        <p:spPr>
          <a:xfrm>
            <a:off x="3413728" y="895769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74"/>
          <p:cNvSpPr txBox="true"/>
          <p:nvPr/>
        </p:nvSpPr>
        <p:spPr>
          <a:xfrm>
            <a:off x="1308100" y="9023997"/>
            <a:ext cx="192551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5 — quarterly delivery slice</a:t>
            </a:r>
            <a:endParaRPr lang="en-US" sz="1100"/>
          </a:p>
        </p:txBody>
      </p:sp>
      <p:cxnSp>
        <p:nvCxnSpPr>
          <p:cNvPr name="GraphCompose Table Cell Border" id="175"/>
          <p:cNvCxnSpPr/>
          <p:nvPr/>
        </p:nvCxnSpPr>
        <p:spPr>
          <a:xfrm>
            <a:off x="3411188" y="9247092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76"/>
          <p:cNvCxnSpPr/>
          <p:nvPr/>
        </p:nvCxnSpPr>
        <p:spPr>
          <a:xfrm>
            <a:off x="4429728" y="895769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77"/>
          <p:cNvSpPr txBox="true"/>
          <p:nvPr/>
        </p:nvSpPr>
        <p:spPr>
          <a:xfrm>
            <a:off x="3528028" y="9023997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52 h</a:t>
            </a:r>
            <a:endParaRPr lang="en-US" sz="1100"/>
          </a:p>
        </p:txBody>
      </p:sp>
      <p:cxnSp>
        <p:nvCxnSpPr>
          <p:cNvPr name="GraphCompose Table Cell Border" id="178"/>
          <p:cNvCxnSpPr/>
          <p:nvPr/>
        </p:nvCxnSpPr>
        <p:spPr>
          <a:xfrm>
            <a:off x="4427188" y="9247092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79"/>
          <p:cNvCxnSpPr/>
          <p:nvPr/>
        </p:nvCxnSpPr>
        <p:spPr>
          <a:xfrm>
            <a:off x="5445728" y="895769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80"/>
          <p:cNvSpPr txBox="true"/>
          <p:nvPr/>
        </p:nvSpPr>
        <p:spPr>
          <a:xfrm>
            <a:off x="4544028" y="9023997"/>
            <a:ext cx="27623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Audit</a:t>
            </a:r>
            <a:endParaRPr lang="en-US" sz="1100"/>
          </a:p>
        </p:txBody>
      </p:sp>
      <p:cxnSp>
        <p:nvCxnSpPr>
          <p:cNvPr name="GraphCompose Table Cell Border" id="181"/>
          <p:cNvCxnSpPr/>
          <p:nvPr/>
        </p:nvCxnSpPr>
        <p:spPr>
          <a:xfrm>
            <a:off x="5443188" y="9247092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82"/>
          <p:cNvCxnSpPr/>
          <p:nvPr/>
        </p:nvCxnSpPr>
        <p:spPr>
          <a:xfrm>
            <a:off x="6461728" y="895769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83"/>
          <p:cNvSpPr txBox="true"/>
          <p:nvPr/>
        </p:nvSpPr>
        <p:spPr>
          <a:xfrm>
            <a:off x="5560028" y="9023997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£ 2,660</a:t>
            </a:r>
            <a:endParaRPr lang="en-US" sz="1100"/>
          </a:p>
        </p:txBody>
      </p:sp>
      <p:cxnSp>
        <p:nvCxnSpPr>
          <p:cNvPr name="GraphCompose Table Cell Border" id="184"/>
          <p:cNvCxnSpPr/>
          <p:nvPr/>
        </p:nvCxnSpPr>
        <p:spPr>
          <a:xfrm>
            <a:off x="431800" y="9536494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85"/>
          <p:cNvCxnSpPr/>
          <p:nvPr/>
        </p:nvCxnSpPr>
        <p:spPr>
          <a:xfrm>
            <a:off x="431800" y="924709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86"/>
          <p:cNvCxnSpPr/>
          <p:nvPr/>
        </p:nvCxnSpPr>
        <p:spPr>
          <a:xfrm>
            <a:off x="1193800" y="924709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87"/>
          <p:cNvSpPr txBox="true"/>
          <p:nvPr/>
        </p:nvSpPr>
        <p:spPr>
          <a:xfrm>
            <a:off x="546100" y="9313398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INV-105</a:t>
            </a:r>
            <a:endParaRPr lang="en-US" sz="1100"/>
          </a:p>
        </p:txBody>
      </p:sp>
      <p:cxnSp>
        <p:nvCxnSpPr>
          <p:cNvPr name="GraphCompose Table Cell Border" id="188"/>
          <p:cNvCxnSpPr/>
          <p:nvPr/>
        </p:nvCxnSpPr>
        <p:spPr>
          <a:xfrm>
            <a:off x="1191260" y="9536494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89"/>
          <p:cNvCxnSpPr/>
          <p:nvPr/>
        </p:nvCxnSpPr>
        <p:spPr>
          <a:xfrm>
            <a:off x="3413728" y="924709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90"/>
          <p:cNvSpPr txBox="true"/>
          <p:nvPr/>
        </p:nvSpPr>
        <p:spPr>
          <a:xfrm>
            <a:off x="1308100" y="9313398"/>
            <a:ext cx="192551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6 — quarterly delivery slice</a:t>
            </a:r>
            <a:endParaRPr lang="en-US" sz="1100"/>
          </a:p>
        </p:txBody>
      </p:sp>
      <p:cxnSp>
        <p:nvCxnSpPr>
          <p:cNvPr name="GraphCompose Table Cell Border" id="191"/>
          <p:cNvCxnSpPr/>
          <p:nvPr/>
        </p:nvCxnSpPr>
        <p:spPr>
          <a:xfrm>
            <a:off x="3411188" y="9536494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92"/>
          <p:cNvCxnSpPr/>
          <p:nvPr/>
        </p:nvCxnSpPr>
        <p:spPr>
          <a:xfrm>
            <a:off x="4429728" y="924709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93"/>
          <p:cNvSpPr txBox="true"/>
          <p:nvPr/>
        </p:nvSpPr>
        <p:spPr>
          <a:xfrm>
            <a:off x="3528028" y="9313398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55 h</a:t>
            </a:r>
            <a:endParaRPr lang="en-US" sz="1100"/>
          </a:p>
        </p:txBody>
      </p:sp>
      <p:cxnSp>
        <p:nvCxnSpPr>
          <p:cNvPr name="GraphCompose Table Cell Border" id="194"/>
          <p:cNvCxnSpPr/>
          <p:nvPr/>
        </p:nvCxnSpPr>
        <p:spPr>
          <a:xfrm>
            <a:off x="4427188" y="9536494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95"/>
          <p:cNvCxnSpPr/>
          <p:nvPr/>
        </p:nvCxnSpPr>
        <p:spPr>
          <a:xfrm>
            <a:off x="5445728" y="924709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96"/>
          <p:cNvSpPr txBox="true"/>
          <p:nvPr/>
        </p:nvSpPr>
        <p:spPr>
          <a:xfrm>
            <a:off x="4544028" y="9313398"/>
            <a:ext cx="2694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Build</a:t>
            </a:r>
            <a:endParaRPr lang="en-US" sz="1100"/>
          </a:p>
        </p:txBody>
      </p:sp>
      <p:cxnSp>
        <p:nvCxnSpPr>
          <p:cNvPr name="GraphCompose Table Cell Border" id="197"/>
          <p:cNvCxnSpPr/>
          <p:nvPr/>
        </p:nvCxnSpPr>
        <p:spPr>
          <a:xfrm>
            <a:off x="5443188" y="9536494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98"/>
          <p:cNvCxnSpPr/>
          <p:nvPr/>
        </p:nvCxnSpPr>
        <p:spPr>
          <a:xfrm>
            <a:off x="6461728" y="924709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99"/>
          <p:cNvSpPr txBox="true"/>
          <p:nvPr/>
        </p:nvSpPr>
        <p:spPr>
          <a:xfrm>
            <a:off x="5560028" y="9313398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£ 2,875</a:t>
            </a:r>
            <a:endParaRPr lang="en-US" sz="1100"/>
          </a:p>
        </p:txBody>
      </p:sp>
      <p:cxnSp>
        <p:nvCxnSpPr>
          <p:cNvPr name="GraphCompose Table Cell Border" id="200"/>
          <p:cNvCxnSpPr/>
          <p:nvPr/>
        </p:nvCxnSpPr>
        <p:spPr>
          <a:xfrm>
            <a:off x="431800" y="9825895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01"/>
          <p:cNvCxnSpPr/>
          <p:nvPr/>
        </p:nvCxnSpPr>
        <p:spPr>
          <a:xfrm>
            <a:off x="431800" y="953649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02"/>
          <p:cNvCxnSpPr/>
          <p:nvPr/>
        </p:nvCxnSpPr>
        <p:spPr>
          <a:xfrm>
            <a:off x="1193800" y="953649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03"/>
          <p:cNvSpPr txBox="true"/>
          <p:nvPr/>
        </p:nvSpPr>
        <p:spPr>
          <a:xfrm>
            <a:off x="546100" y="9602799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INV-106</a:t>
            </a:r>
            <a:endParaRPr lang="en-US" sz="1100"/>
          </a:p>
        </p:txBody>
      </p:sp>
      <p:cxnSp>
        <p:nvCxnSpPr>
          <p:cNvPr name="GraphCompose Table Cell Border" id="204"/>
          <p:cNvCxnSpPr/>
          <p:nvPr/>
        </p:nvCxnSpPr>
        <p:spPr>
          <a:xfrm>
            <a:off x="1191260" y="9825895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05"/>
          <p:cNvCxnSpPr/>
          <p:nvPr/>
        </p:nvCxnSpPr>
        <p:spPr>
          <a:xfrm>
            <a:off x="3413728" y="953649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06"/>
          <p:cNvSpPr txBox="true"/>
          <p:nvPr/>
        </p:nvSpPr>
        <p:spPr>
          <a:xfrm>
            <a:off x="1308100" y="9602799"/>
            <a:ext cx="192551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7 — quarterly delivery slice</a:t>
            </a:r>
            <a:endParaRPr lang="en-US" sz="1100"/>
          </a:p>
        </p:txBody>
      </p:sp>
      <p:cxnSp>
        <p:nvCxnSpPr>
          <p:cNvPr name="GraphCompose Table Cell Border" id="207"/>
          <p:cNvCxnSpPr/>
          <p:nvPr/>
        </p:nvCxnSpPr>
        <p:spPr>
          <a:xfrm>
            <a:off x="3411188" y="9825895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08"/>
          <p:cNvCxnSpPr/>
          <p:nvPr/>
        </p:nvCxnSpPr>
        <p:spPr>
          <a:xfrm>
            <a:off x="4429728" y="953649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09"/>
          <p:cNvSpPr txBox="true"/>
          <p:nvPr/>
        </p:nvSpPr>
        <p:spPr>
          <a:xfrm>
            <a:off x="3528028" y="9602799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58 h</a:t>
            </a:r>
            <a:endParaRPr lang="en-US" sz="1100"/>
          </a:p>
        </p:txBody>
      </p:sp>
      <p:cxnSp>
        <p:nvCxnSpPr>
          <p:cNvPr name="GraphCompose Table Cell Border" id="210"/>
          <p:cNvCxnSpPr/>
          <p:nvPr/>
        </p:nvCxnSpPr>
        <p:spPr>
          <a:xfrm>
            <a:off x="4427188" y="9825895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11"/>
          <p:cNvCxnSpPr/>
          <p:nvPr/>
        </p:nvCxnSpPr>
        <p:spPr>
          <a:xfrm>
            <a:off x="5445728" y="953649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12"/>
          <p:cNvSpPr txBox="true"/>
          <p:nvPr/>
        </p:nvSpPr>
        <p:spPr>
          <a:xfrm>
            <a:off x="4544028" y="9602799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Studio</a:t>
            </a:r>
            <a:endParaRPr lang="en-US" sz="1100"/>
          </a:p>
        </p:txBody>
      </p:sp>
      <p:cxnSp>
        <p:nvCxnSpPr>
          <p:cNvPr name="GraphCompose Table Cell Border" id="213"/>
          <p:cNvCxnSpPr/>
          <p:nvPr/>
        </p:nvCxnSpPr>
        <p:spPr>
          <a:xfrm>
            <a:off x="5443188" y="9825895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14"/>
          <p:cNvCxnSpPr/>
          <p:nvPr/>
        </p:nvCxnSpPr>
        <p:spPr>
          <a:xfrm>
            <a:off x="6461728" y="953649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15"/>
          <p:cNvSpPr txBox="true"/>
          <p:nvPr/>
        </p:nvSpPr>
        <p:spPr>
          <a:xfrm>
            <a:off x="5560028" y="9602799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£ 3,090</a:t>
            </a:r>
            <a:endParaRPr lang="en-US" sz="1100"/>
          </a:p>
        </p:txBody>
      </p:sp>
      <p:sp>
        <p:nvSpPr>
          <p:cNvPr name="GraphCompose Header" id="216"/>
          <p:cNvSpPr txBox="true"/>
          <p:nvPr/>
        </p:nvSpPr>
        <p:spPr>
          <a:xfrm>
            <a:off x="431800" y="220377"/>
            <a:ext cx="1792580" cy="14859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707480"/>
                </a:solidFill>
                <a:latin typeface="Arial"/>
              </a:rPr>
              <a:t>GraphCompose · Master showcase</a:t>
            </a:r>
            <a:endParaRPr lang="en-US" sz="1100"/>
          </a:p>
        </p:txBody>
      </p:sp>
      <p:sp>
        <p:nvSpPr>
          <p:cNvPr name="GraphCompose Header" id="217"/>
          <p:cNvSpPr txBox="true"/>
          <p:nvPr/>
        </p:nvSpPr>
        <p:spPr>
          <a:xfrm>
            <a:off x="6689746" y="220377"/>
            <a:ext cx="439725" cy="14859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707480"/>
                </a:solidFill>
                <a:latin typeface="Arial"/>
              </a:rPr>
              <a:t>Q2 2026</a:t>
            </a:r>
            <a:endParaRPr lang="en-US" sz="1100"/>
          </a:p>
        </p:txBody>
      </p:sp>
      <p:cxnSp>
        <p:nvCxnSpPr>
          <p:cNvPr name="GraphCompose Header Separator" id="218"/>
          <p:cNvCxnSpPr/>
          <p:nvPr/>
        </p:nvCxnSpPr>
        <p:spPr>
          <a:xfrm>
            <a:off x="431800" y="381000"/>
            <a:ext cx="6696401" cy="0"/>
          </a:xfrm>
          <a:prstGeom prst="line">
            <a:avLst/>
          </a:prstGeom>
          <a:ln w="6350">
            <a:solidFill>
              <a:srgbClr val="D4C8B2"/>
            </a:solidFill>
          </a:ln>
        </p:spPr>
      </p:cxnSp>
      <p:sp>
        <p:nvSpPr>
          <p:cNvPr name="GraphCompose Footer" id="219"/>
          <p:cNvSpPr txBox="true"/>
          <p:nvPr/>
        </p:nvSpPr>
        <p:spPr>
          <a:xfrm>
            <a:off x="431800" y="10321827"/>
            <a:ext cx="1684566" cy="14859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707480"/>
                </a:solidFill>
                <a:latin typeface="Arial"/>
              </a:rPr>
              <a:t>GraphCompose — sample report</a:t>
            </a:r>
            <a:endParaRPr lang="en-US" sz="1100"/>
          </a:p>
        </p:txBody>
      </p:sp>
      <p:sp>
        <p:nvSpPr>
          <p:cNvPr name="GraphCompose Footer" id="220"/>
          <p:cNvSpPr txBox="true"/>
          <p:nvPr/>
        </p:nvSpPr>
        <p:spPr>
          <a:xfrm>
            <a:off x="6543556" y="10321827"/>
            <a:ext cx="585914" cy="14859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707480"/>
                </a:solidFill>
                <a:latin typeface="Arial"/>
              </a:rPr>
              <a:t>Page 1 of 2</a:t>
            </a:r>
            <a:endParaRPr lang="en-US" sz="1100"/>
          </a:p>
        </p:txBody>
      </p:sp>
      <p:cxnSp>
        <p:nvCxnSpPr>
          <p:cNvPr name="GraphCompose Footer Separator" id="221"/>
          <p:cNvCxnSpPr/>
          <p:nvPr/>
        </p:nvCxnSpPr>
        <p:spPr>
          <a:xfrm>
            <a:off x="431800" y="10311000"/>
            <a:ext cx="6696401" cy="0"/>
          </a:xfrm>
          <a:prstGeom prst="line">
            <a:avLst/>
          </a:prstGeom>
          <a:ln w="6350">
            <a:solidFill>
              <a:srgbClr val="D4C8B2"/>
            </a:solidFill>
          </a:ln>
        </p:spPr>
      </p:cxn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7560001" cy="10692000"/>
          </a:xfrm>
          <a:prstGeom prst="rect">
            <a:avLst/>
          </a:prstGeom>
          <a:solidFill>
            <a:srgbClr val="FCF8F0"/>
          </a:solidFill>
          <a:ln>
            <a:noFill/>
          </a:ln>
        </p:spPr>
      </p:sp>
      <p:sp>
        <p:nvSpPr>
          <p:cNvPr name="GraphCompose Table Cell Fill" id="3"/>
          <p:cNvSpPr/>
          <p:nvPr/>
        </p:nvSpPr>
        <p:spPr>
          <a:xfrm>
            <a:off x="431800" y="609600"/>
            <a:ext cx="762000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4"/>
          <p:cNvSpPr/>
          <p:nvPr/>
        </p:nvSpPr>
        <p:spPr>
          <a:xfrm>
            <a:off x="1193800" y="609600"/>
            <a:ext cx="2219928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5"/>
          <p:cNvSpPr/>
          <p:nvPr/>
        </p:nvSpPr>
        <p:spPr>
          <a:xfrm>
            <a:off x="3413728" y="609600"/>
            <a:ext cx="1016000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6"/>
          <p:cNvSpPr/>
          <p:nvPr/>
        </p:nvSpPr>
        <p:spPr>
          <a:xfrm>
            <a:off x="4429728" y="609600"/>
            <a:ext cx="1016000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7"/>
          <p:cNvSpPr/>
          <p:nvPr/>
        </p:nvSpPr>
        <p:spPr>
          <a:xfrm>
            <a:off x="5445728" y="609600"/>
            <a:ext cx="1016000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8"/>
          <p:cNvSpPr/>
          <p:nvPr/>
        </p:nvSpPr>
        <p:spPr>
          <a:xfrm>
            <a:off x="431800" y="924401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9"/>
          <p:cNvSpPr/>
          <p:nvPr/>
        </p:nvSpPr>
        <p:spPr>
          <a:xfrm>
            <a:off x="1193800" y="924401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0"/>
          <p:cNvSpPr/>
          <p:nvPr/>
        </p:nvSpPr>
        <p:spPr>
          <a:xfrm>
            <a:off x="3413728" y="92440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1"/>
          <p:cNvSpPr/>
          <p:nvPr/>
        </p:nvSpPr>
        <p:spPr>
          <a:xfrm>
            <a:off x="4429728" y="92440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2"/>
          <p:cNvSpPr/>
          <p:nvPr/>
        </p:nvSpPr>
        <p:spPr>
          <a:xfrm>
            <a:off x="5445728" y="92440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3"/>
          <p:cNvSpPr/>
          <p:nvPr/>
        </p:nvSpPr>
        <p:spPr>
          <a:xfrm>
            <a:off x="431800" y="1213802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14"/>
          <p:cNvSpPr/>
          <p:nvPr/>
        </p:nvSpPr>
        <p:spPr>
          <a:xfrm>
            <a:off x="1193800" y="1213802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15"/>
          <p:cNvSpPr/>
          <p:nvPr/>
        </p:nvSpPr>
        <p:spPr>
          <a:xfrm>
            <a:off x="3413728" y="1213802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16"/>
          <p:cNvSpPr/>
          <p:nvPr/>
        </p:nvSpPr>
        <p:spPr>
          <a:xfrm>
            <a:off x="4429728" y="1213802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17"/>
          <p:cNvSpPr/>
          <p:nvPr/>
        </p:nvSpPr>
        <p:spPr>
          <a:xfrm>
            <a:off x="5445728" y="1213802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18"/>
          <p:cNvSpPr/>
          <p:nvPr/>
        </p:nvSpPr>
        <p:spPr>
          <a:xfrm>
            <a:off x="431800" y="1503204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9"/>
          <p:cNvSpPr/>
          <p:nvPr/>
        </p:nvSpPr>
        <p:spPr>
          <a:xfrm>
            <a:off x="1193800" y="1503204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20"/>
          <p:cNvSpPr/>
          <p:nvPr/>
        </p:nvSpPr>
        <p:spPr>
          <a:xfrm>
            <a:off x="3413728" y="1503204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21"/>
          <p:cNvSpPr/>
          <p:nvPr/>
        </p:nvSpPr>
        <p:spPr>
          <a:xfrm>
            <a:off x="4429728" y="1503204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22"/>
          <p:cNvSpPr/>
          <p:nvPr/>
        </p:nvSpPr>
        <p:spPr>
          <a:xfrm>
            <a:off x="5445728" y="1503204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23"/>
          <p:cNvSpPr/>
          <p:nvPr/>
        </p:nvSpPr>
        <p:spPr>
          <a:xfrm>
            <a:off x="431800" y="1792605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24"/>
          <p:cNvSpPr/>
          <p:nvPr/>
        </p:nvSpPr>
        <p:spPr>
          <a:xfrm>
            <a:off x="1193800" y="1792605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25"/>
          <p:cNvSpPr/>
          <p:nvPr/>
        </p:nvSpPr>
        <p:spPr>
          <a:xfrm>
            <a:off x="3413728" y="1792605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26"/>
          <p:cNvSpPr/>
          <p:nvPr/>
        </p:nvSpPr>
        <p:spPr>
          <a:xfrm>
            <a:off x="4429728" y="1792605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27"/>
          <p:cNvSpPr/>
          <p:nvPr/>
        </p:nvSpPr>
        <p:spPr>
          <a:xfrm>
            <a:off x="5445728" y="1792605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28"/>
          <p:cNvSpPr/>
          <p:nvPr/>
        </p:nvSpPr>
        <p:spPr>
          <a:xfrm>
            <a:off x="431800" y="2082006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29"/>
          <p:cNvSpPr/>
          <p:nvPr/>
        </p:nvSpPr>
        <p:spPr>
          <a:xfrm>
            <a:off x="1193800" y="2082006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30"/>
          <p:cNvSpPr/>
          <p:nvPr/>
        </p:nvSpPr>
        <p:spPr>
          <a:xfrm>
            <a:off x="3413728" y="2082006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31"/>
          <p:cNvSpPr/>
          <p:nvPr/>
        </p:nvSpPr>
        <p:spPr>
          <a:xfrm>
            <a:off x="4429728" y="2082006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32"/>
          <p:cNvSpPr/>
          <p:nvPr/>
        </p:nvSpPr>
        <p:spPr>
          <a:xfrm>
            <a:off x="5445728" y="2082006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33"/>
          <p:cNvSpPr/>
          <p:nvPr/>
        </p:nvSpPr>
        <p:spPr>
          <a:xfrm>
            <a:off x="431800" y="2371407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34"/>
          <p:cNvSpPr/>
          <p:nvPr/>
        </p:nvSpPr>
        <p:spPr>
          <a:xfrm>
            <a:off x="1193800" y="2371407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35"/>
          <p:cNvSpPr/>
          <p:nvPr/>
        </p:nvSpPr>
        <p:spPr>
          <a:xfrm>
            <a:off x="3413728" y="2371407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36"/>
          <p:cNvSpPr/>
          <p:nvPr/>
        </p:nvSpPr>
        <p:spPr>
          <a:xfrm>
            <a:off x="4429728" y="2371407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37"/>
          <p:cNvSpPr/>
          <p:nvPr/>
        </p:nvSpPr>
        <p:spPr>
          <a:xfrm>
            <a:off x="5445728" y="2371407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38"/>
          <p:cNvSpPr/>
          <p:nvPr/>
        </p:nvSpPr>
        <p:spPr>
          <a:xfrm>
            <a:off x="431800" y="2660809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39"/>
          <p:cNvSpPr/>
          <p:nvPr/>
        </p:nvSpPr>
        <p:spPr>
          <a:xfrm>
            <a:off x="1193800" y="2660809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40"/>
          <p:cNvSpPr/>
          <p:nvPr/>
        </p:nvSpPr>
        <p:spPr>
          <a:xfrm>
            <a:off x="3413728" y="2660809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41"/>
          <p:cNvSpPr/>
          <p:nvPr/>
        </p:nvSpPr>
        <p:spPr>
          <a:xfrm>
            <a:off x="4429728" y="2660809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42"/>
          <p:cNvSpPr/>
          <p:nvPr/>
        </p:nvSpPr>
        <p:spPr>
          <a:xfrm>
            <a:off x="5445728" y="2660809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43"/>
          <p:cNvSpPr/>
          <p:nvPr/>
        </p:nvSpPr>
        <p:spPr>
          <a:xfrm>
            <a:off x="431800" y="2950210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44"/>
          <p:cNvSpPr/>
          <p:nvPr/>
        </p:nvSpPr>
        <p:spPr>
          <a:xfrm>
            <a:off x="1193800" y="2950210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45"/>
          <p:cNvSpPr/>
          <p:nvPr/>
        </p:nvSpPr>
        <p:spPr>
          <a:xfrm>
            <a:off x="3413728" y="2950210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46"/>
          <p:cNvSpPr/>
          <p:nvPr/>
        </p:nvSpPr>
        <p:spPr>
          <a:xfrm>
            <a:off x="4429728" y="2950210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47"/>
          <p:cNvSpPr/>
          <p:nvPr/>
        </p:nvSpPr>
        <p:spPr>
          <a:xfrm>
            <a:off x="5445728" y="2950210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48"/>
          <p:cNvSpPr/>
          <p:nvPr/>
        </p:nvSpPr>
        <p:spPr>
          <a:xfrm>
            <a:off x="431800" y="3239611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49"/>
          <p:cNvSpPr/>
          <p:nvPr/>
        </p:nvSpPr>
        <p:spPr>
          <a:xfrm>
            <a:off x="1193800" y="3239611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0"/>
          <p:cNvSpPr/>
          <p:nvPr/>
        </p:nvSpPr>
        <p:spPr>
          <a:xfrm>
            <a:off x="3413728" y="323961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1"/>
          <p:cNvSpPr/>
          <p:nvPr/>
        </p:nvSpPr>
        <p:spPr>
          <a:xfrm>
            <a:off x="4429728" y="323961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2"/>
          <p:cNvSpPr/>
          <p:nvPr/>
        </p:nvSpPr>
        <p:spPr>
          <a:xfrm>
            <a:off x="5445728" y="323961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3"/>
          <p:cNvSpPr/>
          <p:nvPr/>
        </p:nvSpPr>
        <p:spPr>
          <a:xfrm>
            <a:off x="431800" y="3529012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4"/>
          <p:cNvSpPr/>
          <p:nvPr/>
        </p:nvSpPr>
        <p:spPr>
          <a:xfrm>
            <a:off x="1193800" y="3529012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5"/>
          <p:cNvSpPr/>
          <p:nvPr/>
        </p:nvSpPr>
        <p:spPr>
          <a:xfrm>
            <a:off x="3413728" y="3529012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6"/>
          <p:cNvSpPr/>
          <p:nvPr/>
        </p:nvSpPr>
        <p:spPr>
          <a:xfrm>
            <a:off x="4429728" y="3529012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7"/>
          <p:cNvSpPr/>
          <p:nvPr/>
        </p:nvSpPr>
        <p:spPr>
          <a:xfrm>
            <a:off x="5445728" y="3529012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8"/>
          <p:cNvSpPr/>
          <p:nvPr/>
        </p:nvSpPr>
        <p:spPr>
          <a:xfrm>
            <a:off x="431800" y="3818414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9"/>
          <p:cNvSpPr/>
          <p:nvPr/>
        </p:nvSpPr>
        <p:spPr>
          <a:xfrm>
            <a:off x="1193800" y="3818414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0"/>
          <p:cNvSpPr/>
          <p:nvPr/>
        </p:nvSpPr>
        <p:spPr>
          <a:xfrm>
            <a:off x="3413728" y="3818414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1"/>
          <p:cNvSpPr/>
          <p:nvPr/>
        </p:nvSpPr>
        <p:spPr>
          <a:xfrm>
            <a:off x="4429728" y="3818414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2"/>
          <p:cNvSpPr/>
          <p:nvPr/>
        </p:nvSpPr>
        <p:spPr>
          <a:xfrm>
            <a:off x="5445728" y="3818414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3"/>
          <p:cNvSpPr/>
          <p:nvPr/>
        </p:nvSpPr>
        <p:spPr>
          <a:xfrm>
            <a:off x="431800" y="4107815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4"/>
          <p:cNvSpPr/>
          <p:nvPr/>
        </p:nvSpPr>
        <p:spPr>
          <a:xfrm>
            <a:off x="1193800" y="4107815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5"/>
          <p:cNvSpPr/>
          <p:nvPr/>
        </p:nvSpPr>
        <p:spPr>
          <a:xfrm>
            <a:off x="3413728" y="4107815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6"/>
          <p:cNvSpPr/>
          <p:nvPr/>
        </p:nvSpPr>
        <p:spPr>
          <a:xfrm>
            <a:off x="4429728" y="4107815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7"/>
          <p:cNvSpPr/>
          <p:nvPr/>
        </p:nvSpPr>
        <p:spPr>
          <a:xfrm>
            <a:off x="5445728" y="4107815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8"/>
          <p:cNvSpPr/>
          <p:nvPr/>
        </p:nvSpPr>
        <p:spPr>
          <a:xfrm>
            <a:off x="431800" y="4397216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9"/>
          <p:cNvSpPr/>
          <p:nvPr/>
        </p:nvSpPr>
        <p:spPr>
          <a:xfrm>
            <a:off x="1193800" y="4397216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0"/>
          <p:cNvSpPr/>
          <p:nvPr/>
        </p:nvSpPr>
        <p:spPr>
          <a:xfrm>
            <a:off x="3413728" y="4397216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1"/>
          <p:cNvSpPr/>
          <p:nvPr/>
        </p:nvSpPr>
        <p:spPr>
          <a:xfrm>
            <a:off x="4429728" y="4397216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2"/>
          <p:cNvSpPr/>
          <p:nvPr/>
        </p:nvSpPr>
        <p:spPr>
          <a:xfrm>
            <a:off x="5445728" y="4397216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3"/>
          <p:cNvSpPr/>
          <p:nvPr/>
        </p:nvSpPr>
        <p:spPr>
          <a:xfrm>
            <a:off x="431800" y="4686617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4"/>
          <p:cNvSpPr/>
          <p:nvPr/>
        </p:nvSpPr>
        <p:spPr>
          <a:xfrm>
            <a:off x="1193800" y="4686617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5"/>
          <p:cNvSpPr/>
          <p:nvPr/>
        </p:nvSpPr>
        <p:spPr>
          <a:xfrm>
            <a:off x="3413728" y="4686617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6"/>
          <p:cNvSpPr/>
          <p:nvPr/>
        </p:nvSpPr>
        <p:spPr>
          <a:xfrm>
            <a:off x="4429728" y="4686617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7"/>
          <p:cNvSpPr/>
          <p:nvPr/>
        </p:nvSpPr>
        <p:spPr>
          <a:xfrm>
            <a:off x="5445728" y="4686617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8"/>
          <p:cNvSpPr/>
          <p:nvPr/>
        </p:nvSpPr>
        <p:spPr>
          <a:xfrm>
            <a:off x="431800" y="4976019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9"/>
          <p:cNvSpPr/>
          <p:nvPr/>
        </p:nvSpPr>
        <p:spPr>
          <a:xfrm>
            <a:off x="1193800" y="4976019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80"/>
          <p:cNvSpPr/>
          <p:nvPr/>
        </p:nvSpPr>
        <p:spPr>
          <a:xfrm>
            <a:off x="3413728" y="4976019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81"/>
          <p:cNvSpPr/>
          <p:nvPr/>
        </p:nvSpPr>
        <p:spPr>
          <a:xfrm>
            <a:off x="4429728" y="4976019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82"/>
          <p:cNvSpPr/>
          <p:nvPr/>
        </p:nvSpPr>
        <p:spPr>
          <a:xfrm>
            <a:off x="5445728" y="4976019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83"/>
          <p:cNvSpPr/>
          <p:nvPr/>
        </p:nvSpPr>
        <p:spPr>
          <a:xfrm>
            <a:off x="431800" y="5265420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84"/>
          <p:cNvSpPr/>
          <p:nvPr/>
        </p:nvSpPr>
        <p:spPr>
          <a:xfrm>
            <a:off x="1193800" y="5265420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85"/>
          <p:cNvSpPr/>
          <p:nvPr/>
        </p:nvSpPr>
        <p:spPr>
          <a:xfrm>
            <a:off x="3413728" y="5265420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86"/>
          <p:cNvSpPr/>
          <p:nvPr/>
        </p:nvSpPr>
        <p:spPr>
          <a:xfrm>
            <a:off x="4429728" y="5265420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87"/>
          <p:cNvSpPr/>
          <p:nvPr/>
        </p:nvSpPr>
        <p:spPr>
          <a:xfrm>
            <a:off x="5445728" y="5265420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88"/>
          <p:cNvSpPr/>
          <p:nvPr/>
        </p:nvSpPr>
        <p:spPr>
          <a:xfrm>
            <a:off x="431800" y="5554821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89"/>
          <p:cNvSpPr/>
          <p:nvPr/>
        </p:nvSpPr>
        <p:spPr>
          <a:xfrm>
            <a:off x="1193800" y="5554821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90"/>
          <p:cNvSpPr/>
          <p:nvPr/>
        </p:nvSpPr>
        <p:spPr>
          <a:xfrm>
            <a:off x="3413728" y="555482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91"/>
          <p:cNvSpPr/>
          <p:nvPr/>
        </p:nvSpPr>
        <p:spPr>
          <a:xfrm>
            <a:off x="4429728" y="555482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92"/>
          <p:cNvSpPr/>
          <p:nvPr/>
        </p:nvSpPr>
        <p:spPr>
          <a:xfrm>
            <a:off x="5445728" y="555482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93"/>
          <p:cNvSpPr/>
          <p:nvPr/>
        </p:nvSpPr>
        <p:spPr>
          <a:xfrm>
            <a:off x="431800" y="5844222"/>
            <a:ext cx="762000" cy="320675"/>
          </a:xfrm>
          <a:prstGeom prst="rect">
            <a:avLst/>
          </a:prstGeom>
          <a:solidFill>
            <a:srgbClr val="305C68"/>
          </a:solidFill>
          <a:ln>
            <a:noFill/>
          </a:ln>
        </p:spPr>
      </p:sp>
      <p:sp>
        <p:nvSpPr>
          <p:cNvPr name="GraphCompose Table Cell Fill" id="94"/>
          <p:cNvSpPr/>
          <p:nvPr/>
        </p:nvSpPr>
        <p:spPr>
          <a:xfrm>
            <a:off x="1193800" y="5844222"/>
            <a:ext cx="2219928" cy="320675"/>
          </a:xfrm>
          <a:prstGeom prst="rect">
            <a:avLst/>
          </a:prstGeom>
          <a:solidFill>
            <a:srgbClr val="305C68"/>
          </a:solidFill>
          <a:ln>
            <a:noFill/>
          </a:ln>
        </p:spPr>
      </p:sp>
      <p:sp>
        <p:nvSpPr>
          <p:cNvPr name="GraphCompose Table Cell Fill" id="95"/>
          <p:cNvSpPr/>
          <p:nvPr/>
        </p:nvSpPr>
        <p:spPr>
          <a:xfrm>
            <a:off x="3413728" y="5844222"/>
            <a:ext cx="1016000" cy="320675"/>
          </a:xfrm>
          <a:prstGeom prst="rect">
            <a:avLst/>
          </a:prstGeom>
          <a:solidFill>
            <a:srgbClr val="305C68"/>
          </a:solidFill>
          <a:ln>
            <a:noFill/>
          </a:ln>
        </p:spPr>
      </p:sp>
      <p:sp>
        <p:nvSpPr>
          <p:cNvPr name="GraphCompose Table Cell Fill" id="96"/>
          <p:cNvSpPr/>
          <p:nvPr/>
        </p:nvSpPr>
        <p:spPr>
          <a:xfrm>
            <a:off x="4429728" y="5844222"/>
            <a:ext cx="1016000" cy="320675"/>
          </a:xfrm>
          <a:prstGeom prst="rect">
            <a:avLst/>
          </a:prstGeom>
          <a:solidFill>
            <a:srgbClr val="305C68"/>
          </a:solidFill>
          <a:ln>
            <a:noFill/>
          </a:ln>
        </p:spPr>
      </p:sp>
      <p:sp>
        <p:nvSpPr>
          <p:cNvPr name="GraphCompose Table Cell Fill" id="97"/>
          <p:cNvSpPr/>
          <p:nvPr/>
        </p:nvSpPr>
        <p:spPr>
          <a:xfrm>
            <a:off x="5445728" y="5844222"/>
            <a:ext cx="1016000" cy="320675"/>
          </a:xfrm>
          <a:prstGeom prst="rect">
            <a:avLst/>
          </a:prstGeom>
          <a:solidFill>
            <a:srgbClr val="305C68"/>
          </a:solidFill>
          <a:ln>
            <a:noFill/>
          </a:ln>
        </p:spPr>
      </p:sp>
      <p:cxnSp>
        <p:nvCxnSpPr>
          <p:cNvPr name="GraphCompose Table Cell Border" id="98"/>
          <p:cNvCxnSpPr/>
          <p:nvPr/>
        </p:nvCxnSpPr>
        <p:spPr>
          <a:xfrm>
            <a:off x="431800" y="609600"/>
            <a:ext cx="76454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99"/>
          <p:cNvCxnSpPr/>
          <p:nvPr/>
        </p:nvCxnSpPr>
        <p:spPr>
          <a:xfrm>
            <a:off x="431800" y="924401"/>
            <a:ext cx="76454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00"/>
          <p:cNvCxnSpPr/>
          <p:nvPr/>
        </p:nvCxnSpPr>
        <p:spPr>
          <a:xfrm>
            <a:off x="431800" y="609600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01"/>
          <p:cNvCxnSpPr/>
          <p:nvPr/>
        </p:nvCxnSpPr>
        <p:spPr>
          <a:xfrm>
            <a:off x="1193800" y="609600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102"/>
          <p:cNvSpPr txBox="true"/>
          <p:nvPr/>
        </p:nvSpPr>
        <p:spPr>
          <a:xfrm>
            <a:off x="546100" y="688605"/>
            <a:ext cx="30289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Code</a:t>
            </a:r>
            <a:endParaRPr lang="en-US" sz="1100"/>
          </a:p>
        </p:txBody>
      </p:sp>
      <p:cxnSp>
        <p:nvCxnSpPr>
          <p:cNvPr name="GraphCompose Table Cell Border" id="103"/>
          <p:cNvCxnSpPr/>
          <p:nvPr/>
        </p:nvCxnSpPr>
        <p:spPr>
          <a:xfrm>
            <a:off x="1191260" y="609600"/>
            <a:ext cx="2225008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04"/>
          <p:cNvCxnSpPr/>
          <p:nvPr/>
        </p:nvCxnSpPr>
        <p:spPr>
          <a:xfrm>
            <a:off x="1191260" y="924401"/>
            <a:ext cx="2225008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05"/>
          <p:cNvCxnSpPr/>
          <p:nvPr/>
        </p:nvCxnSpPr>
        <p:spPr>
          <a:xfrm>
            <a:off x="3413728" y="609600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106"/>
          <p:cNvSpPr txBox="true"/>
          <p:nvPr/>
        </p:nvSpPr>
        <p:spPr>
          <a:xfrm>
            <a:off x="1308100" y="688605"/>
            <a:ext cx="49074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Initiative</a:t>
            </a:r>
            <a:endParaRPr lang="en-US" sz="1100"/>
          </a:p>
        </p:txBody>
      </p:sp>
      <p:cxnSp>
        <p:nvCxnSpPr>
          <p:cNvPr name="GraphCompose Table Cell Border" id="107"/>
          <p:cNvCxnSpPr/>
          <p:nvPr/>
        </p:nvCxnSpPr>
        <p:spPr>
          <a:xfrm>
            <a:off x="3411188" y="609600"/>
            <a:ext cx="102108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08"/>
          <p:cNvCxnSpPr/>
          <p:nvPr/>
        </p:nvCxnSpPr>
        <p:spPr>
          <a:xfrm>
            <a:off x="3411188" y="924401"/>
            <a:ext cx="102108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09"/>
          <p:cNvCxnSpPr/>
          <p:nvPr/>
        </p:nvCxnSpPr>
        <p:spPr>
          <a:xfrm>
            <a:off x="4429728" y="609600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110"/>
          <p:cNvSpPr txBox="true"/>
          <p:nvPr/>
        </p:nvSpPr>
        <p:spPr>
          <a:xfrm>
            <a:off x="3528028" y="688605"/>
            <a:ext cx="34982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Hours</a:t>
            </a:r>
            <a:endParaRPr lang="en-US" sz="1100"/>
          </a:p>
        </p:txBody>
      </p:sp>
      <p:cxnSp>
        <p:nvCxnSpPr>
          <p:cNvPr name="GraphCompose Table Cell Border" id="111"/>
          <p:cNvCxnSpPr/>
          <p:nvPr/>
        </p:nvCxnSpPr>
        <p:spPr>
          <a:xfrm>
            <a:off x="4427188" y="609600"/>
            <a:ext cx="102108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12"/>
          <p:cNvCxnSpPr/>
          <p:nvPr/>
        </p:nvCxnSpPr>
        <p:spPr>
          <a:xfrm>
            <a:off x="4427188" y="924401"/>
            <a:ext cx="102108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13"/>
          <p:cNvCxnSpPr/>
          <p:nvPr/>
        </p:nvCxnSpPr>
        <p:spPr>
          <a:xfrm>
            <a:off x="5445728" y="609600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114"/>
          <p:cNvSpPr txBox="true"/>
          <p:nvPr/>
        </p:nvSpPr>
        <p:spPr>
          <a:xfrm>
            <a:off x="4544028" y="688605"/>
            <a:ext cx="37673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Owner</a:t>
            </a:r>
            <a:endParaRPr lang="en-US" sz="1100"/>
          </a:p>
        </p:txBody>
      </p:sp>
      <p:cxnSp>
        <p:nvCxnSpPr>
          <p:cNvPr name="GraphCompose Table Cell Border" id="115"/>
          <p:cNvCxnSpPr/>
          <p:nvPr/>
        </p:nvCxnSpPr>
        <p:spPr>
          <a:xfrm>
            <a:off x="5443188" y="609600"/>
            <a:ext cx="101854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16"/>
          <p:cNvCxnSpPr/>
          <p:nvPr/>
        </p:nvCxnSpPr>
        <p:spPr>
          <a:xfrm>
            <a:off x="5443188" y="924401"/>
            <a:ext cx="101854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17"/>
          <p:cNvCxnSpPr/>
          <p:nvPr/>
        </p:nvCxnSpPr>
        <p:spPr>
          <a:xfrm>
            <a:off x="6461728" y="609600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118"/>
          <p:cNvSpPr txBox="true"/>
          <p:nvPr/>
        </p:nvSpPr>
        <p:spPr>
          <a:xfrm>
            <a:off x="5560028" y="688605"/>
            <a:ext cx="45696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Amount</a:t>
            </a:r>
            <a:endParaRPr lang="en-US" sz="1100"/>
          </a:p>
        </p:txBody>
      </p:sp>
      <p:cxnSp>
        <p:nvCxnSpPr>
          <p:cNvPr name="GraphCompose Table Cell Border" id="119"/>
          <p:cNvCxnSpPr/>
          <p:nvPr/>
        </p:nvCxnSpPr>
        <p:spPr>
          <a:xfrm>
            <a:off x="431800" y="1213802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20"/>
          <p:cNvCxnSpPr/>
          <p:nvPr/>
        </p:nvCxnSpPr>
        <p:spPr>
          <a:xfrm>
            <a:off x="431800" y="92440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21"/>
          <p:cNvCxnSpPr/>
          <p:nvPr/>
        </p:nvCxnSpPr>
        <p:spPr>
          <a:xfrm>
            <a:off x="1193800" y="92440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22"/>
          <p:cNvSpPr txBox="true"/>
          <p:nvPr/>
        </p:nvSpPr>
        <p:spPr>
          <a:xfrm>
            <a:off x="546100" y="990707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INV-107</a:t>
            </a:r>
            <a:endParaRPr lang="en-US" sz="1100"/>
          </a:p>
        </p:txBody>
      </p:sp>
      <p:cxnSp>
        <p:nvCxnSpPr>
          <p:cNvPr name="GraphCompose Table Cell Border" id="123"/>
          <p:cNvCxnSpPr/>
          <p:nvPr/>
        </p:nvCxnSpPr>
        <p:spPr>
          <a:xfrm>
            <a:off x="1191260" y="1213802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24"/>
          <p:cNvCxnSpPr/>
          <p:nvPr/>
        </p:nvCxnSpPr>
        <p:spPr>
          <a:xfrm>
            <a:off x="3413728" y="92440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25"/>
          <p:cNvSpPr txBox="true"/>
          <p:nvPr/>
        </p:nvSpPr>
        <p:spPr>
          <a:xfrm>
            <a:off x="1308100" y="990707"/>
            <a:ext cx="192551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8 — quarterly delivery slice</a:t>
            </a:r>
            <a:endParaRPr lang="en-US" sz="1100"/>
          </a:p>
        </p:txBody>
      </p:sp>
      <p:cxnSp>
        <p:nvCxnSpPr>
          <p:cNvPr name="GraphCompose Table Cell Border" id="126"/>
          <p:cNvCxnSpPr/>
          <p:nvPr/>
        </p:nvCxnSpPr>
        <p:spPr>
          <a:xfrm>
            <a:off x="3411188" y="1213802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27"/>
          <p:cNvCxnSpPr/>
          <p:nvPr/>
        </p:nvCxnSpPr>
        <p:spPr>
          <a:xfrm>
            <a:off x="4429728" y="92440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28"/>
          <p:cNvSpPr txBox="true"/>
          <p:nvPr/>
        </p:nvSpPr>
        <p:spPr>
          <a:xfrm>
            <a:off x="3528028" y="990707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61 h</a:t>
            </a:r>
            <a:endParaRPr lang="en-US" sz="1100"/>
          </a:p>
        </p:txBody>
      </p:sp>
      <p:cxnSp>
        <p:nvCxnSpPr>
          <p:cNvPr name="GraphCompose Table Cell Border" id="129"/>
          <p:cNvCxnSpPr/>
          <p:nvPr/>
        </p:nvCxnSpPr>
        <p:spPr>
          <a:xfrm>
            <a:off x="4427188" y="1213802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30"/>
          <p:cNvCxnSpPr/>
          <p:nvPr/>
        </p:nvCxnSpPr>
        <p:spPr>
          <a:xfrm>
            <a:off x="5445728" y="92440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31"/>
          <p:cNvSpPr txBox="true"/>
          <p:nvPr/>
        </p:nvSpPr>
        <p:spPr>
          <a:xfrm>
            <a:off x="4544028" y="990707"/>
            <a:ext cx="27623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Audit</a:t>
            </a:r>
            <a:endParaRPr lang="en-US" sz="1100"/>
          </a:p>
        </p:txBody>
      </p:sp>
      <p:cxnSp>
        <p:nvCxnSpPr>
          <p:cNvPr name="GraphCompose Table Cell Border" id="132"/>
          <p:cNvCxnSpPr/>
          <p:nvPr/>
        </p:nvCxnSpPr>
        <p:spPr>
          <a:xfrm>
            <a:off x="5443188" y="1213802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33"/>
          <p:cNvCxnSpPr/>
          <p:nvPr/>
        </p:nvCxnSpPr>
        <p:spPr>
          <a:xfrm>
            <a:off x="6461728" y="92440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34"/>
          <p:cNvSpPr txBox="true"/>
          <p:nvPr/>
        </p:nvSpPr>
        <p:spPr>
          <a:xfrm>
            <a:off x="5560028" y="990707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£ 3,305</a:t>
            </a:r>
            <a:endParaRPr lang="en-US" sz="1100"/>
          </a:p>
        </p:txBody>
      </p:sp>
      <p:cxnSp>
        <p:nvCxnSpPr>
          <p:cNvPr name="GraphCompose Table Cell Border" id="135"/>
          <p:cNvCxnSpPr/>
          <p:nvPr/>
        </p:nvCxnSpPr>
        <p:spPr>
          <a:xfrm>
            <a:off x="431800" y="1503204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36"/>
          <p:cNvCxnSpPr/>
          <p:nvPr/>
        </p:nvCxnSpPr>
        <p:spPr>
          <a:xfrm>
            <a:off x="431800" y="121380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37"/>
          <p:cNvCxnSpPr/>
          <p:nvPr/>
        </p:nvCxnSpPr>
        <p:spPr>
          <a:xfrm>
            <a:off x="1193800" y="121380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38"/>
          <p:cNvSpPr txBox="true"/>
          <p:nvPr/>
        </p:nvSpPr>
        <p:spPr>
          <a:xfrm>
            <a:off x="546100" y="1280108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INV-108</a:t>
            </a:r>
            <a:endParaRPr lang="en-US" sz="1100"/>
          </a:p>
        </p:txBody>
      </p:sp>
      <p:cxnSp>
        <p:nvCxnSpPr>
          <p:cNvPr name="GraphCompose Table Cell Border" id="139"/>
          <p:cNvCxnSpPr/>
          <p:nvPr/>
        </p:nvCxnSpPr>
        <p:spPr>
          <a:xfrm>
            <a:off x="1191260" y="1503204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40"/>
          <p:cNvCxnSpPr/>
          <p:nvPr/>
        </p:nvCxnSpPr>
        <p:spPr>
          <a:xfrm>
            <a:off x="3413728" y="121380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41"/>
          <p:cNvSpPr txBox="true"/>
          <p:nvPr/>
        </p:nvSpPr>
        <p:spPr>
          <a:xfrm>
            <a:off x="1308100" y="1280108"/>
            <a:ext cx="192551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9 — quarterly delivery slice</a:t>
            </a:r>
            <a:endParaRPr lang="en-US" sz="1100"/>
          </a:p>
        </p:txBody>
      </p:sp>
      <p:cxnSp>
        <p:nvCxnSpPr>
          <p:cNvPr name="GraphCompose Table Cell Border" id="142"/>
          <p:cNvCxnSpPr/>
          <p:nvPr/>
        </p:nvCxnSpPr>
        <p:spPr>
          <a:xfrm>
            <a:off x="3411188" y="1503204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43"/>
          <p:cNvCxnSpPr/>
          <p:nvPr/>
        </p:nvCxnSpPr>
        <p:spPr>
          <a:xfrm>
            <a:off x="4429728" y="121380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44"/>
          <p:cNvSpPr txBox="true"/>
          <p:nvPr/>
        </p:nvSpPr>
        <p:spPr>
          <a:xfrm>
            <a:off x="3528028" y="1280108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64 h</a:t>
            </a:r>
            <a:endParaRPr lang="en-US" sz="1100"/>
          </a:p>
        </p:txBody>
      </p:sp>
      <p:cxnSp>
        <p:nvCxnSpPr>
          <p:cNvPr name="GraphCompose Table Cell Border" id="145"/>
          <p:cNvCxnSpPr/>
          <p:nvPr/>
        </p:nvCxnSpPr>
        <p:spPr>
          <a:xfrm>
            <a:off x="4427188" y="1503204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46"/>
          <p:cNvCxnSpPr/>
          <p:nvPr/>
        </p:nvCxnSpPr>
        <p:spPr>
          <a:xfrm>
            <a:off x="5445728" y="121380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47"/>
          <p:cNvSpPr txBox="true"/>
          <p:nvPr/>
        </p:nvSpPr>
        <p:spPr>
          <a:xfrm>
            <a:off x="4544028" y="1280108"/>
            <a:ext cx="2694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Build</a:t>
            </a:r>
            <a:endParaRPr lang="en-US" sz="1100"/>
          </a:p>
        </p:txBody>
      </p:sp>
      <p:cxnSp>
        <p:nvCxnSpPr>
          <p:cNvPr name="GraphCompose Table Cell Border" id="148"/>
          <p:cNvCxnSpPr/>
          <p:nvPr/>
        </p:nvCxnSpPr>
        <p:spPr>
          <a:xfrm>
            <a:off x="5443188" y="1503204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49"/>
          <p:cNvCxnSpPr/>
          <p:nvPr/>
        </p:nvCxnSpPr>
        <p:spPr>
          <a:xfrm>
            <a:off x="6461728" y="121380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50"/>
          <p:cNvSpPr txBox="true"/>
          <p:nvPr/>
        </p:nvSpPr>
        <p:spPr>
          <a:xfrm>
            <a:off x="5560028" y="1280108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£ 3,520</a:t>
            </a:r>
            <a:endParaRPr lang="en-US" sz="1100"/>
          </a:p>
        </p:txBody>
      </p:sp>
      <p:cxnSp>
        <p:nvCxnSpPr>
          <p:cNvPr name="GraphCompose Table Cell Border" id="151"/>
          <p:cNvCxnSpPr/>
          <p:nvPr/>
        </p:nvCxnSpPr>
        <p:spPr>
          <a:xfrm>
            <a:off x="431800" y="1792605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52"/>
          <p:cNvCxnSpPr/>
          <p:nvPr/>
        </p:nvCxnSpPr>
        <p:spPr>
          <a:xfrm>
            <a:off x="431800" y="150320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53"/>
          <p:cNvCxnSpPr/>
          <p:nvPr/>
        </p:nvCxnSpPr>
        <p:spPr>
          <a:xfrm>
            <a:off x="1193800" y="150320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54"/>
          <p:cNvSpPr txBox="true"/>
          <p:nvPr/>
        </p:nvSpPr>
        <p:spPr>
          <a:xfrm>
            <a:off x="546100" y="1569509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INV-109</a:t>
            </a:r>
            <a:endParaRPr lang="en-US" sz="1100"/>
          </a:p>
        </p:txBody>
      </p:sp>
      <p:cxnSp>
        <p:nvCxnSpPr>
          <p:cNvPr name="GraphCompose Table Cell Border" id="155"/>
          <p:cNvCxnSpPr/>
          <p:nvPr/>
        </p:nvCxnSpPr>
        <p:spPr>
          <a:xfrm>
            <a:off x="1191260" y="1792605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56"/>
          <p:cNvCxnSpPr/>
          <p:nvPr/>
        </p:nvCxnSpPr>
        <p:spPr>
          <a:xfrm>
            <a:off x="3413728" y="150320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57"/>
          <p:cNvSpPr txBox="true"/>
          <p:nvPr/>
        </p:nvSpPr>
        <p:spPr>
          <a:xfrm>
            <a:off x="1308100" y="1569509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10 — quarterly delivery slice</a:t>
            </a:r>
            <a:endParaRPr lang="en-US" sz="1100"/>
          </a:p>
        </p:txBody>
      </p:sp>
      <p:cxnSp>
        <p:nvCxnSpPr>
          <p:cNvPr name="GraphCompose Table Cell Border" id="158"/>
          <p:cNvCxnSpPr/>
          <p:nvPr/>
        </p:nvCxnSpPr>
        <p:spPr>
          <a:xfrm>
            <a:off x="3411188" y="1792605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59"/>
          <p:cNvCxnSpPr/>
          <p:nvPr/>
        </p:nvCxnSpPr>
        <p:spPr>
          <a:xfrm>
            <a:off x="4429728" y="150320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60"/>
          <p:cNvSpPr txBox="true"/>
          <p:nvPr/>
        </p:nvSpPr>
        <p:spPr>
          <a:xfrm>
            <a:off x="3528028" y="1569509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67 h</a:t>
            </a:r>
            <a:endParaRPr lang="en-US" sz="1100"/>
          </a:p>
        </p:txBody>
      </p:sp>
      <p:cxnSp>
        <p:nvCxnSpPr>
          <p:cNvPr name="GraphCompose Table Cell Border" id="161"/>
          <p:cNvCxnSpPr/>
          <p:nvPr/>
        </p:nvCxnSpPr>
        <p:spPr>
          <a:xfrm>
            <a:off x="4427188" y="1792605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62"/>
          <p:cNvCxnSpPr/>
          <p:nvPr/>
        </p:nvCxnSpPr>
        <p:spPr>
          <a:xfrm>
            <a:off x="5445728" y="150320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63"/>
          <p:cNvSpPr txBox="true"/>
          <p:nvPr/>
        </p:nvSpPr>
        <p:spPr>
          <a:xfrm>
            <a:off x="4544028" y="1569509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Studio</a:t>
            </a:r>
            <a:endParaRPr lang="en-US" sz="1100"/>
          </a:p>
        </p:txBody>
      </p:sp>
      <p:cxnSp>
        <p:nvCxnSpPr>
          <p:cNvPr name="GraphCompose Table Cell Border" id="164"/>
          <p:cNvCxnSpPr/>
          <p:nvPr/>
        </p:nvCxnSpPr>
        <p:spPr>
          <a:xfrm>
            <a:off x="5443188" y="1792605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65"/>
          <p:cNvCxnSpPr/>
          <p:nvPr/>
        </p:nvCxnSpPr>
        <p:spPr>
          <a:xfrm>
            <a:off x="6461728" y="150320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66"/>
          <p:cNvSpPr txBox="true"/>
          <p:nvPr/>
        </p:nvSpPr>
        <p:spPr>
          <a:xfrm>
            <a:off x="5560028" y="1569509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£ 3,735</a:t>
            </a:r>
            <a:endParaRPr lang="en-US" sz="1100"/>
          </a:p>
        </p:txBody>
      </p:sp>
      <p:cxnSp>
        <p:nvCxnSpPr>
          <p:cNvPr name="GraphCompose Table Cell Border" id="167"/>
          <p:cNvCxnSpPr/>
          <p:nvPr/>
        </p:nvCxnSpPr>
        <p:spPr>
          <a:xfrm>
            <a:off x="431800" y="2082006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68"/>
          <p:cNvCxnSpPr/>
          <p:nvPr/>
        </p:nvCxnSpPr>
        <p:spPr>
          <a:xfrm>
            <a:off x="431800" y="179260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69"/>
          <p:cNvCxnSpPr/>
          <p:nvPr/>
        </p:nvCxnSpPr>
        <p:spPr>
          <a:xfrm>
            <a:off x="1193800" y="179260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70"/>
          <p:cNvSpPr txBox="true"/>
          <p:nvPr/>
        </p:nvSpPr>
        <p:spPr>
          <a:xfrm>
            <a:off x="546100" y="1858910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INV-110</a:t>
            </a:r>
            <a:endParaRPr lang="en-US" sz="1100"/>
          </a:p>
        </p:txBody>
      </p:sp>
      <p:cxnSp>
        <p:nvCxnSpPr>
          <p:cNvPr name="GraphCompose Table Cell Border" id="171"/>
          <p:cNvCxnSpPr/>
          <p:nvPr/>
        </p:nvCxnSpPr>
        <p:spPr>
          <a:xfrm>
            <a:off x="1191260" y="2082006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72"/>
          <p:cNvCxnSpPr/>
          <p:nvPr/>
        </p:nvCxnSpPr>
        <p:spPr>
          <a:xfrm>
            <a:off x="3413728" y="179260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73"/>
          <p:cNvSpPr txBox="true"/>
          <p:nvPr/>
        </p:nvSpPr>
        <p:spPr>
          <a:xfrm>
            <a:off x="1308100" y="1858910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11 — quarterly delivery slice</a:t>
            </a:r>
            <a:endParaRPr lang="en-US" sz="1100"/>
          </a:p>
        </p:txBody>
      </p:sp>
      <p:cxnSp>
        <p:nvCxnSpPr>
          <p:cNvPr name="GraphCompose Table Cell Border" id="174"/>
          <p:cNvCxnSpPr/>
          <p:nvPr/>
        </p:nvCxnSpPr>
        <p:spPr>
          <a:xfrm>
            <a:off x="3411188" y="2082006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75"/>
          <p:cNvCxnSpPr/>
          <p:nvPr/>
        </p:nvCxnSpPr>
        <p:spPr>
          <a:xfrm>
            <a:off x="4429728" y="179260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76"/>
          <p:cNvSpPr txBox="true"/>
          <p:nvPr/>
        </p:nvSpPr>
        <p:spPr>
          <a:xfrm>
            <a:off x="3528028" y="1858910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70 h</a:t>
            </a:r>
            <a:endParaRPr lang="en-US" sz="1100"/>
          </a:p>
        </p:txBody>
      </p:sp>
      <p:cxnSp>
        <p:nvCxnSpPr>
          <p:cNvPr name="GraphCompose Table Cell Border" id="177"/>
          <p:cNvCxnSpPr/>
          <p:nvPr/>
        </p:nvCxnSpPr>
        <p:spPr>
          <a:xfrm>
            <a:off x="4427188" y="2082006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78"/>
          <p:cNvCxnSpPr/>
          <p:nvPr/>
        </p:nvCxnSpPr>
        <p:spPr>
          <a:xfrm>
            <a:off x="5445728" y="179260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79"/>
          <p:cNvSpPr txBox="true"/>
          <p:nvPr/>
        </p:nvSpPr>
        <p:spPr>
          <a:xfrm>
            <a:off x="4544028" y="1858910"/>
            <a:ext cx="27623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Audit</a:t>
            </a:r>
            <a:endParaRPr lang="en-US" sz="1100"/>
          </a:p>
        </p:txBody>
      </p:sp>
      <p:cxnSp>
        <p:nvCxnSpPr>
          <p:cNvPr name="GraphCompose Table Cell Border" id="180"/>
          <p:cNvCxnSpPr/>
          <p:nvPr/>
        </p:nvCxnSpPr>
        <p:spPr>
          <a:xfrm>
            <a:off x="5443188" y="2082006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81"/>
          <p:cNvCxnSpPr/>
          <p:nvPr/>
        </p:nvCxnSpPr>
        <p:spPr>
          <a:xfrm>
            <a:off x="6461728" y="179260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82"/>
          <p:cNvSpPr txBox="true"/>
          <p:nvPr/>
        </p:nvSpPr>
        <p:spPr>
          <a:xfrm>
            <a:off x="5560028" y="1858910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£ 3,950</a:t>
            </a:r>
            <a:endParaRPr lang="en-US" sz="1100"/>
          </a:p>
        </p:txBody>
      </p:sp>
      <p:cxnSp>
        <p:nvCxnSpPr>
          <p:cNvPr name="GraphCompose Table Cell Border" id="183"/>
          <p:cNvCxnSpPr/>
          <p:nvPr/>
        </p:nvCxnSpPr>
        <p:spPr>
          <a:xfrm>
            <a:off x="431800" y="2371407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84"/>
          <p:cNvCxnSpPr/>
          <p:nvPr/>
        </p:nvCxnSpPr>
        <p:spPr>
          <a:xfrm>
            <a:off x="431800" y="208200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85"/>
          <p:cNvCxnSpPr/>
          <p:nvPr/>
        </p:nvCxnSpPr>
        <p:spPr>
          <a:xfrm>
            <a:off x="1193800" y="208200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86"/>
          <p:cNvSpPr txBox="true"/>
          <p:nvPr/>
        </p:nvSpPr>
        <p:spPr>
          <a:xfrm>
            <a:off x="546100" y="2148312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INV-111</a:t>
            </a:r>
            <a:endParaRPr lang="en-US" sz="1100"/>
          </a:p>
        </p:txBody>
      </p:sp>
      <p:cxnSp>
        <p:nvCxnSpPr>
          <p:cNvPr name="GraphCompose Table Cell Border" id="187"/>
          <p:cNvCxnSpPr/>
          <p:nvPr/>
        </p:nvCxnSpPr>
        <p:spPr>
          <a:xfrm>
            <a:off x="1191260" y="2371407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88"/>
          <p:cNvCxnSpPr/>
          <p:nvPr/>
        </p:nvCxnSpPr>
        <p:spPr>
          <a:xfrm>
            <a:off x="3413728" y="208200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89"/>
          <p:cNvSpPr txBox="true"/>
          <p:nvPr/>
        </p:nvSpPr>
        <p:spPr>
          <a:xfrm>
            <a:off x="1308100" y="2148312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12 — quarterly delivery slice</a:t>
            </a:r>
            <a:endParaRPr lang="en-US" sz="1100"/>
          </a:p>
        </p:txBody>
      </p:sp>
      <p:cxnSp>
        <p:nvCxnSpPr>
          <p:cNvPr name="GraphCompose Table Cell Border" id="190"/>
          <p:cNvCxnSpPr/>
          <p:nvPr/>
        </p:nvCxnSpPr>
        <p:spPr>
          <a:xfrm>
            <a:off x="3411188" y="2371407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91"/>
          <p:cNvCxnSpPr/>
          <p:nvPr/>
        </p:nvCxnSpPr>
        <p:spPr>
          <a:xfrm>
            <a:off x="4429728" y="208200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92"/>
          <p:cNvSpPr txBox="true"/>
          <p:nvPr/>
        </p:nvSpPr>
        <p:spPr>
          <a:xfrm>
            <a:off x="3528028" y="2148312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73 h</a:t>
            </a:r>
            <a:endParaRPr lang="en-US" sz="1100"/>
          </a:p>
        </p:txBody>
      </p:sp>
      <p:cxnSp>
        <p:nvCxnSpPr>
          <p:cNvPr name="GraphCompose Table Cell Border" id="193"/>
          <p:cNvCxnSpPr/>
          <p:nvPr/>
        </p:nvCxnSpPr>
        <p:spPr>
          <a:xfrm>
            <a:off x="4427188" y="2371407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94"/>
          <p:cNvCxnSpPr/>
          <p:nvPr/>
        </p:nvCxnSpPr>
        <p:spPr>
          <a:xfrm>
            <a:off x="5445728" y="208200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95"/>
          <p:cNvSpPr txBox="true"/>
          <p:nvPr/>
        </p:nvSpPr>
        <p:spPr>
          <a:xfrm>
            <a:off x="4544028" y="2148312"/>
            <a:ext cx="2694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Build</a:t>
            </a:r>
            <a:endParaRPr lang="en-US" sz="1100"/>
          </a:p>
        </p:txBody>
      </p:sp>
      <p:cxnSp>
        <p:nvCxnSpPr>
          <p:cNvPr name="GraphCompose Table Cell Border" id="196"/>
          <p:cNvCxnSpPr/>
          <p:nvPr/>
        </p:nvCxnSpPr>
        <p:spPr>
          <a:xfrm>
            <a:off x="5443188" y="2371407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97"/>
          <p:cNvCxnSpPr/>
          <p:nvPr/>
        </p:nvCxnSpPr>
        <p:spPr>
          <a:xfrm>
            <a:off x="6461728" y="208200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98"/>
          <p:cNvSpPr txBox="true"/>
          <p:nvPr/>
        </p:nvSpPr>
        <p:spPr>
          <a:xfrm>
            <a:off x="5560028" y="2148312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£ 4,165</a:t>
            </a:r>
            <a:endParaRPr lang="en-US" sz="1100"/>
          </a:p>
        </p:txBody>
      </p:sp>
      <p:cxnSp>
        <p:nvCxnSpPr>
          <p:cNvPr name="GraphCompose Table Cell Border" id="199"/>
          <p:cNvCxnSpPr/>
          <p:nvPr/>
        </p:nvCxnSpPr>
        <p:spPr>
          <a:xfrm>
            <a:off x="431800" y="2660809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00"/>
          <p:cNvCxnSpPr/>
          <p:nvPr/>
        </p:nvCxnSpPr>
        <p:spPr>
          <a:xfrm>
            <a:off x="431800" y="237140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01"/>
          <p:cNvCxnSpPr/>
          <p:nvPr/>
        </p:nvCxnSpPr>
        <p:spPr>
          <a:xfrm>
            <a:off x="1193800" y="237140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02"/>
          <p:cNvSpPr txBox="true"/>
          <p:nvPr/>
        </p:nvSpPr>
        <p:spPr>
          <a:xfrm>
            <a:off x="546100" y="2437713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INV-112</a:t>
            </a:r>
            <a:endParaRPr lang="en-US" sz="1100"/>
          </a:p>
        </p:txBody>
      </p:sp>
      <p:cxnSp>
        <p:nvCxnSpPr>
          <p:cNvPr name="GraphCompose Table Cell Border" id="203"/>
          <p:cNvCxnSpPr/>
          <p:nvPr/>
        </p:nvCxnSpPr>
        <p:spPr>
          <a:xfrm>
            <a:off x="1191260" y="2660809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04"/>
          <p:cNvCxnSpPr/>
          <p:nvPr/>
        </p:nvCxnSpPr>
        <p:spPr>
          <a:xfrm>
            <a:off x="3413728" y="237140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05"/>
          <p:cNvSpPr txBox="true"/>
          <p:nvPr/>
        </p:nvSpPr>
        <p:spPr>
          <a:xfrm>
            <a:off x="1308100" y="2437713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13 — quarterly delivery slice</a:t>
            </a:r>
            <a:endParaRPr lang="en-US" sz="1100"/>
          </a:p>
        </p:txBody>
      </p:sp>
      <p:cxnSp>
        <p:nvCxnSpPr>
          <p:cNvPr name="GraphCompose Table Cell Border" id="206"/>
          <p:cNvCxnSpPr/>
          <p:nvPr/>
        </p:nvCxnSpPr>
        <p:spPr>
          <a:xfrm>
            <a:off x="3411188" y="2660809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07"/>
          <p:cNvCxnSpPr/>
          <p:nvPr/>
        </p:nvCxnSpPr>
        <p:spPr>
          <a:xfrm>
            <a:off x="4429728" y="237140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08"/>
          <p:cNvSpPr txBox="true"/>
          <p:nvPr/>
        </p:nvSpPr>
        <p:spPr>
          <a:xfrm>
            <a:off x="3528028" y="2437713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76 h</a:t>
            </a:r>
            <a:endParaRPr lang="en-US" sz="1100"/>
          </a:p>
        </p:txBody>
      </p:sp>
      <p:cxnSp>
        <p:nvCxnSpPr>
          <p:cNvPr name="GraphCompose Table Cell Border" id="209"/>
          <p:cNvCxnSpPr/>
          <p:nvPr/>
        </p:nvCxnSpPr>
        <p:spPr>
          <a:xfrm>
            <a:off x="4427188" y="2660809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10"/>
          <p:cNvCxnSpPr/>
          <p:nvPr/>
        </p:nvCxnSpPr>
        <p:spPr>
          <a:xfrm>
            <a:off x="5445728" y="237140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11"/>
          <p:cNvSpPr txBox="true"/>
          <p:nvPr/>
        </p:nvSpPr>
        <p:spPr>
          <a:xfrm>
            <a:off x="4544028" y="2437713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Studio</a:t>
            </a:r>
            <a:endParaRPr lang="en-US" sz="1100"/>
          </a:p>
        </p:txBody>
      </p:sp>
      <p:cxnSp>
        <p:nvCxnSpPr>
          <p:cNvPr name="GraphCompose Table Cell Border" id="212"/>
          <p:cNvCxnSpPr/>
          <p:nvPr/>
        </p:nvCxnSpPr>
        <p:spPr>
          <a:xfrm>
            <a:off x="5443188" y="2660809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13"/>
          <p:cNvCxnSpPr/>
          <p:nvPr/>
        </p:nvCxnSpPr>
        <p:spPr>
          <a:xfrm>
            <a:off x="6461728" y="237140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14"/>
          <p:cNvSpPr txBox="true"/>
          <p:nvPr/>
        </p:nvSpPr>
        <p:spPr>
          <a:xfrm>
            <a:off x="5560028" y="2437713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£ 4,380</a:t>
            </a:r>
            <a:endParaRPr lang="en-US" sz="1100"/>
          </a:p>
        </p:txBody>
      </p:sp>
      <p:cxnSp>
        <p:nvCxnSpPr>
          <p:cNvPr name="GraphCompose Table Cell Border" id="215"/>
          <p:cNvCxnSpPr/>
          <p:nvPr/>
        </p:nvCxnSpPr>
        <p:spPr>
          <a:xfrm>
            <a:off x="431800" y="2950210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16"/>
          <p:cNvCxnSpPr/>
          <p:nvPr/>
        </p:nvCxnSpPr>
        <p:spPr>
          <a:xfrm>
            <a:off x="431800" y="266080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17"/>
          <p:cNvCxnSpPr/>
          <p:nvPr/>
        </p:nvCxnSpPr>
        <p:spPr>
          <a:xfrm>
            <a:off x="1193800" y="266080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18"/>
          <p:cNvSpPr txBox="true"/>
          <p:nvPr/>
        </p:nvSpPr>
        <p:spPr>
          <a:xfrm>
            <a:off x="546100" y="2727114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INV-113</a:t>
            </a:r>
            <a:endParaRPr lang="en-US" sz="1100"/>
          </a:p>
        </p:txBody>
      </p:sp>
      <p:cxnSp>
        <p:nvCxnSpPr>
          <p:cNvPr name="GraphCompose Table Cell Border" id="219"/>
          <p:cNvCxnSpPr/>
          <p:nvPr/>
        </p:nvCxnSpPr>
        <p:spPr>
          <a:xfrm>
            <a:off x="1191260" y="2950210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20"/>
          <p:cNvCxnSpPr/>
          <p:nvPr/>
        </p:nvCxnSpPr>
        <p:spPr>
          <a:xfrm>
            <a:off x="3413728" y="266080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21"/>
          <p:cNvSpPr txBox="true"/>
          <p:nvPr/>
        </p:nvSpPr>
        <p:spPr>
          <a:xfrm>
            <a:off x="1308100" y="2727114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14 — quarterly delivery slice</a:t>
            </a:r>
            <a:endParaRPr lang="en-US" sz="1100"/>
          </a:p>
        </p:txBody>
      </p:sp>
      <p:cxnSp>
        <p:nvCxnSpPr>
          <p:cNvPr name="GraphCompose Table Cell Border" id="222"/>
          <p:cNvCxnSpPr/>
          <p:nvPr/>
        </p:nvCxnSpPr>
        <p:spPr>
          <a:xfrm>
            <a:off x="3411188" y="2950210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23"/>
          <p:cNvCxnSpPr/>
          <p:nvPr/>
        </p:nvCxnSpPr>
        <p:spPr>
          <a:xfrm>
            <a:off x="4429728" y="266080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24"/>
          <p:cNvSpPr txBox="true"/>
          <p:nvPr/>
        </p:nvSpPr>
        <p:spPr>
          <a:xfrm>
            <a:off x="3528028" y="2727114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79 h</a:t>
            </a:r>
            <a:endParaRPr lang="en-US" sz="1100"/>
          </a:p>
        </p:txBody>
      </p:sp>
      <p:cxnSp>
        <p:nvCxnSpPr>
          <p:cNvPr name="GraphCompose Table Cell Border" id="225"/>
          <p:cNvCxnSpPr/>
          <p:nvPr/>
        </p:nvCxnSpPr>
        <p:spPr>
          <a:xfrm>
            <a:off x="4427188" y="2950210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26"/>
          <p:cNvCxnSpPr/>
          <p:nvPr/>
        </p:nvCxnSpPr>
        <p:spPr>
          <a:xfrm>
            <a:off x="5445728" y="266080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27"/>
          <p:cNvSpPr txBox="true"/>
          <p:nvPr/>
        </p:nvSpPr>
        <p:spPr>
          <a:xfrm>
            <a:off x="4544028" y="2727114"/>
            <a:ext cx="27623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Audit</a:t>
            </a:r>
            <a:endParaRPr lang="en-US" sz="1100"/>
          </a:p>
        </p:txBody>
      </p:sp>
      <p:cxnSp>
        <p:nvCxnSpPr>
          <p:cNvPr name="GraphCompose Table Cell Border" id="228"/>
          <p:cNvCxnSpPr/>
          <p:nvPr/>
        </p:nvCxnSpPr>
        <p:spPr>
          <a:xfrm>
            <a:off x="5443188" y="2950210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29"/>
          <p:cNvCxnSpPr/>
          <p:nvPr/>
        </p:nvCxnSpPr>
        <p:spPr>
          <a:xfrm>
            <a:off x="6461728" y="266080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30"/>
          <p:cNvSpPr txBox="true"/>
          <p:nvPr/>
        </p:nvSpPr>
        <p:spPr>
          <a:xfrm>
            <a:off x="5560028" y="2727114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£ 4,595</a:t>
            </a:r>
            <a:endParaRPr lang="en-US" sz="1100"/>
          </a:p>
        </p:txBody>
      </p:sp>
      <p:cxnSp>
        <p:nvCxnSpPr>
          <p:cNvPr name="GraphCompose Table Cell Border" id="231"/>
          <p:cNvCxnSpPr/>
          <p:nvPr/>
        </p:nvCxnSpPr>
        <p:spPr>
          <a:xfrm>
            <a:off x="431800" y="3239611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32"/>
          <p:cNvCxnSpPr/>
          <p:nvPr/>
        </p:nvCxnSpPr>
        <p:spPr>
          <a:xfrm>
            <a:off x="431800" y="295021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33"/>
          <p:cNvCxnSpPr/>
          <p:nvPr/>
        </p:nvCxnSpPr>
        <p:spPr>
          <a:xfrm>
            <a:off x="1193800" y="295021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34"/>
          <p:cNvSpPr txBox="true"/>
          <p:nvPr/>
        </p:nvSpPr>
        <p:spPr>
          <a:xfrm>
            <a:off x="546100" y="3016515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INV-114</a:t>
            </a:r>
            <a:endParaRPr lang="en-US" sz="1100"/>
          </a:p>
        </p:txBody>
      </p:sp>
      <p:cxnSp>
        <p:nvCxnSpPr>
          <p:cNvPr name="GraphCompose Table Cell Border" id="235"/>
          <p:cNvCxnSpPr/>
          <p:nvPr/>
        </p:nvCxnSpPr>
        <p:spPr>
          <a:xfrm>
            <a:off x="1191260" y="3239611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36"/>
          <p:cNvCxnSpPr/>
          <p:nvPr/>
        </p:nvCxnSpPr>
        <p:spPr>
          <a:xfrm>
            <a:off x="3413728" y="295021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37"/>
          <p:cNvSpPr txBox="true"/>
          <p:nvPr/>
        </p:nvSpPr>
        <p:spPr>
          <a:xfrm>
            <a:off x="1308100" y="3016515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15 — quarterly delivery slice</a:t>
            </a:r>
            <a:endParaRPr lang="en-US" sz="1100"/>
          </a:p>
        </p:txBody>
      </p:sp>
      <p:cxnSp>
        <p:nvCxnSpPr>
          <p:cNvPr name="GraphCompose Table Cell Border" id="238"/>
          <p:cNvCxnSpPr/>
          <p:nvPr/>
        </p:nvCxnSpPr>
        <p:spPr>
          <a:xfrm>
            <a:off x="3411188" y="3239611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39"/>
          <p:cNvCxnSpPr/>
          <p:nvPr/>
        </p:nvCxnSpPr>
        <p:spPr>
          <a:xfrm>
            <a:off x="4429728" y="295021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40"/>
          <p:cNvSpPr txBox="true"/>
          <p:nvPr/>
        </p:nvSpPr>
        <p:spPr>
          <a:xfrm>
            <a:off x="3528028" y="3016515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82 h</a:t>
            </a:r>
            <a:endParaRPr lang="en-US" sz="1100"/>
          </a:p>
        </p:txBody>
      </p:sp>
      <p:cxnSp>
        <p:nvCxnSpPr>
          <p:cNvPr name="GraphCompose Table Cell Border" id="241"/>
          <p:cNvCxnSpPr/>
          <p:nvPr/>
        </p:nvCxnSpPr>
        <p:spPr>
          <a:xfrm>
            <a:off x="4427188" y="3239611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42"/>
          <p:cNvCxnSpPr/>
          <p:nvPr/>
        </p:nvCxnSpPr>
        <p:spPr>
          <a:xfrm>
            <a:off x="5445728" y="295021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43"/>
          <p:cNvSpPr txBox="true"/>
          <p:nvPr/>
        </p:nvSpPr>
        <p:spPr>
          <a:xfrm>
            <a:off x="4544028" y="3016515"/>
            <a:ext cx="2694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Build</a:t>
            </a:r>
            <a:endParaRPr lang="en-US" sz="1100"/>
          </a:p>
        </p:txBody>
      </p:sp>
      <p:cxnSp>
        <p:nvCxnSpPr>
          <p:cNvPr name="GraphCompose Table Cell Border" id="244"/>
          <p:cNvCxnSpPr/>
          <p:nvPr/>
        </p:nvCxnSpPr>
        <p:spPr>
          <a:xfrm>
            <a:off x="5443188" y="3239611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45"/>
          <p:cNvCxnSpPr/>
          <p:nvPr/>
        </p:nvCxnSpPr>
        <p:spPr>
          <a:xfrm>
            <a:off x="6461728" y="295021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46"/>
          <p:cNvSpPr txBox="true"/>
          <p:nvPr/>
        </p:nvSpPr>
        <p:spPr>
          <a:xfrm>
            <a:off x="5560028" y="3016515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£ 4,810</a:t>
            </a:r>
            <a:endParaRPr lang="en-US" sz="1100"/>
          </a:p>
        </p:txBody>
      </p:sp>
      <p:cxnSp>
        <p:nvCxnSpPr>
          <p:cNvPr name="GraphCompose Table Cell Border" id="247"/>
          <p:cNvCxnSpPr/>
          <p:nvPr/>
        </p:nvCxnSpPr>
        <p:spPr>
          <a:xfrm>
            <a:off x="431800" y="3529012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48"/>
          <p:cNvCxnSpPr/>
          <p:nvPr/>
        </p:nvCxnSpPr>
        <p:spPr>
          <a:xfrm>
            <a:off x="431800" y="323961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49"/>
          <p:cNvCxnSpPr/>
          <p:nvPr/>
        </p:nvCxnSpPr>
        <p:spPr>
          <a:xfrm>
            <a:off x="1193800" y="323961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50"/>
          <p:cNvSpPr txBox="true"/>
          <p:nvPr/>
        </p:nvSpPr>
        <p:spPr>
          <a:xfrm>
            <a:off x="546100" y="3305917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INV-115</a:t>
            </a:r>
            <a:endParaRPr lang="en-US" sz="1100"/>
          </a:p>
        </p:txBody>
      </p:sp>
      <p:cxnSp>
        <p:nvCxnSpPr>
          <p:cNvPr name="GraphCompose Table Cell Border" id="251"/>
          <p:cNvCxnSpPr/>
          <p:nvPr/>
        </p:nvCxnSpPr>
        <p:spPr>
          <a:xfrm>
            <a:off x="1191260" y="3529012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52"/>
          <p:cNvCxnSpPr/>
          <p:nvPr/>
        </p:nvCxnSpPr>
        <p:spPr>
          <a:xfrm>
            <a:off x="3413728" y="323961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53"/>
          <p:cNvSpPr txBox="true"/>
          <p:nvPr/>
        </p:nvSpPr>
        <p:spPr>
          <a:xfrm>
            <a:off x="1308100" y="3305917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16 — quarterly delivery slice</a:t>
            </a:r>
            <a:endParaRPr lang="en-US" sz="1100"/>
          </a:p>
        </p:txBody>
      </p:sp>
      <p:cxnSp>
        <p:nvCxnSpPr>
          <p:cNvPr name="GraphCompose Table Cell Border" id="254"/>
          <p:cNvCxnSpPr/>
          <p:nvPr/>
        </p:nvCxnSpPr>
        <p:spPr>
          <a:xfrm>
            <a:off x="3411188" y="3529012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55"/>
          <p:cNvCxnSpPr/>
          <p:nvPr/>
        </p:nvCxnSpPr>
        <p:spPr>
          <a:xfrm>
            <a:off x="4429728" y="323961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56"/>
          <p:cNvSpPr txBox="true"/>
          <p:nvPr/>
        </p:nvSpPr>
        <p:spPr>
          <a:xfrm>
            <a:off x="3528028" y="3305917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85 h</a:t>
            </a:r>
            <a:endParaRPr lang="en-US" sz="1100"/>
          </a:p>
        </p:txBody>
      </p:sp>
      <p:cxnSp>
        <p:nvCxnSpPr>
          <p:cNvPr name="GraphCompose Table Cell Border" id="257"/>
          <p:cNvCxnSpPr/>
          <p:nvPr/>
        </p:nvCxnSpPr>
        <p:spPr>
          <a:xfrm>
            <a:off x="4427188" y="3529012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58"/>
          <p:cNvCxnSpPr/>
          <p:nvPr/>
        </p:nvCxnSpPr>
        <p:spPr>
          <a:xfrm>
            <a:off x="5445728" y="323961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59"/>
          <p:cNvSpPr txBox="true"/>
          <p:nvPr/>
        </p:nvSpPr>
        <p:spPr>
          <a:xfrm>
            <a:off x="4544028" y="3305917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Studio</a:t>
            </a:r>
            <a:endParaRPr lang="en-US" sz="1100"/>
          </a:p>
        </p:txBody>
      </p:sp>
      <p:cxnSp>
        <p:nvCxnSpPr>
          <p:cNvPr name="GraphCompose Table Cell Border" id="260"/>
          <p:cNvCxnSpPr/>
          <p:nvPr/>
        </p:nvCxnSpPr>
        <p:spPr>
          <a:xfrm>
            <a:off x="5443188" y="3529012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61"/>
          <p:cNvCxnSpPr/>
          <p:nvPr/>
        </p:nvCxnSpPr>
        <p:spPr>
          <a:xfrm>
            <a:off x="6461728" y="323961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62"/>
          <p:cNvSpPr txBox="true"/>
          <p:nvPr/>
        </p:nvSpPr>
        <p:spPr>
          <a:xfrm>
            <a:off x="5560028" y="3305917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£ 5,025</a:t>
            </a:r>
            <a:endParaRPr lang="en-US" sz="1100"/>
          </a:p>
        </p:txBody>
      </p:sp>
      <p:cxnSp>
        <p:nvCxnSpPr>
          <p:cNvPr name="GraphCompose Table Cell Border" id="263"/>
          <p:cNvCxnSpPr/>
          <p:nvPr/>
        </p:nvCxnSpPr>
        <p:spPr>
          <a:xfrm>
            <a:off x="431800" y="3818414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64"/>
          <p:cNvCxnSpPr/>
          <p:nvPr/>
        </p:nvCxnSpPr>
        <p:spPr>
          <a:xfrm>
            <a:off x="431800" y="352901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65"/>
          <p:cNvCxnSpPr/>
          <p:nvPr/>
        </p:nvCxnSpPr>
        <p:spPr>
          <a:xfrm>
            <a:off x="1193800" y="352901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66"/>
          <p:cNvSpPr txBox="true"/>
          <p:nvPr/>
        </p:nvSpPr>
        <p:spPr>
          <a:xfrm>
            <a:off x="546100" y="3595318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INV-116</a:t>
            </a:r>
            <a:endParaRPr lang="en-US" sz="1100"/>
          </a:p>
        </p:txBody>
      </p:sp>
      <p:cxnSp>
        <p:nvCxnSpPr>
          <p:cNvPr name="GraphCompose Table Cell Border" id="267"/>
          <p:cNvCxnSpPr/>
          <p:nvPr/>
        </p:nvCxnSpPr>
        <p:spPr>
          <a:xfrm>
            <a:off x="1191260" y="3818414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68"/>
          <p:cNvCxnSpPr/>
          <p:nvPr/>
        </p:nvCxnSpPr>
        <p:spPr>
          <a:xfrm>
            <a:off x="3413728" y="352901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69"/>
          <p:cNvSpPr txBox="true"/>
          <p:nvPr/>
        </p:nvSpPr>
        <p:spPr>
          <a:xfrm>
            <a:off x="1308100" y="3595318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17 — quarterly delivery slice</a:t>
            </a:r>
            <a:endParaRPr lang="en-US" sz="1100"/>
          </a:p>
        </p:txBody>
      </p:sp>
      <p:cxnSp>
        <p:nvCxnSpPr>
          <p:cNvPr name="GraphCompose Table Cell Border" id="270"/>
          <p:cNvCxnSpPr/>
          <p:nvPr/>
        </p:nvCxnSpPr>
        <p:spPr>
          <a:xfrm>
            <a:off x="3411188" y="3818414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71"/>
          <p:cNvCxnSpPr/>
          <p:nvPr/>
        </p:nvCxnSpPr>
        <p:spPr>
          <a:xfrm>
            <a:off x="4429728" y="352901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72"/>
          <p:cNvSpPr txBox="true"/>
          <p:nvPr/>
        </p:nvSpPr>
        <p:spPr>
          <a:xfrm>
            <a:off x="3528028" y="3595318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88 h</a:t>
            </a:r>
            <a:endParaRPr lang="en-US" sz="1100"/>
          </a:p>
        </p:txBody>
      </p:sp>
      <p:cxnSp>
        <p:nvCxnSpPr>
          <p:cNvPr name="GraphCompose Table Cell Border" id="273"/>
          <p:cNvCxnSpPr/>
          <p:nvPr/>
        </p:nvCxnSpPr>
        <p:spPr>
          <a:xfrm>
            <a:off x="4427188" y="3818414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74"/>
          <p:cNvCxnSpPr/>
          <p:nvPr/>
        </p:nvCxnSpPr>
        <p:spPr>
          <a:xfrm>
            <a:off x="5445728" y="352901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75"/>
          <p:cNvSpPr txBox="true"/>
          <p:nvPr/>
        </p:nvSpPr>
        <p:spPr>
          <a:xfrm>
            <a:off x="4544028" y="3595318"/>
            <a:ext cx="27623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Audit</a:t>
            </a:r>
            <a:endParaRPr lang="en-US" sz="1100"/>
          </a:p>
        </p:txBody>
      </p:sp>
      <p:cxnSp>
        <p:nvCxnSpPr>
          <p:cNvPr name="GraphCompose Table Cell Border" id="276"/>
          <p:cNvCxnSpPr/>
          <p:nvPr/>
        </p:nvCxnSpPr>
        <p:spPr>
          <a:xfrm>
            <a:off x="5443188" y="3818414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77"/>
          <p:cNvCxnSpPr/>
          <p:nvPr/>
        </p:nvCxnSpPr>
        <p:spPr>
          <a:xfrm>
            <a:off x="6461728" y="352901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78"/>
          <p:cNvSpPr txBox="true"/>
          <p:nvPr/>
        </p:nvSpPr>
        <p:spPr>
          <a:xfrm>
            <a:off x="5560028" y="3595318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£ 5,240</a:t>
            </a:r>
            <a:endParaRPr lang="en-US" sz="1100"/>
          </a:p>
        </p:txBody>
      </p:sp>
      <p:cxnSp>
        <p:nvCxnSpPr>
          <p:cNvPr name="GraphCompose Table Cell Border" id="279"/>
          <p:cNvCxnSpPr/>
          <p:nvPr/>
        </p:nvCxnSpPr>
        <p:spPr>
          <a:xfrm>
            <a:off x="431800" y="4107815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80"/>
          <p:cNvCxnSpPr/>
          <p:nvPr/>
        </p:nvCxnSpPr>
        <p:spPr>
          <a:xfrm>
            <a:off x="431800" y="381841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81"/>
          <p:cNvCxnSpPr/>
          <p:nvPr/>
        </p:nvCxnSpPr>
        <p:spPr>
          <a:xfrm>
            <a:off x="1193800" y="381841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82"/>
          <p:cNvSpPr txBox="true"/>
          <p:nvPr/>
        </p:nvSpPr>
        <p:spPr>
          <a:xfrm>
            <a:off x="546100" y="3884719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INV-117</a:t>
            </a:r>
            <a:endParaRPr lang="en-US" sz="1100"/>
          </a:p>
        </p:txBody>
      </p:sp>
      <p:cxnSp>
        <p:nvCxnSpPr>
          <p:cNvPr name="GraphCompose Table Cell Border" id="283"/>
          <p:cNvCxnSpPr/>
          <p:nvPr/>
        </p:nvCxnSpPr>
        <p:spPr>
          <a:xfrm>
            <a:off x="1191260" y="4107815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84"/>
          <p:cNvCxnSpPr/>
          <p:nvPr/>
        </p:nvCxnSpPr>
        <p:spPr>
          <a:xfrm>
            <a:off x="3413728" y="381841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85"/>
          <p:cNvSpPr txBox="true"/>
          <p:nvPr/>
        </p:nvSpPr>
        <p:spPr>
          <a:xfrm>
            <a:off x="1308100" y="3884719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18 — quarterly delivery slice</a:t>
            </a:r>
            <a:endParaRPr lang="en-US" sz="1100"/>
          </a:p>
        </p:txBody>
      </p:sp>
      <p:cxnSp>
        <p:nvCxnSpPr>
          <p:cNvPr name="GraphCompose Table Cell Border" id="286"/>
          <p:cNvCxnSpPr/>
          <p:nvPr/>
        </p:nvCxnSpPr>
        <p:spPr>
          <a:xfrm>
            <a:off x="3411188" y="4107815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87"/>
          <p:cNvCxnSpPr/>
          <p:nvPr/>
        </p:nvCxnSpPr>
        <p:spPr>
          <a:xfrm>
            <a:off x="4429728" y="381841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88"/>
          <p:cNvSpPr txBox="true"/>
          <p:nvPr/>
        </p:nvSpPr>
        <p:spPr>
          <a:xfrm>
            <a:off x="3528028" y="3884719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91 h</a:t>
            </a:r>
            <a:endParaRPr lang="en-US" sz="1100"/>
          </a:p>
        </p:txBody>
      </p:sp>
      <p:cxnSp>
        <p:nvCxnSpPr>
          <p:cNvPr name="GraphCompose Table Cell Border" id="289"/>
          <p:cNvCxnSpPr/>
          <p:nvPr/>
        </p:nvCxnSpPr>
        <p:spPr>
          <a:xfrm>
            <a:off x="4427188" y="4107815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90"/>
          <p:cNvCxnSpPr/>
          <p:nvPr/>
        </p:nvCxnSpPr>
        <p:spPr>
          <a:xfrm>
            <a:off x="5445728" y="381841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91"/>
          <p:cNvSpPr txBox="true"/>
          <p:nvPr/>
        </p:nvSpPr>
        <p:spPr>
          <a:xfrm>
            <a:off x="4544028" y="3884719"/>
            <a:ext cx="2694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Build</a:t>
            </a:r>
            <a:endParaRPr lang="en-US" sz="1100"/>
          </a:p>
        </p:txBody>
      </p:sp>
      <p:cxnSp>
        <p:nvCxnSpPr>
          <p:cNvPr name="GraphCompose Table Cell Border" id="292"/>
          <p:cNvCxnSpPr/>
          <p:nvPr/>
        </p:nvCxnSpPr>
        <p:spPr>
          <a:xfrm>
            <a:off x="5443188" y="4107815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93"/>
          <p:cNvCxnSpPr/>
          <p:nvPr/>
        </p:nvCxnSpPr>
        <p:spPr>
          <a:xfrm>
            <a:off x="6461728" y="381841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94"/>
          <p:cNvSpPr txBox="true"/>
          <p:nvPr/>
        </p:nvSpPr>
        <p:spPr>
          <a:xfrm>
            <a:off x="5560028" y="3884719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£ 5,455</a:t>
            </a:r>
            <a:endParaRPr lang="en-US" sz="1100"/>
          </a:p>
        </p:txBody>
      </p:sp>
      <p:cxnSp>
        <p:nvCxnSpPr>
          <p:cNvPr name="GraphCompose Table Cell Border" id="295"/>
          <p:cNvCxnSpPr/>
          <p:nvPr/>
        </p:nvCxnSpPr>
        <p:spPr>
          <a:xfrm>
            <a:off x="431800" y="4397216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96"/>
          <p:cNvCxnSpPr/>
          <p:nvPr/>
        </p:nvCxnSpPr>
        <p:spPr>
          <a:xfrm>
            <a:off x="431800" y="410781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97"/>
          <p:cNvCxnSpPr/>
          <p:nvPr/>
        </p:nvCxnSpPr>
        <p:spPr>
          <a:xfrm>
            <a:off x="1193800" y="410781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98"/>
          <p:cNvSpPr txBox="true"/>
          <p:nvPr/>
        </p:nvSpPr>
        <p:spPr>
          <a:xfrm>
            <a:off x="546100" y="4174120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INV-118</a:t>
            </a:r>
            <a:endParaRPr lang="en-US" sz="1100"/>
          </a:p>
        </p:txBody>
      </p:sp>
      <p:cxnSp>
        <p:nvCxnSpPr>
          <p:cNvPr name="GraphCompose Table Cell Border" id="299"/>
          <p:cNvCxnSpPr/>
          <p:nvPr/>
        </p:nvCxnSpPr>
        <p:spPr>
          <a:xfrm>
            <a:off x="1191260" y="4397216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00"/>
          <p:cNvCxnSpPr/>
          <p:nvPr/>
        </p:nvCxnSpPr>
        <p:spPr>
          <a:xfrm>
            <a:off x="3413728" y="410781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01"/>
          <p:cNvSpPr txBox="true"/>
          <p:nvPr/>
        </p:nvSpPr>
        <p:spPr>
          <a:xfrm>
            <a:off x="1308100" y="4174120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19 — quarterly delivery slice</a:t>
            </a:r>
            <a:endParaRPr lang="en-US" sz="1100"/>
          </a:p>
        </p:txBody>
      </p:sp>
      <p:cxnSp>
        <p:nvCxnSpPr>
          <p:cNvPr name="GraphCompose Table Cell Border" id="302"/>
          <p:cNvCxnSpPr/>
          <p:nvPr/>
        </p:nvCxnSpPr>
        <p:spPr>
          <a:xfrm>
            <a:off x="3411188" y="4397216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03"/>
          <p:cNvCxnSpPr/>
          <p:nvPr/>
        </p:nvCxnSpPr>
        <p:spPr>
          <a:xfrm>
            <a:off x="4429728" y="410781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04"/>
          <p:cNvSpPr txBox="true"/>
          <p:nvPr/>
        </p:nvSpPr>
        <p:spPr>
          <a:xfrm>
            <a:off x="3528028" y="4174120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94 h</a:t>
            </a:r>
            <a:endParaRPr lang="en-US" sz="1100"/>
          </a:p>
        </p:txBody>
      </p:sp>
      <p:cxnSp>
        <p:nvCxnSpPr>
          <p:cNvPr name="GraphCompose Table Cell Border" id="305"/>
          <p:cNvCxnSpPr/>
          <p:nvPr/>
        </p:nvCxnSpPr>
        <p:spPr>
          <a:xfrm>
            <a:off x="4427188" y="4397216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06"/>
          <p:cNvCxnSpPr/>
          <p:nvPr/>
        </p:nvCxnSpPr>
        <p:spPr>
          <a:xfrm>
            <a:off x="5445728" y="410781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07"/>
          <p:cNvSpPr txBox="true"/>
          <p:nvPr/>
        </p:nvSpPr>
        <p:spPr>
          <a:xfrm>
            <a:off x="4544028" y="4174120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Studio</a:t>
            </a:r>
            <a:endParaRPr lang="en-US" sz="1100"/>
          </a:p>
        </p:txBody>
      </p:sp>
      <p:cxnSp>
        <p:nvCxnSpPr>
          <p:cNvPr name="GraphCompose Table Cell Border" id="308"/>
          <p:cNvCxnSpPr/>
          <p:nvPr/>
        </p:nvCxnSpPr>
        <p:spPr>
          <a:xfrm>
            <a:off x="5443188" y="4397216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09"/>
          <p:cNvCxnSpPr/>
          <p:nvPr/>
        </p:nvCxnSpPr>
        <p:spPr>
          <a:xfrm>
            <a:off x="6461728" y="410781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10"/>
          <p:cNvSpPr txBox="true"/>
          <p:nvPr/>
        </p:nvSpPr>
        <p:spPr>
          <a:xfrm>
            <a:off x="5560028" y="4174120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£ 5,670</a:t>
            </a:r>
            <a:endParaRPr lang="en-US" sz="1100"/>
          </a:p>
        </p:txBody>
      </p:sp>
      <p:cxnSp>
        <p:nvCxnSpPr>
          <p:cNvPr name="GraphCompose Table Cell Border" id="311"/>
          <p:cNvCxnSpPr/>
          <p:nvPr/>
        </p:nvCxnSpPr>
        <p:spPr>
          <a:xfrm>
            <a:off x="431800" y="4686617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12"/>
          <p:cNvCxnSpPr/>
          <p:nvPr/>
        </p:nvCxnSpPr>
        <p:spPr>
          <a:xfrm>
            <a:off x="431800" y="439721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13"/>
          <p:cNvCxnSpPr/>
          <p:nvPr/>
        </p:nvCxnSpPr>
        <p:spPr>
          <a:xfrm>
            <a:off x="1193800" y="439721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14"/>
          <p:cNvSpPr txBox="true"/>
          <p:nvPr/>
        </p:nvSpPr>
        <p:spPr>
          <a:xfrm>
            <a:off x="546100" y="4463522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INV-119</a:t>
            </a:r>
            <a:endParaRPr lang="en-US" sz="1100"/>
          </a:p>
        </p:txBody>
      </p:sp>
      <p:cxnSp>
        <p:nvCxnSpPr>
          <p:cNvPr name="GraphCompose Table Cell Border" id="315"/>
          <p:cNvCxnSpPr/>
          <p:nvPr/>
        </p:nvCxnSpPr>
        <p:spPr>
          <a:xfrm>
            <a:off x="1191260" y="4686617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16"/>
          <p:cNvCxnSpPr/>
          <p:nvPr/>
        </p:nvCxnSpPr>
        <p:spPr>
          <a:xfrm>
            <a:off x="3413728" y="439721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17"/>
          <p:cNvSpPr txBox="true"/>
          <p:nvPr/>
        </p:nvSpPr>
        <p:spPr>
          <a:xfrm>
            <a:off x="1308100" y="4463522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20 — quarterly delivery slice</a:t>
            </a:r>
            <a:endParaRPr lang="en-US" sz="1100"/>
          </a:p>
        </p:txBody>
      </p:sp>
      <p:cxnSp>
        <p:nvCxnSpPr>
          <p:cNvPr name="GraphCompose Table Cell Border" id="318"/>
          <p:cNvCxnSpPr/>
          <p:nvPr/>
        </p:nvCxnSpPr>
        <p:spPr>
          <a:xfrm>
            <a:off x="3411188" y="4686617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19"/>
          <p:cNvCxnSpPr/>
          <p:nvPr/>
        </p:nvCxnSpPr>
        <p:spPr>
          <a:xfrm>
            <a:off x="4429728" y="439721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20"/>
          <p:cNvSpPr txBox="true"/>
          <p:nvPr/>
        </p:nvSpPr>
        <p:spPr>
          <a:xfrm>
            <a:off x="3528028" y="4463522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97 h</a:t>
            </a:r>
            <a:endParaRPr lang="en-US" sz="1100"/>
          </a:p>
        </p:txBody>
      </p:sp>
      <p:cxnSp>
        <p:nvCxnSpPr>
          <p:cNvPr name="GraphCompose Table Cell Border" id="321"/>
          <p:cNvCxnSpPr/>
          <p:nvPr/>
        </p:nvCxnSpPr>
        <p:spPr>
          <a:xfrm>
            <a:off x="4427188" y="4686617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22"/>
          <p:cNvCxnSpPr/>
          <p:nvPr/>
        </p:nvCxnSpPr>
        <p:spPr>
          <a:xfrm>
            <a:off x="5445728" y="439721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23"/>
          <p:cNvSpPr txBox="true"/>
          <p:nvPr/>
        </p:nvSpPr>
        <p:spPr>
          <a:xfrm>
            <a:off x="4544028" y="4463522"/>
            <a:ext cx="27623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Audit</a:t>
            </a:r>
            <a:endParaRPr lang="en-US" sz="1100"/>
          </a:p>
        </p:txBody>
      </p:sp>
      <p:cxnSp>
        <p:nvCxnSpPr>
          <p:cNvPr name="GraphCompose Table Cell Border" id="324"/>
          <p:cNvCxnSpPr/>
          <p:nvPr/>
        </p:nvCxnSpPr>
        <p:spPr>
          <a:xfrm>
            <a:off x="5443188" y="4686617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25"/>
          <p:cNvCxnSpPr/>
          <p:nvPr/>
        </p:nvCxnSpPr>
        <p:spPr>
          <a:xfrm>
            <a:off x="6461728" y="439721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26"/>
          <p:cNvSpPr txBox="true"/>
          <p:nvPr/>
        </p:nvSpPr>
        <p:spPr>
          <a:xfrm>
            <a:off x="5560028" y="4463522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£ 5,885</a:t>
            </a:r>
            <a:endParaRPr lang="en-US" sz="1100"/>
          </a:p>
        </p:txBody>
      </p:sp>
      <p:cxnSp>
        <p:nvCxnSpPr>
          <p:cNvPr name="GraphCompose Table Cell Border" id="327"/>
          <p:cNvCxnSpPr/>
          <p:nvPr/>
        </p:nvCxnSpPr>
        <p:spPr>
          <a:xfrm>
            <a:off x="431800" y="4976019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28"/>
          <p:cNvCxnSpPr/>
          <p:nvPr/>
        </p:nvCxnSpPr>
        <p:spPr>
          <a:xfrm>
            <a:off x="431800" y="468661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29"/>
          <p:cNvCxnSpPr/>
          <p:nvPr/>
        </p:nvCxnSpPr>
        <p:spPr>
          <a:xfrm>
            <a:off x="1193800" y="468661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30"/>
          <p:cNvSpPr txBox="true"/>
          <p:nvPr/>
        </p:nvSpPr>
        <p:spPr>
          <a:xfrm>
            <a:off x="546100" y="4752923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INV-120</a:t>
            </a:r>
            <a:endParaRPr lang="en-US" sz="1100"/>
          </a:p>
        </p:txBody>
      </p:sp>
      <p:cxnSp>
        <p:nvCxnSpPr>
          <p:cNvPr name="GraphCompose Table Cell Border" id="331"/>
          <p:cNvCxnSpPr/>
          <p:nvPr/>
        </p:nvCxnSpPr>
        <p:spPr>
          <a:xfrm>
            <a:off x="1191260" y="4976019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32"/>
          <p:cNvCxnSpPr/>
          <p:nvPr/>
        </p:nvCxnSpPr>
        <p:spPr>
          <a:xfrm>
            <a:off x="3413728" y="468661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33"/>
          <p:cNvSpPr txBox="true"/>
          <p:nvPr/>
        </p:nvSpPr>
        <p:spPr>
          <a:xfrm>
            <a:off x="1308100" y="4752923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21 — quarterly delivery slice</a:t>
            </a:r>
            <a:endParaRPr lang="en-US" sz="1100"/>
          </a:p>
        </p:txBody>
      </p:sp>
      <p:cxnSp>
        <p:nvCxnSpPr>
          <p:cNvPr name="GraphCompose Table Cell Border" id="334"/>
          <p:cNvCxnSpPr/>
          <p:nvPr/>
        </p:nvCxnSpPr>
        <p:spPr>
          <a:xfrm>
            <a:off x="3411188" y="4976019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35"/>
          <p:cNvCxnSpPr/>
          <p:nvPr/>
        </p:nvCxnSpPr>
        <p:spPr>
          <a:xfrm>
            <a:off x="4429728" y="468661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36"/>
          <p:cNvSpPr txBox="true"/>
          <p:nvPr/>
        </p:nvSpPr>
        <p:spPr>
          <a:xfrm>
            <a:off x="3528028" y="4752923"/>
            <a:ext cx="303136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100 h</a:t>
            </a:r>
            <a:endParaRPr lang="en-US" sz="1100"/>
          </a:p>
        </p:txBody>
      </p:sp>
      <p:cxnSp>
        <p:nvCxnSpPr>
          <p:cNvPr name="GraphCompose Table Cell Border" id="337"/>
          <p:cNvCxnSpPr/>
          <p:nvPr/>
        </p:nvCxnSpPr>
        <p:spPr>
          <a:xfrm>
            <a:off x="4427188" y="4976019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38"/>
          <p:cNvCxnSpPr/>
          <p:nvPr/>
        </p:nvCxnSpPr>
        <p:spPr>
          <a:xfrm>
            <a:off x="5445728" y="468661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39"/>
          <p:cNvSpPr txBox="true"/>
          <p:nvPr/>
        </p:nvSpPr>
        <p:spPr>
          <a:xfrm>
            <a:off x="4544028" y="4752923"/>
            <a:ext cx="2694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Build</a:t>
            </a:r>
            <a:endParaRPr lang="en-US" sz="1100"/>
          </a:p>
        </p:txBody>
      </p:sp>
      <p:cxnSp>
        <p:nvCxnSpPr>
          <p:cNvPr name="GraphCompose Table Cell Border" id="340"/>
          <p:cNvCxnSpPr/>
          <p:nvPr/>
        </p:nvCxnSpPr>
        <p:spPr>
          <a:xfrm>
            <a:off x="5443188" y="4976019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41"/>
          <p:cNvCxnSpPr/>
          <p:nvPr/>
        </p:nvCxnSpPr>
        <p:spPr>
          <a:xfrm>
            <a:off x="6461728" y="468661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42"/>
          <p:cNvSpPr txBox="true"/>
          <p:nvPr/>
        </p:nvSpPr>
        <p:spPr>
          <a:xfrm>
            <a:off x="5560028" y="4752923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£ 6,100</a:t>
            </a:r>
            <a:endParaRPr lang="en-US" sz="1100"/>
          </a:p>
        </p:txBody>
      </p:sp>
      <p:cxnSp>
        <p:nvCxnSpPr>
          <p:cNvPr name="GraphCompose Table Cell Border" id="343"/>
          <p:cNvCxnSpPr/>
          <p:nvPr/>
        </p:nvCxnSpPr>
        <p:spPr>
          <a:xfrm>
            <a:off x="431800" y="5265420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44"/>
          <p:cNvCxnSpPr/>
          <p:nvPr/>
        </p:nvCxnSpPr>
        <p:spPr>
          <a:xfrm>
            <a:off x="431800" y="497601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45"/>
          <p:cNvCxnSpPr/>
          <p:nvPr/>
        </p:nvCxnSpPr>
        <p:spPr>
          <a:xfrm>
            <a:off x="1193800" y="497601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46"/>
          <p:cNvSpPr txBox="true"/>
          <p:nvPr/>
        </p:nvSpPr>
        <p:spPr>
          <a:xfrm>
            <a:off x="546100" y="5042324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INV-121</a:t>
            </a:r>
            <a:endParaRPr lang="en-US" sz="1100"/>
          </a:p>
        </p:txBody>
      </p:sp>
      <p:cxnSp>
        <p:nvCxnSpPr>
          <p:cNvPr name="GraphCompose Table Cell Border" id="347"/>
          <p:cNvCxnSpPr/>
          <p:nvPr/>
        </p:nvCxnSpPr>
        <p:spPr>
          <a:xfrm>
            <a:off x="1191260" y="5265420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48"/>
          <p:cNvCxnSpPr/>
          <p:nvPr/>
        </p:nvCxnSpPr>
        <p:spPr>
          <a:xfrm>
            <a:off x="3413728" y="497601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49"/>
          <p:cNvSpPr txBox="true"/>
          <p:nvPr/>
        </p:nvSpPr>
        <p:spPr>
          <a:xfrm>
            <a:off x="1308100" y="5042324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22 — quarterly delivery slice</a:t>
            </a:r>
            <a:endParaRPr lang="en-US" sz="1100"/>
          </a:p>
        </p:txBody>
      </p:sp>
      <p:cxnSp>
        <p:nvCxnSpPr>
          <p:cNvPr name="GraphCompose Table Cell Border" id="350"/>
          <p:cNvCxnSpPr/>
          <p:nvPr/>
        </p:nvCxnSpPr>
        <p:spPr>
          <a:xfrm>
            <a:off x="3411188" y="5265420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51"/>
          <p:cNvCxnSpPr/>
          <p:nvPr/>
        </p:nvCxnSpPr>
        <p:spPr>
          <a:xfrm>
            <a:off x="4429728" y="497601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52"/>
          <p:cNvSpPr txBox="true"/>
          <p:nvPr/>
        </p:nvSpPr>
        <p:spPr>
          <a:xfrm>
            <a:off x="3528028" y="5042324"/>
            <a:ext cx="303136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103 h</a:t>
            </a:r>
            <a:endParaRPr lang="en-US" sz="1100"/>
          </a:p>
        </p:txBody>
      </p:sp>
      <p:cxnSp>
        <p:nvCxnSpPr>
          <p:cNvPr name="GraphCompose Table Cell Border" id="353"/>
          <p:cNvCxnSpPr/>
          <p:nvPr/>
        </p:nvCxnSpPr>
        <p:spPr>
          <a:xfrm>
            <a:off x="4427188" y="5265420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54"/>
          <p:cNvCxnSpPr/>
          <p:nvPr/>
        </p:nvCxnSpPr>
        <p:spPr>
          <a:xfrm>
            <a:off x="5445728" y="497601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55"/>
          <p:cNvSpPr txBox="true"/>
          <p:nvPr/>
        </p:nvSpPr>
        <p:spPr>
          <a:xfrm>
            <a:off x="4544028" y="5042324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Studio</a:t>
            </a:r>
            <a:endParaRPr lang="en-US" sz="1100"/>
          </a:p>
        </p:txBody>
      </p:sp>
      <p:cxnSp>
        <p:nvCxnSpPr>
          <p:cNvPr name="GraphCompose Table Cell Border" id="356"/>
          <p:cNvCxnSpPr/>
          <p:nvPr/>
        </p:nvCxnSpPr>
        <p:spPr>
          <a:xfrm>
            <a:off x="5443188" y="5265420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57"/>
          <p:cNvCxnSpPr/>
          <p:nvPr/>
        </p:nvCxnSpPr>
        <p:spPr>
          <a:xfrm>
            <a:off x="6461728" y="497601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58"/>
          <p:cNvSpPr txBox="true"/>
          <p:nvPr/>
        </p:nvSpPr>
        <p:spPr>
          <a:xfrm>
            <a:off x="5560028" y="5042324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£ 6,315</a:t>
            </a:r>
            <a:endParaRPr lang="en-US" sz="1100"/>
          </a:p>
        </p:txBody>
      </p:sp>
      <p:cxnSp>
        <p:nvCxnSpPr>
          <p:cNvPr name="GraphCompose Table Cell Border" id="359"/>
          <p:cNvCxnSpPr/>
          <p:nvPr/>
        </p:nvCxnSpPr>
        <p:spPr>
          <a:xfrm>
            <a:off x="431800" y="5554821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60"/>
          <p:cNvCxnSpPr/>
          <p:nvPr/>
        </p:nvCxnSpPr>
        <p:spPr>
          <a:xfrm>
            <a:off x="431800" y="526542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61"/>
          <p:cNvCxnSpPr/>
          <p:nvPr/>
        </p:nvCxnSpPr>
        <p:spPr>
          <a:xfrm>
            <a:off x="1193800" y="526542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62"/>
          <p:cNvSpPr txBox="true"/>
          <p:nvPr/>
        </p:nvSpPr>
        <p:spPr>
          <a:xfrm>
            <a:off x="546100" y="5331725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INV-122</a:t>
            </a:r>
            <a:endParaRPr lang="en-US" sz="1100"/>
          </a:p>
        </p:txBody>
      </p:sp>
      <p:cxnSp>
        <p:nvCxnSpPr>
          <p:cNvPr name="GraphCompose Table Cell Border" id="363"/>
          <p:cNvCxnSpPr/>
          <p:nvPr/>
        </p:nvCxnSpPr>
        <p:spPr>
          <a:xfrm>
            <a:off x="1191260" y="5554821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64"/>
          <p:cNvCxnSpPr/>
          <p:nvPr/>
        </p:nvCxnSpPr>
        <p:spPr>
          <a:xfrm>
            <a:off x="3413728" y="526542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65"/>
          <p:cNvSpPr txBox="true"/>
          <p:nvPr/>
        </p:nvSpPr>
        <p:spPr>
          <a:xfrm>
            <a:off x="1308100" y="5331725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23 — quarterly delivery slice</a:t>
            </a:r>
            <a:endParaRPr lang="en-US" sz="1100"/>
          </a:p>
        </p:txBody>
      </p:sp>
      <p:cxnSp>
        <p:nvCxnSpPr>
          <p:cNvPr name="GraphCompose Table Cell Border" id="366"/>
          <p:cNvCxnSpPr/>
          <p:nvPr/>
        </p:nvCxnSpPr>
        <p:spPr>
          <a:xfrm>
            <a:off x="3411188" y="5554821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67"/>
          <p:cNvCxnSpPr/>
          <p:nvPr/>
        </p:nvCxnSpPr>
        <p:spPr>
          <a:xfrm>
            <a:off x="4429728" y="526542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68"/>
          <p:cNvSpPr txBox="true"/>
          <p:nvPr/>
        </p:nvSpPr>
        <p:spPr>
          <a:xfrm>
            <a:off x="3528028" y="5331725"/>
            <a:ext cx="303136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106 h</a:t>
            </a:r>
            <a:endParaRPr lang="en-US" sz="1100"/>
          </a:p>
        </p:txBody>
      </p:sp>
      <p:cxnSp>
        <p:nvCxnSpPr>
          <p:cNvPr name="GraphCompose Table Cell Border" id="369"/>
          <p:cNvCxnSpPr/>
          <p:nvPr/>
        </p:nvCxnSpPr>
        <p:spPr>
          <a:xfrm>
            <a:off x="4427188" y="5554821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70"/>
          <p:cNvCxnSpPr/>
          <p:nvPr/>
        </p:nvCxnSpPr>
        <p:spPr>
          <a:xfrm>
            <a:off x="5445728" y="526542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71"/>
          <p:cNvSpPr txBox="true"/>
          <p:nvPr/>
        </p:nvSpPr>
        <p:spPr>
          <a:xfrm>
            <a:off x="4544028" y="5331725"/>
            <a:ext cx="27623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Audit</a:t>
            </a:r>
            <a:endParaRPr lang="en-US" sz="1100"/>
          </a:p>
        </p:txBody>
      </p:sp>
      <p:cxnSp>
        <p:nvCxnSpPr>
          <p:cNvPr name="GraphCompose Table Cell Border" id="372"/>
          <p:cNvCxnSpPr/>
          <p:nvPr/>
        </p:nvCxnSpPr>
        <p:spPr>
          <a:xfrm>
            <a:off x="5443188" y="5554821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73"/>
          <p:cNvCxnSpPr/>
          <p:nvPr/>
        </p:nvCxnSpPr>
        <p:spPr>
          <a:xfrm>
            <a:off x="6461728" y="526542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74"/>
          <p:cNvSpPr txBox="true"/>
          <p:nvPr/>
        </p:nvSpPr>
        <p:spPr>
          <a:xfrm>
            <a:off x="5560028" y="5331725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£ 6,530</a:t>
            </a:r>
            <a:endParaRPr lang="en-US" sz="1100"/>
          </a:p>
        </p:txBody>
      </p:sp>
      <p:cxnSp>
        <p:nvCxnSpPr>
          <p:cNvPr name="GraphCompose Table Cell Border" id="375"/>
          <p:cNvCxnSpPr/>
          <p:nvPr/>
        </p:nvCxnSpPr>
        <p:spPr>
          <a:xfrm>
            <a:off x="431800" y="5844222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76"/>
          <p:cNvCxnSpPr/>
          <p:nvPr/>
        </p:nvCxnSpPr>
        <p:spPr>
          <a:xfrm>
            <a:off x="431800" y="555482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77"/>
          <p:cNvCxnSpPr/>
          <p:nvPr/>
        </p:nvCxnSpPr>
        <p:spPr>
          <a:xfrm>
            <a:off x="1193800" y="555482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78"/>
          <p:cNvSpPr txBox="true"/>
          <p:nvPr/>
        </p:nvSpPr>
        <p:spPr>
          <a:xfrm>
            <a:off x="546100" y="5621127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INV-123</a:t>
            </a:r>
            <a:endParaRPr lang="en-US" sz="1100"/>
          </a:p>
        </p:txBody>
      </p:sp>
      <p:cxnSp>
        <p:nvCxnSpPr>
          <p:cNvPr name="GraphCompose Table Cell Border" id="379"/>
          <p:cNvCxnSpPr/>
          <p:nvPr/>
        </p:nvCxnSpPr>
        <p:spPr>
          <a:xfrm>
            <a:off x="1191260" y="5844222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80"/>
          <p:cNvCxnSpPr/>
          <p:nvPr/>
        </p:nvCxnSpPr>
        <p:spPr>
          <a:xfrm>
            <a:off x="3413728" y="555482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81"/>
          <p:cNvSpPr txBox="true"/>
          <p:nvPr/>
        </p:nvSpPr>
        <p:spPr>
          <a:xfrm>
            <a:off x="1308100" y="5621127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24 — quarterly delivery slice</a:t>
            </a:r>
            <a:endParaRPr lang="en-US" sz="1100"/>
          </a:p>
        </p:txBody>
      </p:sp>
      <p:cxnSp>
        <p:nvCxnSpPr>
          <p:cNvPr name="GraphCompose Table Cell Border" id="382"/>
          <p:cNvCxnSpPr/>
          <p:nvPr/>
        </p:nvCxnSpPr>
        <p:spPr>
          <a:xfrm>
            <a:off x="3411188" y="5844222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83"/>
          <p:cNvCxnSpPr/>
          <p:nvPr/>
        </p:nvCxnSpPr>
        <p:spPr>
          <a:xfrm>
            <a:off x="4429728" y="555482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84"/>
          <p:cNvSpPr txBox="true"/>
          <p:nvPr/>
        </p:nvSpPr>
        <p:spPr>
          <a:xfrm>
            <a:off x="3528028" y="5621127"/>
            <a:ext cx="303136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109 h</a:t>
            </a:r>
            <a:endParaRPr lang="en-US" sz="1100"/>
          </a:p>
        </p:txBody>
      </p:sp>
      <p:cxnSp>
        <p:nvCxnSpPr>
          <p:cNvPr name="GraphCompose Table Cell Border" id="385"/>
          <p:cNvCxnSpPr/>
          <p:nvPr/>
        </p:nvCxnSpPr>
        <p:spPr>
          <a:xfrm>
            <a:off x="4427188" y="5844222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86"/>
          <p:cNvCxnSpPr/>
          <p:nvPr/>
        </p:nvCxnSpPr>
        <p:spPr>
          <a:xfrm>
            <a:off x="5445728" y="555482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87"/>
          <p:cNvSpPr txBox="true"/>
          <p:nvPr/>
        </p:nvSpPr>
        <p:spPr>
          <a:xfrm>
            <a:off x="4544028" y="5621127"/>
            <a:ext cx="2694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Build</a:t>
            </a:r>
            <a:endParaRPr lang="en-US" sz="1100"/>
          </a:p>
        </p:txBody>
      </p:sp>
      <p:cxnSp>
        <p:nvCxnSpPr>
          <p:cNvPr name="GraphCompose Table Cell Border" id="388"/>
          <p:cNvCxnSpPr/>
          <p:nvPr/>
        </p:nvCxnSpPr>
        <p:spPr>
          <a:xfrm>
            <a:off x="5443188" y="5844222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89"/>
          <p:cNvCxnSpPr/>
          <p:nvPr/>
        </p:nvCxnSpPr>
        <p:spPr>
          <a:xfrm>
            <a:off x="6461728" y="555482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90"/>
          <p:cNvSpPr txBox="true"/>
          <p:nvPr/>
        </p:nvSpPr>
        <p:spPr>
          <a:xfrm>
            <a:off x="5560028" y="5621127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£ 6,745</a:t>
            </a:r>
            <a:endParaRPr lang="en-US" sz="1100"/>
          </a:p>
        </p:txBody>
      </p:sp>
      <p:cxnSp>
        <p:nvCxnSpPr>
          <p:cNvPr name="GraphCompose Table Cell Border" id="391"/>
          <p:cNvCxnSpPr/>
          <p:nvPr/>
        </p:nvCxnSpPr>
        <p:spPr>
          <a:xfrm>
            <a:off x="431800" y="6164897"/>
            <a:ext cx="764540" cy="0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cxnSp>
        <p:nvCxnSpPr>
          <p:cNvPr name="GraphCompose Table Cell Border" id="392"/>
          <p:cNvCxnSpPr/>
          <p:nvPr/>
        </p:nvCxnSpPr>
        <p:spPr>
          <a:xfrm>
            <a:off x="431800" y="5844222"/>
            <a:ext cx="0" cy="320675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cxnSp>
        <p:nvCxnSpPr>
          <p:cNvPr name="GraphCompose Table Cell Border" id="393"/>
          <p:cNvCxnSpPr/>
          <p:nvPr/>
        </p:nvCxnSpPr>
        <p:spPr>
          <a:xfrm>
            <a:off x="1193800" y="5844222"/>
            <a:ext cx="0" cy="320675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sp>
        <p:nvSpPr>
          <p:cNvPr name="GraphCompose Table Cell Text" id="394"/>
          <p:cNvSpPr txBox="true"/>
          <p:nvPr/>
        </p:nvSpPr>
        <p:spPr>
          <a:xfrm>
            <a:off x="546100" y="5922039"/>
            <a:ext cx="255270" cy="11747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000" b="true" i="false" u="none" strike="noStrike" kern="0">
                <a:solidFill>
                  <a:srgbClr val="FFFFFF"/>
                </a:solidFill>
                <a:latin typeface="Arial"/>
              </a:rPr>
              <a:t>TOT</a:t>
            </a:r>
            <a:endParaRPr lang="en-US" sz="1100"/>
          </a:p>
        </p:txBody>
      </p:sp>
      <p:cxnSp>
        <p:nvCxnSpPr>
          <p:cNvPr name="GraphCompose Table Cell Border" id="395"/>
          <p:cNvCxnSpPr/>
          <p:nvPr/>
        </p:nvCxnSpPr>
        <p:spPr>
          <a:xfrm>
            <a:off x="1191260" y="6164897"/>
            <a:ext cx="2225008" cy="0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cxnSp>
        <p:nvCxnSpPr>
          <p:cNvPr name="GraphCompose Table Cell Border" id="396"/>
          <p:cNvCxnSpPr/>
          <p:nvPr/>
        </p:nvCxnSpPr>
        <p:spPr>
          <a:xfrm>
            <a:off x="3413728" y="5844222"/>
            <a:ext cx="0" cy="320675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sp>
        <p:nvSpPr>
          <p:cNvPr name="GraphCompose Table Cell Text" id="397"/>
          <p:cNvSpPr txBox="true"/>
          <p:nvPr/>
        </p:nvSpPr>
        <p:spPr>
          <a:xfrm>
            <a:off x="1308100" y="5922039"/>
            <a:ext cx="1292733" cy="11747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000" b="true" i="false" u="none" strike="noStrike" kern="0">
                <a:solidFill>
                  <a:srgbClr val="FFFFFF"/>
                </a:solidFill>
                <a:latin typeface="Arial"/>
              </a:rPr>
              <a:t>Total quarterly spend</a:t>
            </a:r>
            <a:endParaRPr lang="en-US" sz="1100"/>
          </a:p>
        </p:txBody>
      </p:sp>
      <p:cxnSp>
        <p:nvCxnSpPr>
          <p:cNvPr name="GraphCompose Table Cell Border" id="398"/>
          <p:cNvCxnSpPr/>
          <p:nvPr/>
        </p:nvCxnSpPr>
        <p:spPr>
          <a:xfrm>
            <a:off x="3411188" y="6164897"/>
            <a:ext cx="1021080" cy="0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cxnSp>
        <p:nvCxnSpPr>
          <p:cNvPr name="GraphCompose Table Cell Border" id="399"/>
          <p:cNvCxnSpPr/>
          <p:nvPr/>
        </p:nvCxnSpPr>
        <p:spPr>
          <a:xfrm>
            <a:off x="4429728" y="5844222"/>
            <a:ext cx="0" cy="320675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sp>
        <p:nvSpPr>
          <p:cNvPr name="GraphCompose Table Cell Text" id="400"/>
          <p:cNvSpPr txBox="true"/>
          <p:nvPr/>
        </p:nvSpPr>
        <p:spPr>
          <a:xfrm>
            <a:off x="3528028" y="5922039"/>
            <a:ext cx="128270" cy="11747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000" b="true" i="false" u="none" strike="noStrike" kern="0">
                <a:solidFill>
                  <a:srgbClr val="FFFFFF"/>
                </a:solidFill>
                <a:latin typeface="Arial"/>
              </a:rPr>
              <a:t>—</a:t>
            </a:r>
            <a:endParaRPr lang="en-US" sz="1100"/>
          </a:p>
        </p:txBody>
      </p:sp>
      <p:cxnSp>
        <p:nvCxnSpPr>
          <p:cNvPr name="GraphCompose Table Cell Border" id="401"/>
          <p:cNvCxnSpPr/>
          <p:nvPr/>
        </p:nvCxnSpPr>
        <p:spPr>
          <a:xfrm>
            <a:off x="4427188" y="6164897"/>
            <a:ext cx="1021080" cy="0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cxnSp>
        <p:nvCxnSpPr>
          <p:cNvPr name="GraphCompose Table Cell Border" id="402"/>
          <p:cNvCxnSpPr/>
          <p:nvPr/>
        </p:nvCxnSpPr>
        <p:spPr>
          <a:xfrm>
            <a:off x="5445728" y="5844222"/>
            <a:ext cx="0" cy="320675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sp>
        <p:nvSpPr>
          <p:cNvPr name="GraphCompose Table Cell Text" id="403"/>
          <p:cNvSpPr txBox="true"/>
          <p:nvPr/>
        </p:nvSpPr>
        <p:spPr>
          <a:xfrm>
            <a:off x="4544028" y="5922039"/>
            <a:ext cx="128270" cy="11747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000" b="true" i="false" u="none" strike="noStrike" kern="0">
                <a:solidFill>
                  <a:srgbClr val="FFFFFF"/>
                </a:solidFill>
                <a:latin typeface="Arial"/>
              </a:rPr>
              <a:t>—</a:t>
            </a:r>
            <a:endParaRPr lang="en-US" sz="1100"/>
          </a:p>
        </p:txBody>
      </p:sp>
      <p:cxnSp>
        <p:nvCxnSpPr>
          <p:cNvPr name="GraphCompose Table Cell Border" id="404"/>
          <p:cNvCxnSpPr/>
          <p:nvPr/>
        </p:nvCxnSpPr>
        <p:spPr>
          <a:xfrm>
            <a:off x="5443188" y="6164897"/>
            <a:ext cx="1018540" cy="0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cxnSp>
        <p:nvCxnSpPr>
          <p:cNvPr name="GraphCompose Table Cell Border" id="405"/>
          <p:cNvCxnSpPr/>
          <p:nvPr/>
        </p:nvCxnSpPr>
        <p:spPr>
          <a:xfrm>
            <a:off x="6461728" y="5844222"/>
            <a:ext cx="0" cy="320675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sp>
        <p:nvSpPr>
          <p:cNvPr name="GraphCompose Table Cell Text" id="406"/>
          <p:cNvSpPr txBox="true"/>
          <p:nvPr/>
        </p:nvSpPr>
        <p:spPr>
          <a:xfrm>
            <a:off x="5560028" y="5922039"/>
            <a:ext cx="566166" cy="11747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000" b="true" i="false" u="none" strike="noStrike" kern="0">
                <a:solidFill>
                  <a:srgbClr val="FFFFFF"/>
                </a:solidFill>
                <a:latin typeface="Arial"/>
              </a:rPr>
              <a:t>£ 102,720</a:t>
            </a:r>
            <a:endParaRPr lang="en-US" sz="1100"/>
          </a:p>
        </p:txBody>
      </p:sp>
      <p:sp>
        <p:nvSpPr>
          <p:cNvPr name="AutoShape 407" id="407"/>
          <p:cNvSpPr/>
          <p:nvPr/>
        </p:nvSpPr>
        <p:spPr>
          <a:xfrm>
            <a:off x="431800" y="6342697"/>
            <a:ext cx="1903575" cy="1179525"/>
          </a:xfrm>
          <a:prstGeom prst="roundRect">
            <a:avLst>
              <a:gd name="adj" fmla="val 8614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408" id="408"/>
          <p:cNvCxnSpPr/>
          <p:nvPr/>
        </p:nvCxnSpPr>
        <p:spPr>
          <a:xfrm>
            <a:off x="431800" y="6342697"/>
            <a:ext cx="1903575" cy="0"/>
          </a:xfrm>
          <a:prstGeom prst="line">
            <a:avLst/>
          </a:prstGeom>
          <a:ln w="38100">
            <a:solidFill>
              <a:srgbClr val="14505F"/>
            </a:solidFill>
          </a:ln>
        </p:spPr>
      </p:cxnSp>
      <p:sp>
        <p:nvSpPr>
          <p:cNvPr name="GraphCompose Text Line" id="409"/>
          <p:cNvSpPr txBox="true"/>
          <p:nvPr/>
        </p:nvSpPr>
        <p:spPr>
          <a:xfrm>
            <a:off x="609600" y="6494335"/>
            <a:ext cx="1359852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222632"/>
                </a:solidFill>
                <a:latin typeface="Arial"/>
              </a:rPr>
              <a:t>Cinematic templates</a:t>
            </a:r>
            <a:endParaRPr lang="en-US" sz="1100"/>
          </a:p>
        </p:txBody>
      </p:sp>
      <p:sp>
        <p:nvSpPr>
          <p:cNvPr name="GraphCompose Text Line" id="410"/>
          <p:cNvSpPr txBox="true"/>
          <p:nvPr/>
        </p:nvSpPr>
        <p:spPr>
          <a:xfrm>
            <a:off x="609600" y="6703950"/>
            <a:ext cx="84328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14505F"/>
                </a:solidFill>
                <a:latin typeface="Courier New"/>
              </a:rPr>
              <a:t>ModernInvoice</a:t>
            </a:r>
            <a:endParaRPr lang="en-US" sz="1100"/>
          </a:p>
        </p:txBody>
      </p:sp>
      <p:sp>
        <p:nvSpPr>
          <p:cNvPr name="GraphCompose Text Line" id="411"/>
          <p:cNvSpPr txBox="true"/>
          <p:nvPr/>
        </p:nvSpPr>
        <p:spPr>
          <a:xfrm>
            <a:off x="609600" y="6866515"/>
            <a:ext cx="1421895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Same data renders through a</a:t>
            </a:r>
            <a:endParaRPr lang="en-US" sz="1100"/>
          </a:p>
        </p:txBody>
      </p:sp>
      <p:sp>
        <p:nvSpPr>
          <p:cNvPr name="GraphCompose Text Line" id="412"/>
          <p:cNvSpPr txBox="true"/>
          <p:nvPr/>
        </p:nvSpPr>
        <p:spPr>
          <a:xfrm>
            <a:off x="609600" y="6985323"/>
            <a:ext cx="1549245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BrandTheme — pass a different</a:t>
            </a:r>
            <a:endParaRPr lang="en-US" sz="1100"/>
          </a:p>
        </p:txBody>
      </p:sp>
      <p:sp>
        <p:nvSpPr>
          <p:cNvPr name="GraphCompose Text Line" id="413"/>
          <p:cNvSpPr txBox="true"/>
          <p:nvPr/>
        </p:nvSpPr>
        <p:spPr>
          <a:xfrm>
            <a:off x="609600" y="7104132"/>
            <a:ext cx="1506758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theme to create(...), ship a new</a:t>
            </a:r>
            <a:endParaRPr lang="en-US" sz="1100"/>
          </a:p>
        </p:txBody>
      </p:sp>
      <p:sp>
        <p:nvSpPr>
          <p:cNvPr name="GraphCompose Text Line" id="414"/>
          <p:cNvSpPr txBox="true"/>
          <p:nvPr/>
        </p:nvSpPr>
        <p:spPr>
          <a:xfrm>
            <a:off x="609600" y="7222940"/>
            <a:ext cx="231943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look.</a:t>
            </a:r>
            <a:endParaRPr lang="en-US" sz="1100"/>
          </a:p>
        </p:txBody>
      </p:sp>
      <p:sp>
        <p:nvSpPr>
          <p:cNvPr name="AutoShape 415" id="415"/>
          <p:cNvSpPr/>
          <p:nvPr/>
        </p:nvSpPr>
        <p:spPr>
          <a:xfrm>
            <a:off x="2723200" y="6342697"/>
            <a:ext cx="1855081" cy="1179525"/>
          </a:xfrm>
          <a:prstGeom prst="roundRect">
            <a:avLst>
              <a:gd name="adj" fmla="val 8614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416" id="416"/>
          <p:cNvCxnSpPr/>
          <p:nvPr/>
        </p:nvCxnSpPr>
        <p:spPr>
          <a:xfrm>
            <a:off x="2723200" y="6342697"/>
            <a:ext cx="1855081" cy="0"/>
          </a:xfrm>
          <a:prstGeom prst="line">
            <a:avLst/>
          </a:prstGeom>
          <a:ln w="38100">
            <a:solidFill>
              <a:srgbClr val="14505F"/>
            </a:solidFill>
          </a:ln>
        </p:spPr>
      </p:cxnSp>
      <p:sp>
        <p:nvSpPr>
          <p:cNvPr name="GraphCompose Text Line" id="417"/>
          <p:cNvSpPr txBox="true"/>
          <p:nvPr/>
        </p:nvSpPr>
        <p:spPr>
          <a:xfrm>
            <a:off x="2901000" y="6494335"/>
            <a:ext cx="1297686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222632"/>
                </a:solidFill>
                <a:latin typeface="Arial"/>
              </a:rPr>
              <a:t>Shape-as-container</a:t>
            </a:r>
            <a:endParaRPr lang="en-US" sz="1100"/>
          </a:p>
        </p:txBody>
      </p:sp>
      <p:sp>
        <p:nvSpPr>
          <p:cNvPr name="GraphCompose Text Line" id="418"/>
          <p:cNvSpPr txBox="true"/>
          <p:nvPr/>
        </p:nvSpPr>
        <p:spPr>
          <a:xfrm>
            <a:off x="2901000" y="6703950"/>
            <a:ext cx="136144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14505F"/>
                </a:solidFill>
                <a:latin typeface="Courier New"/>
              </a:rPr>
              <a:t>addCircle + clip path</a:t>
            </a:r>
            <a:endParaRPr lang="en-US" sz="1100"/>
          </a:p>
        </p:txBody>
      </p:sp>
      <p:sp>
        <p:nvSpPr>
          <p:cNvPr name="GraphCompose Text Line" id="419"/>
          <p:cNvSpPr txBox="true"/>
          <p:nvPr/>
        </p:nvSpPr>
        <p:spPr>
          <a:xfrm>
            <a:off x="2901000" y="6866515"/>
            <a:ext cx="1354615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ClipPolicy.CLIP_PATH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clips</a:t>
            </a:r>
            <a:endParaRPr lang="en-US" sz="1100"/>
          </a:p>
        </p:txBody>
      </p:sp>
      <p:sp>
        <p:nvSpPr>
          <p:cNvPr name="GraphCompose Text Line" id="420"/>
          <p:cNvSpPr txBox="true"/>
          <p:nvPr/>
        </p:nvSpPr>
        <p:spPr>
          <a:xfrm>
            <a:off x="2901000" y="6985323"/>
            <a:ext cx="1500751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children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to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the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actual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outline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—</a:t>
            </a:r>
            <a:endParaRPr lang="en-US" sz="1100"/>
          </a:p>
        </p:txBody>
      </p:sp>
      <p:sp>
        <p:nvSpPr>
          <p:cNvPr name="GraphCompose Text Line" id="421"/>
          <p:cNvSpPr txBox="true"/>
          <p:nvPr/>
        </p:nvSpPr>
        <p:spPr>
          <a:xfrm>
            <a:off x="2901000" y="7104132"/>
            <a:ext cx="1403327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DOCX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falls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back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inline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with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a</a:t>
            </a:r>
            <a:endParaRPr lang="en-US" sz="1100"/>
          </a:p>
        </p:txBody>
      </p:sp>
      <p:sp>
        <p:nvSpPr>
          <p:cNvPr name="GraphCompose Text Line" id="422"/>
          <p:cNvSpPr txBox="true"/>
          <p:nvPr/>
        </p:nvSpPr>
        <p:spPr>
          <a:xfrm>
            <a:off x="2901000" y="7222940"/>
            <a:ext cx="1354833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one-time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capability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warning.</a:t>
            </a:r>
            <a:endParaRPr lang="en-US" sz="1100"/>
          </a:p>
        </p:txBody>
      </p:sp>
      <p:sp>
        <p:nvSpPr>
          <p:cNvPr name="AutoShape 423" id="423"/>
          <p:cNvSpPr/>
          <p:nvPr/>
        </p:nvSpPr>
        <p:spPr>
          <a:xfrm>
            <a:off x="5014600" y="6342697"/>
            <a:ext cx="1970199" cy="1145565"/>
          </a:xfrm>
          <a:prstGeom prst="roundRect">
            <a:avLst>
              <a:gd name="adj" fmla="val 8869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424" id="424"/>
          <p:cNvCxnSpPr/>
          <p:nvPr/>
        </p:nvCxnSpPr>
        <p:spPr>
          <a:xfrm>
            <a:off x="5014600" y="6342697"/>
            <a:ext cx="1970199" cy="0"/>
          </a:xfrm>
          <a:prstGeom prst="line">
            <a:avLst/>
          </a:prstGeom>
          <a:ln w="38100">
            <a:solidFill>
              <a:srgbClr val="14505F"/>
            </a:solidFill>
          </a:ln>
        </p:spPr>
      </p:cxnSp>
      <p:sp>
        <p:nvSpPr>
          <p:cNvPr name="GraphCompose Text Line" id="425"/>
          <p:cNvSpPr txBox="true"/>
          <p:nvPr/>
        </p:nvSpPr>
        <p:spPr>
          <a:xfrm>
            <a:off x="5192400" y="6494335"/>
            <a:ext cx="1375359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222632"/>
                </a:solidFill>
                <a:latin typeface="Arial"/>
              </a:rPr>
              <a:t>Transformable mixin</a:t>
            </a:r>
            <a:endParaRPr lang="en-US" sz="1100"/>
          </a:p>
        </p:txBody>
      </p:sp>
      <p:sp>
        <p:nvSpPr>
          <p:cNvPr name="GraphCompose Text Line" id="426"/>
          <p:cNvSpPr txBox="true"/>
          <p:nvPr/>
        </p:nvSpPr>
        <p:spPr>
          <a:xfrm>
            <a:off x="5192400" y="6703950"/>
            <a:ext cx="149098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14505F"/>
                </a:solidFill>
                <a:latin typeface="Courier New"/>
              </a:rPr>
              <a:t>rotate / scale on every</a:t>
            </a:r>
            <a:endParaRPr lang="en-US" sz="1100"/>
          </a:p>
        </p:txBody>
      </p:sp>
      <p:sp>
        <p:nvSpPr>
          <p:cNvPr name="GraphCompose Text Line" id="427"/>
          <p:cNvSpPr txBox="true"/>
          <p:nvPr/>
        </p:nvSpPr>
        <p:spPr>
          <a:xfrm>
            <a:off x="5192400" y="6788799"/>
            <a:ext cx="32512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14505F"/>
                </a:solidFill>
                <a:latin typeface="Courier New"/>
              </a:rPr>
              <a:t>shape</a:t>
            </a:r>
            <a:endParaRPr lang="en-US" sz="1100"/>
          </a:p>
        </p:txBody>
      </p:sp>
      <p:sp>
        <p:nvSpPr>
          <p:cNvPr name="GraphCompose Text Line" id="428"/>
          <p:cNvSpPr txBox="true"/>
          <p:nvPr/>
        </p:nvSpPr>
        <p:spPr>
          <a:xfrm>
            <a:off x="5192400" y="6951363"/>
            <a:ext cx="1615869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Transformable&lt;T&gt; reaches every</a:t>
            </a:r>
            <a:endParaRPr lang="en-US" sz="1100"/>
          </a:p>
        </p:txBody>
      </p:sp>
      <p:sp>
        <p:nvSpPr>
          <p:cNvPr name="GraphCompose Text Line" id="429"/>
          <p:cNvSpPr txBox="true"/>
          <p:nvPr/>
        </p:nvSpPr>
        <p:spPr>
          <a:xfrm>
            <a:off x="5192400" y="7070172"/>
            <a:ext cx="1610081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leaf builder, so any shape rotates</a:t>
            </a:r>
            <a:endParaRPr lang="en-US" sz="1100"/>
          </a:p>
        </p:txBody>
      </p:sp>
      <p:sp>
        <p:nvSpPr>
          <p:cNvPr name="GraphCompose Text Line" id="430"/>
          <p:cNvSpPr txBox="true"/>
          <p:nvPr/>
        </p:nvSpPr>
        <p:spPr>
          <a:xfrm>
            <a:off x="5192400" y="7188980"/>
            <a:ext cx="1379299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around its placement centre.</a:t>
            </a:r>
            <a:endParaRPr lang="en-US" sz="1100"/>
          </a:p>
        </p:txBody>
      </p:sp>
      <p:sp>
        <p:nvSpPr>
          <p:cNvPr name="AutoShape 431" id="431"/>
          <p:cNvSpPr/>
          <p:nvPr/>
        </p:nvSpPr>
        <p:spPr>
          <a:xfrm>
            <a:off x="431800" y="7700023"/>
            <a:ext cx="6505169" cy="1682433"/>
          </a:xfrm>
          <a:prstGeom prst="roundRect">
            <a:avLst>
              <a:gd name="adj" fmla="val 6039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432" id="432"/>
          <p:cNvCxnSpPr/>
          <p:nvPr/>
        </p:nvCxnSpPr>
        <p:spPr>
          <a:xfrm>
            <a:off x="431800" y="9382455"/>
            <a:ext cx="6505169" cy="0"/>
          </a:xfrm>
          <a:prstGeom prst="line">
            <a:avLst/>
          </a:prstGeom>
          <a:ln w="25400">
            <a:solidFill>
              <a:srgbClr val="C4994C"/>
            </a:solidFill>
          </a:ln>
        </p:spPr>
      </p:cxnSp>
      <p:sp>
        <p:nvSpPr>
          <p:cNvPr name="GraphCompose Text Line" id="433"/>
          <p:cNvSpPr txBox="true"/>
          <p:nvPr/>
        </p:nvSpPr>
        <p:spPr>
          <a:xfrm>
            <a:off x="609600" y="7837390"/>
            <a:ext cx="1296886" cy="19970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700" b="true" i="false" u="none" strike="noStrike" kern="0">
                <a:solidFill>
                  <a:srgbClr val="143C4B"/>
                </a:solidFill>
                <a:latin typeface="Arial"/>
              </a:rPr>
              <a:t>Action items</a:t>
            </a:r>
            <a:endParaRPr lang="en-US" sz="1100"/>
          </a:p>
        </p:txBody>
      </p:sp>
      <p:sp>
        <p:nvSpPr>
          <p:cNvPr name="GraphCompose Text Line" id="434"/>
          <p:cNvSpPr txBox="true"/>
          <p:nvPr/>
        </p:nvSpPr>
        <p:spPr>
          <a:xfrm>
            <a:off x="609600" y="8145833"/>
            <a:ext cx="6150839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Publish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release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notes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once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branch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merges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through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review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.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Owner:</a:t>
            </a:r>
            <a:endParaRPr lang="en-US" sz="1100"/>
          </a:p>
        </p:txBody>
      </p:sp>
      <p:sp>
        <p:nvSpPr>
          <p:cNvPr name="GraphCompose Text Line" id="435"/>
          <p:cNvSpPr txBox="true"/>
          <p:nvPr/>
        </p:nvSpPr>
        <p:spPr>
          <a:xfrm>
            <a:off x="609600" y="8310298"/>
            <a:ext cx="949833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maintainer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.</a:t>
            </a:r>
            <a:endParaRPr lang="en-US" sz="1100"/>
          </a:p>
        </p:txBody>
      </p:sp>
      <p:sp>
        <p:nvSpPr>
          <p:cNvPr name="GraphCompose Text Line" id="436"/>
          <p:cNvSpPr txBox="true"/>
          <p:nvPr/>
        </p:nvSpPr>
        <p:spPr>
          <a:xfrm>
            <a:off x="609600" y="8576363"/>
            <a:ext cx="5992063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Open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ADR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0003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for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Phase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nested-list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ergonomics.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Owner: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contributor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.</a:t>
            </a:r>
            <a:endParaRPr lang="en-US" sz="1100"/>
          </a:p>
        </p:txBody>
      </p:sp>
      <p:sp>
        <p:nvSpPr>
          <p:cNvPr name="GraphCompose Text Line" id="437"/>
          <p:cNvSpPr txBox="true"/>
          <p:nvPr/>
        </p:nvSpPr>
        <p:spPr>
          <a:xfrm>
            <a:off x="609600" y="8842428"/>
            <a:ext cx="5815152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Ship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Phase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B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composed-cell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content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ahead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of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Phase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C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canvas.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Owner:</a:t>
            </a:r>
            <a:endParaRPr lang="en-US" sz="1100"/>
          </a:p>
        </p:txBody>
      </p:sp>
      <p:sp>
        <p:nvSpPr>
          <p:cNvPr name="GraphCompose Text Line" id="438"/>
          <p:cNvSpPr txBox="true"/>
          <p:nvPr/>
        </p:nvSpPr>
        <p:spPr>
          <a:xfrm>
            <a:off x="609600" y="9006893"/>
            <a:ext cx="998906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contributor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.</a:t>
            </a:r>
            <a:endParaRPr lang="en-US" sz="1100"/>
          </a:p>
        </p:txBody>
      </p:sp>
      <p:cxnSp>
        <p:nvCxnSpPr>
          <p:cNvPr name="Connector 439" id="439"/>
          <p:cNvCxnSpPr/>
          <p:nvPr/>
        </p:nvCxnSpPr>
        <p:spPr>
          <a:xfrm>
            <a:off x="431800" y="9560255"/>
            <a:ext cx="4340075" cy="0"/>
          </a:xfrm>
          <a:prstGeom prst="line">
            <a:avLst/>
          </a:prstGeom>
          <a:ln w="7620">
            <a:solidFill>
              <a:srgbClr val="D4C8B2"/>
            </a:solidFill>
          </a:ln>
        </p:spPr>
      </p:cxnSp>
      <p:sp>
        <p:nvSpPr>
          <p:cNvPr name="GraphCompose Text Line" id="440"/>
          <p:cNvSpPr txBox="true"/>
          <p:nvPr/>
        </p:nvSpPr>
        <p:spPr>
          <a:xfrm>
            <a:off x="431800" y="9641401"/>
            <a:ext cx="4323215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Source: examples/.../MasterShowcaseExample.java — every visible token routes through</a:t>
            </a:r>
            <a:endParaRPr lang="en-US" sz="1100"/>
          </a:p>
        </p:txBody>
      </p:sp>
      <p:sp>
        <p:nvSpPr>
          <p:cNvPr name="GraphCompose Text Line" id="441"/>
          <p:cNvSpPr txBox="true"/>
          <p:nvPr/>
        </p:nvSpPr>
        <p:spPr>
          <a:xfrm>
            <a:off x="431800" y="9760210"/>
            <a:ext cx="4341345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BusinessTheme.modern() so the same source renders any of classic / modern / executive</a:t>
            </a:r>
            <a:endParaRPr lang="en-US" sz="1100"/>
          </a:p>
        </p:txBody>
      </p:sp>
      <p:sp>
        <p:nvSpPr>
          <p:cNvPr name="GraphCompose Text Line" id="442"/>
          <p:cNvSpPr txBox="true"/>
          <p:nvPr/>
        </p:nvSpPr>
        <p:spPr>
          <a:xfrm>
            <a:off x="431800" y="9879018"/>
            <a:ext cx="389766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themes.</a:t>
            </a:r>
            <a:endParaRPr lang="en-US" sz="1100"/>
          </a:p>
        </p:txBody>
      </p:sp>
      <p:pic>
        <p:nvPicPr>
          <p:cNvPr name="Picture 443" id="44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334" y="9560255"/>
            <a:ext cx="2286000" cy="457200"/>
          </a:xfrm>
          <a:prstGeom prst="rect">
            <a:avLst/>
          </a:prstGeom>
        </p:spPr>
      </p:pic>
      <p:sp>
        <p:nvSpPr>
          <p:cNvPr name="GraphCompose Header" id="444"/>
          <p:cNvSpPr txBox="true"/>
          <p:nvPr/>
        </p:nvSpPr>
        <p:spPr>
          <a:xfrm>
            <a:off x="431800" y="220377"/>
            <a:ext cx="1792580" cy="14859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707480"/>
                </a:solidFill>
                <a:latin typeface="Arial"/>
              </a:rPr>
              <a:t>GraphCompose · Master showcase</a:t>
            </a:r>
            <a:endParaRPr lang="en-US" sz="1100"/>
          </a:p>
        </p:txBody>
      </p:sp>
      <p:sp>
        <p:nvSpPr>
          <p:cNvPr name="GraphCompose Header" id="445"/>
          <p:cNvSpPr txBox="true"/>
          <p:nvPr/>
        </p:nvSpPr>
        <p:spPr>
          <a:xfrm>
            <a:off x="6689746" y="220377"/>
            <a:ext cx="439725" cy="14859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707480"/>
                </a:solidFill>
                <a:latin typeface="Arial"/>
              </a:rPr>
              <a:t>Q2 2026</a:t>
            </a:r>
            <a:endParaRPr lang="en-US" sz="1100"/>
          </a:p>
        </p:txBody>
      </p:sp>
      <p:cxnSp>
        <p:nvCxnSpPr>
          <p:cNvPr name="GraphCompose Header Separator" id="446"/>
          <p:cNvCxnSpPr/>
          <p:nvPr/>
        </p:nvCxnSpPr>
        <p:spPr>
          <a:xfrm>
            <a:off x="431800" y="381000"/>
            <a:ext cx="6696401" cy="0"/>
          </a:xfrm>
          <a:prstGeom prst="line">
            <a:avLst/>
          </a:prstGeom>
          <a:ln w="6350">
            <a:solidFill>
              <a:srgbClr val="D4C8B2"/>
            </a:solidFill>
          </a:ln>
        </p:spPr>
      </p:cxnSp>
      <p:sp>
        <p:nvSpPr>
          <p:cNvPr name="GraphCompose Footer" id="447"/>
          <p:cNvSpPr txBox="true"/>
          <p:nvPr/>
        </p:nvSpPr>
        <p:spPr>
          <a:xfrm>
            <a:off x="431800" y="10321827"/>
            <a:ext cx="1684566" cy="14859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707480"/>
                </a:solidFill>
                <a:latin typeface="Arial"/>
              </a:rPr>
              <a:t>GraphCompose — sample report</a:t>
            </a:r>
            <a:endParaRPr lang="en-US" sz="1100"/>
          </a:p>
        </p:txBody>
      </p:sp>
      <p:sp>
        <p:nvSpPr>
          <p:cNvPr name="GraphCompose Footer" id="448"/>
          <p:cNvSpPr txBox="true"/>
          <p:nvPr/>
        </p:nvSpPr>
        <p:spPr>
          <a:xfrm>
            <a:off x="6543556" y="10321827"/>
            <a:ext cx="585914" cy="14859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707480"/>
                </a:solidFill>
                <a:latin typeface="Arial"/>
              </a:rPr>
              <a:t>Page 2 of 2</a:t>
            </a:r>
            <a:endParaRPr lang="en-US" sz="1100"/>
          </a:p>
        </p:txBody>
      </p:sp>
      <p:cxnSp>
        <p:nvCxnSpPr>
          <p:cNvPr name="GraphCompose Footer Separator" id="449"/>
          <p:cNvCxnSpPr/>
          <p:nvPr/>
        </p:nvCxnSpPr>
        <p:spPr>
          <a:xfrm>
            <a:off x="431800" y="10311000"/>
            <a:ext cx="6696401" cy="0"/>
          </a:xfrm>
          <a:prstGeom prst="line">
            <a:avLst/>
          </a:prstGeom>
          <a:ln w="6350">
            <a:solidFill>
              <a:srgbClr val="D4C8B2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GraphCompose Examples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creator>Jordan Rivera</dc:creator>
  <cp:keywords>graphcompose, showcase, business, theme, rich-text, table, shape, transform, barcode</cp:keywords>
  <dcterms:modified xsi:type="dcterms:W3CDTF">2011-08-01T06:04:30Z</dcterms:modified>
  <cp:revision>1</cp:revision>
  <dc:subject>Comprehensive end-to-end demo of the canonical document surface</dc:subject>
  <dc:title>GraphCompose master showcase</dc:title>
</cp:coreProperties>
</file>