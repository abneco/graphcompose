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2192000" cy="6858000"/>
  <p:notesSz cx="6858000" cy="9144000"/>
  <p:embeddedFontLst>
    <p:embeddedFont>
      <p:font typeface="Amiri"/>
      <p:regular r:id="rId11"/>
    </p:embeddedFont>
    <p:embeddedFont>
      <p:font typeface="David Libre"/>
      <p:regular r:id="rId12"/>
    </p:embeddedFont>
    <p:embeddedFont>
      <p:font typeface="Noto Sans Georgian"/>
      <p:regular r:id="rId13"/>
    </p:embeddedFont>
    <p:embeddedFont>
      <p:font typeface="Noto Sans Armenian"/>
      <p:regular r:id="rId14"/>
    </p:embeddedFont>
    <p:embeddedFont>
      <p:font typeface="Gothic A1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.fntdata" Type="http://schemas.openxmlformats.org/officeDocument/2006/relationships/font"/><Relationship Id="rId12" Target="fonts/font2.fntdata" Type="http://schemas.openxmlformats.org/officeDocument/2006/relationships/font"/><Relationship Id="rId13" Target="fonts/font3.fntdata" Type="http://schemas.openxmlformats.org/officeDocument/2006/relationships/font"/><Relationship Id="rId14" Target="fonts/font4.fntdata" Type="http://schemas.openxmlformats.org/officeDocument/2006/relationships/font"/><Relationship Id="rId15" Target="fonts/font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21"/>
          </a:solidFill>
          <a:ln>
            <a:noFill/>
          </a:ln>
        </p:spPr>
      </p:sp>
      <p:sp>
        <p:nvSpPr>
          <p:cNvPr name="AutoShape 3" id="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D1121"/>
              </a:gs>
              <a:gs pos="60000">
                <a:srgbClr val="0F1427"/>
              </a:gs>
              <a:gs pos="100000">
                <a:srgbClr val="12172C"/>
              </a:gs>
            </a:gsLst>
            <a:lin ang="20520000"/>
          </a:gradFill>
          <a:ln>
            <a:noFill/>
          </a:ln>
        </p:spPr>
      </p:sp>
      <p:sp>
        <p:nvSpPr>
          <p:cNvPr name="AutoShape 4" id="4"/>
          <p:cNvSpPr/>
          <p:nvPr/>
        </p:nvSpPr>
        <p:spPr>
          <a:xfrm>
            <a:off x="8763000" y="-1524000"/>
            <a:ext cx="4572000" cy="4572000"/>
          </a:xfrm>
          <a:prstGeom prst="ellipse">
            <a:avLst/>
          </a:prstGeom>
          <a:solidFill>
            <a:srgbClr val="E9972D">
              <a:alpha val="5882"/>
            </a:srgbClr>
          </a:solidFill>
          <a:ln>
            <a:noFill/>
          </a:ln>
        </p:spPr>
      </p:sp>
      <p:sp>
        <p:nvSpPr>
          <p:cNvPr name="AutoShape 5" id="5"/>
          <p:cNvSpPr/>
          <p:nvPr/>
        </p:nvSpPr>
        <p:spPr>
          <a:xfrm>
            <a:off x="6553200" y="99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6" id="6"/>
          <p:cNvSpPr/>
          <p:nvPr/>
        </p:nvSpPr>
        <p:spPr>
          <a:xfrm>
            <a:off x="6553200" y="1371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7" id="7"/>
          <p:cNvSpPr/>
          <p:nvPr/>
        </p:nvSpPr>
        <p:spPr>
          <a:xfrm>
            <a:off x="6553200" y="1752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8" id="8"/>
          <p:cNvSpPr/>
          <p:nvPr/>
        </p:nvSpPr>
        <p:spPr>
          <a:xfrm>
            <a:off x="6553200" y="2133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9" id="9"/>
          <p:cNvSpPr/>
          <p:nvPr/>
        </p:nvSpPr>
        <p:spPr>
          <a:xfrm>
            <a:off x="6553200" y="2514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0" id="10"/>
          <p:cNvSpPr/>
          <p:nvPr/>
        </p:nvSpPr>
        <p:spPr>
          <a:xfrm>
            <a:off x="6553200" y="2895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1" id="11"/>
          <p:cNvSpPr/>
          <p:nvPr/>
        </p:nvSpPr>
        <p:spPr>
          <a:xfrm>
            <a:off x="6553200" y="3276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2" id="12"/>
          <p:cNvSpPr/>
          <p:nvPr/>
        </p:nvSpPr>
        <p:spPr>
          <a:xfrm>
            <a:off x="6553200" y="3657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3" id="13"/>
          <p:cNvSpPr/>
          <p:nvPr/>
        </p:nvSpPr>
        <p:spPr>
          <a:xfrm>
            <a:off x="6553200" y="4038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4" id="14"/>
          <p:cNvSpPr/>
          <p:nvPr/>
        </p:nvSpPr>
        <p:spPr>
          <a:xfrm>
            <a:off x="6553200" y="4419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5" id="15"/>
          <p:cNvSpPr/>
          <p:nvPr/>
        </p:nvSpPr>
        <p:spPr>
          <a:xfrm>
            <a:off x="6553200" y="480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6" id="16"/>
          <p:cNvSpPr/>
          <p:nvPr/>
        </p:nvSpPr>
        <p:spPr>
          <a:xfrm>
            <a:off x="6934200" y="99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7" id="17"/>
          <p:cNvSpPr/>
          <p:nvPr/>
        </p:nvSpPr>
        <p:spPr>
          <a:xfrm>
            <a:off x="6934200" y="1371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8" id="18"/>
          <p:cNvSpPr/>
          <p:nvPr/>
        </p:nvSpPr>
        <p:spPr>
          <a:xfrm>
            <a:off x="6934200" y="1752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9" id="19"/>
          <p:cNvSpPr/>
          <p:nvPr/>
        </p:nvSpPr>
        <p:spPr>
          <a:xfrm>
            <a:off x="6934200" y="2133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20" id="20"/>
          <p:cNvSpPr/>
          <p:nvPr/>
        </p:nvSpPr>
        <p:spPr>
          <a:xfrm>
            <a:off x="6934200" y="2514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21" id="21"/>
          <p:cNvSpPr/>
          <p:nvPr/>
        </p:nvSpPr>
        <p:spPr>
          <a:xfrm>
            <a:off x="6934200" y="2895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22" id="22"/>
          <p:cNvSpPr/>
          <p:nvPr/>
        </p:nvSpPr>
        <p:spPr>
          <a:xfrm>
            <a:off x="6934200" y="3276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23" id="23"/>
          <p:cNvSpPr/>
          <p:nvPr/>
        </p:nvSpPr>
        <p:spPr>
          <a:xfrm>
            <a:off x="6934200" y="3657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24" id="24"/>
          <p:cNvSpPr/>
          <p:nvPr/>
        </p:nvSpPr>
        <p:spPr>
          <a:xfrm>
            <a:off x="6934200" y="4038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25" id="25"/>
          <p:cNvSpPr/>
          <p:nvPr/>
        </p:nvSpPr>
        <p:spPr>
          <a:xfrm>
            <a:off x="6934200" y="4419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26" id="26"/>
          <p:cNvSpPr/>
          <p:nvPr/>
        </p:nvSpPr>
        <p:spPr>
          <a:xfrm>
            <a:off x="6934200" y="480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27" id="27"/>
          <p:cNvSpPr/>
          <p:nvPr/>
        </p:nvSpPr>
        <p:spPr>
          <a:xfrm>
            <a:off x="7315200" y="99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28" id="28"/>
          <p:cNvSpPr/>
          <p:nvPr/>
        </p:nvSpPr>
        <p:spPr>
          <a:xfrm>
            <a:off x="7315200" y="1371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29" id="29"/>
          <p:cNvSpPr/>
          <p:nvPr/>
        </p:nvSpPr>
        <p:spPr>
          <a:xfrm>
            <a:off x="7315200" y="1752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30" id="30"/>
          <p:cNvSpPr/>
          <p:nvPr/>
        </p:nvSpPr>
        <p:spPr>
          <a:xfrm>
            <a:off x="7315200" y="2133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31" id="31"/>
          <p:cNvSpPr/>
          <p:nvPr/>
        </p:nvSpPr>
        <p:spPr>
          <a:xfrm>
            <a:off x="7315200" y="2514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32" id="32"/>
          <p:cNvSpPr/>
          <p:nvPr/>
        </p:nvSpPr>
        <p:spPr>
          <a:xfrm>
            <a:off x="7315200" y="2895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33" id="33"/>
          <p:cNvSpPr/>
          <p:nvPr/>
        </p:nvSpPr>
        <p:spPr>
          <a:xfrm>
            <a:off x="7315200" y="3276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34" id="34"/>
          <p:cNvSpPr/>
          <p:nvPr/>
        </p:nvSpPr>
        <p:spPr>
          <a:xfrm>
            <a:off x="7315200" y="3657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35" id="35"/>
          <p:cNvSpPr/>
          <p:nvPr/>
        </p:nvSpPr>
        <p:spPr>
          <a:xfrm>
            <a:off x="7315200" y="4038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36" id="36"/>
          <p:cNvSpPr/>
          <p:nvPr/>
        </p:nvSpPr>
        <p:spPr>
          <a:xfrm>
            <a:off x="7315200" y="4419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37" id="37"/>
          <p:cNvSpPr/>
          <p:nvPr/>
        </p:nvSpPr>
        <p:spPr>
          <a:xfrm>
            <a:off x="7315200" y="480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38" id="38"/>
          <p:cNvSpPr/>
          <p:nvPr/>
        </p:nvSpPr>
        <p:spPr>
          <a:xfrm>
            <a:off x="7696200" y="99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39" id="39"/>
          <p:cNvSpPr/>
          <p:nvPr/>
        </p:nvSpPr>
        <p:spPr>
          <a:xfrm>
            <a:off x="7696200" y="1371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40" id="40"/>
          <p:cNvSpPr/>
          <p:nvPr/>
        </p:nvSpPr>
        <p:spPr>
          <a:xfrm>
            <a:off x="7696200" y="1752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41" id="41"/>
          <p:cNvSpPr/>
          <p:nvPr/>
        </p:nvSpPr>
        <p:spPr>
          <a:xfrm>
            <a:off x="7696200" y="2133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42" id="42"/>
          <p:cNvSpPr/>
          <p:nvPr/>
        </p:nvSpPr>
        <p:spPr>
          <a:xfrm>
            <a:off x="7696200" y="2514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43" id="43"/>
          <p:cNvSpPr/>
          <p:nvPr/>
        </p:nvSpPr>
        <p:spPr>
          <a:xfrm>
            <a:off x="7696200" y="2895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44" id="44"/>
          <p:cNvSpPr/>
          <p:nvPr/>
        </p:nvSpPr>
        <p:spPr>
          <a:xfrm>
            <a:off x="7696200" y="3276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45" id="45"/>
          <p:cNvSpPr/>
          <p:nvPr/>
        </p:nvSpPr>
        <p:spPr>
          <a:xfrm>
            <a:off x="7696200" y="3657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46" id="46"/>
          <p:cNvSpPr/>
          <p:nvPr/>
        </p:nvSpPr>
        <p:spPr>
          <a:xfrm>
            <a:off x="7696200" y="4038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47" id="47"/>
          <p:cNvSpPr/>
          <p:nvPr/>
        </p:nvSpPr>
        <p:spPr>
          <a:xfrm>
            <a:off x="7696200" y="4419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48" id="48"/>
          <p:cNvSpPr/>
          <p:nvPr/>
        </p:nvSpPr>
        <p:spPr>
          <a:xfrm>
            <a:off x="7696200" y="480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49" id="49"/>
          <p:cNvSpPr/>
          <p:nvPr/>
        </p:nvSpPr>
        <p:spPr>
          <a:xfrm>
            <a:off x="8077200" y="99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50" id="50"/>
          <p:cNvSpPr/>
          <p:nvPr/>
        </p:nvSpPr>
        <p:spPr>
          <a:xfrm>
            <a:off x="8077200" y="1371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51" id="51"/>
          <p:cNvSpPr/>
          <p:nvPr/>
        </p:nvSpPr>
        <p:spPr>
          <a:xfrm>
            <a:off x="8077200" y="1752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52" id="52"/>
          <p:cNvSpPr/>
          <p:nvPr/>
        </p:nvSpPr>
        <p:spPr>
          <a:xfrm>
            <a:off x="8077200" y="2133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53" id="53"/>
          <p:cNvSpPr/>
          <p:nvPr/>
        </p:nvSpPr>
        <p:spPr>
          <a:xfrm>
            <a:off x="8077200" y="2514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54" id="54"/>
          <p:cNvSpPr/>
          <p:nvPr/>
        </p:nvSpPr>
        <p:spPr>
          <a:xfrm>
            <a:off x="8077200" y="2895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55" id="55"/>
          <p:cNvSpPr/>
          <p:nvPr/>
        </p:nvSpPr>
        <p:spPr>
          <a:xfrm>
            <a:off x="8077200" y="3276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56" id="56"/>
          <p:cNvSpPr/>
          <p:nvPr/>
        </p:nvSpPr>
        <p:spPr>
          <a:xfrm>
            <a:off x="8077200" y="3657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57" id="57"/>
          <p:cNvSpPr/>
          <p:nvPr/>
        </p:nvSpPr>
        <p:spPr>
          <a:xfrm>
            <a:off x="8077200" y="4038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58" id="58"/>
          <p:cNvSpPr/>
          <p:nvPr/>
        </p:nvSpPr>
        <p:spPr>
          <a:xfrm>
            <a:off x="8077200" y="4419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59" id="59"/>
          <p:cNvSpPr/>
          <p:nvPr/>
        </p:nvSpPr>
        <p:spPr>
          <a:xfrm>
            <a:off x="8077200" y="480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60" id="60"/>
          <p:cNvSpPr/>
          <p:nvPr/>
        </p:nvSpPr>
        <p:spPr>
          <a:xfrm>
            <a:off x="8458200" y="99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61" id="61"/>
          <p:cNvSpPr/>
          <p:nvPr/>
        </p:nvSpPr>
        <p:spPr>
          <a:xfrm>
            <a:off x="8458200" y="1371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62" id="62"/>
          <p:cNvSpPr/>
          <p:nvPr/>
        </p:nvSpPr>
        <p:spPr>
          <a:xfrm>
            <a:off x="8458200" y="1752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63" id="63"/>
          <p:cNvSpPr/>
          <p:nvPr/>
        </p:nvSpPr>
        <p:spPr>
          <a:xfrm>
            <a:off x="8458200" y="2133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64" id="64"/>
          <p:cNvSpPr/>
          <p:nvPr/>
        </p:nvSpPr>
        <p:spPr>
          <a:xfrm>
            <a:off x="8458200" y="2514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65" id="65"/>
          <p:cNvSpPr/>
          <p:nvPr/>
        </p:nvSpPr>
        <p:spPr>
          <a:xfrm>
            <a:off x="8458200" y="2895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66" id="66"/>
          <p:cNvSpPr/>
          <p:nvPr/>
        </p:nvSpPr>
        <p:spPr>
          <a:xfrm>
            <a:off x="8458200" y="3276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67" id="67"/>
          <p:cNvSpPr/>
          <p:nvPr/>
        </p:nvSpPr>
        <p:spPr>
          <a:xfrm>
            <a:off x="8458200" y="3657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68" id="68"/>
          <p:cNvSpPr/>
          <p:nvPr/>
        </p:nvSpPr>
        <p:spPr>
          <a:xfrm>
            <a:off x="8458200" y="4038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69" id="69"/>
          <p:cNvSpPr/>
          <p:nvPr/>
        </p:nvSpPr>
        <p:spPr>
          <a:xfrm>
            <a:off x="8458200" y="4419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70" id="70"/>
          <p:cNvSpPr/>
          <p:nvPr/>
        </p:nvSpPr>
        <p:spPr>
          <a:xfrm>
            <a:off x="8458200" y="480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71" id="71"/>
          <p:cNvSpPr/>
          <p:nvPr/>
        </p:nvSpPr>
        <p:spPr>
          <a:xfrm>
            <a:off x="8839200" y="99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72" id="72"/>
          <p:cNvSpPr/>
          <p:nvPr/>
        </p:nvSpPr>
        <p:spPr>
          <a:xfrm>
            <a:off x="8839200" y="1371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73" id="73"/>
          <p:cNvSpPr/>
          <p:nvPr/>
        </p:nvSpPr>
        <p:spPr>
          <a:xfrm>
            <a:off x="8839200" y="1752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74" id="74"/>
          <p:cNvSpPr/>
          <p:nvPr/>
        </p:nvSpPr>
        <p:spPr>
          <a:xfrm>
            <a:off x="8839200" y="2133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75" id="75"/>
          <p:cNvSpPr/>
          <p:nvPr/>
        </p:nvSpPr>
        <p:spPr>
          <a:xfrm>
            <a:off x="8839200" y="2514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76" id="76"/>
          <p:cNvSpPr/>
          <p:nvPr/>
        </p:nvSpPr>
        <p:spPr>
          <a:xfrm>
            <a:off x="8839200" y="2895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77" id="77"/>
          <p:cNvSpPr/>
          <p:nvPr/>
        </p:nvSpPr>
        <p:spPr>
          <a:xfrm>
            <a:off x="8839200" y="3276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78" id="78"/>
          <p:cNvSpPr/>
          <p:nvPr/>
        </p:nvSpPr>
        <p:spPr>
          <a:xfrm>
            <a:off x="8839200" y="3657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79" id="79"/>
          <p:cNvSpPr/>
          <p:nvPr/>
        </p:nvSpPr>
        <p:spPr>
          <a:xfrm>
            <a:off x="8839200" y="4038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80" id="80"/>
          <p:cNvSpPr/>
          <p:nvPr/>
        </p:nvSpPr>
        <p:spPr>
          <a:xfrm>
            <a:off x="8839200" y="4419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81" id="81"/>
          <p:cNvSpPr/>
          <p:nvPr/>
        </p:nvSpPr>
        <p:spPr>
          <a:xfrm>
            <a:off x="8839200" y="480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82" id="82"/>
          <p:cNvSpPr/>
          <p:nvPr/>
        </p:nvSpPr>
        <p:spPr>
          <a:xfrm>
            <a:off x="9220200" y="99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83" id="83"/>
          <p:cNvSpPr/>
          <p:nvPr/>
        </p:nvSpPr>
        <p:spPr>
          <a:xfrm>
            <a:off x="9220200" y="1371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84" id="84"/>
          <p:cNvSpPr/>
          <p:nvPr/>
        </p:nvSpPr>
        <p:spPr>
          <a:xfrm>
            <a:off x="9220200" y="1752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85" id="85"/>
          <p:cNvSpPr/>
          <p:nvPr/>
        </p:nvSpPr>
        <p:spPr>
          <a:xfrm>
            <a:off x="9220200" y="2133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86" id="86"/>
          <p:cNvSpPr/>
          <p:nvPr/>
        </p:nvSpPr>
        <p:spPr>
          <a:xfrm>
            <a:off x="9220200" y="2514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87" id="87"/>
          <p:cNvSpPr/>
          <p:nvPr/>
        </p:nvSpPr>
        <p:spPr>
          <a:xfrm>
            <a:off x="9220200" y="2895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88" id="88"/>
          <p:cNvSpPr/>
          <p:nvPr/>
        </p:nvSpPr>
        <p:spPr>
          <a:xfrm>
            <a:off x="9220200" y="3276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89" id="89"/>
          <p:cNvSpPr/>
          <p:nvPr/>
        </p:nvSpPr>
        <p:spPr>
          <a:xfrm>
            <a:off x="9220200" y="3657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90" id="90"/>
          <p:cNvSpPr/>
          <p:nvPr/>
        </p:nvSpPr>
        <p:spPr>
          <a:xfrm>
            <a:off x="9220200" y="4038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91" id="91"/>
          <p:cNvSpPr/>
          <p:nvPr/>
        </p:nvSpPr>
        <p:spPr>
          <a:xfrm>
            <a:off x="9220200" y="4419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92" id="92"/>
          <p:cNvSpPr/>
          <p:nvPr/>
        </p:nvSpPr>
        <p:spPr>
          <a:xfrm>
            <a:off x="9220200" y="480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93" id="93"/>
          <p:cNvSpPr/>
          <p:nvPr/>
        </p:nvSpPr>
        <p:spPr>
          <a:xfrm>
            <a:off x="9601200" y="99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94" id="94"/>
          <p:cNvSpPr/>
          <p:nvPr/>
        </p:nvSpPr>
        <p:spPr>
          <a:xfrm>
            <a:off x="9601200" y="1371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95" id="95"/>
          <p:cNvSpPr/>
          <p:nvPr/>
        </p:nvSpPr>
        <p:spPr>
          <a:xfrm>
            <a:off x="9601200" y="1752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96" id="96"/>
          <p:cNvSpPr/>
          <p:nvPr/>
        </p:nvSpPr>
        <p:spPr>
          <a:xfrm>
            <a:off x="9601200" y="2133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97" id="97"/>
          <p:cNvSpPr/>
          <p:nvPr/>
        </p:nvSpPr>
        <p:spPr>
          <a:xfrm>
            <a:off x="9601200" y="2514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98" id="98"/>
          <p:cNvSpPr/>
          <p:nvPr/>
        </p:nvSpPr>
        <p:spPr>
          <a:xfrm>
            <a:off x="9601200" y="2895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99" id="99"/>
          <p:cNvSpPr/>
          <p:nvPr/>
        </p:nvSpPr>
        <p:spPr>
          <a:xfrm>
            <a:off x="9601200" y="3276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00" id="100"/>
          <p:cNvSpPr/>
          <p:nvPr/>
        </p:nvSpPr>
        <p:spPr>
          <a:xfrm>
            <a:off x="9601200" y="3657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01" id="101"/>
          <p:cNvSpPr/>
          <p:nvPr/>
        </p:nvSpPr>
        <p:spPr>
          <a:xfrm>
            <a:off x="9601200" y="4038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02" id="102"/>
          <p:cNvSpPr/>
          <p:nvPr/>
        </p:nvSpPr>
        <p:spPr>
          <a:xfrm>
            <a:off x="9601200" y="4419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03" id="103"/>
          <p:cNvSpPr/>
          <p:nvPr/>
        </p:nvSpPr>
        <p:spPr>
          <a:xfrm>
            <a:off x="9601200" y="480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04" id="104"/>
          <p:cNvSpPr/>
          <p:nvPr/>
        </p:nvSpPr>
        <p:spPr>
          <a:xfrm>
            <a:off x="9982200" y="99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05" id="105"/>
          <p:cNvSpPr/>
          <p:nvPr/>
        </p:nvSpPr>
        <p:spPr>
          <a:xfrm>
            <a:off x="9982200" y="1371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06" id="106"/>
          <p:cNvSpPr/>
          <p:nvPr/>
        </p:nvSpPr>
        <p:spPr>
          <a:xfrm>
            <a:off x="9982200" y="1752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07" id="107"/>
          <p:cNvSpPr/>
          <p:nvPr/>
        </p:nvSpPr>
        <p:spPr>
          <a:xfrm>
            <a:off x="9982200" y="2133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08" id="108"/>
          <p:cNvSpPr/>
          <p:nvPr/>
        </p:nvSpPr>
        <p:spPr>
          <a:xfrm>
            <a:off x="9982200" y="2514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09" id="109"/>
          <p:cNvSpPr/>
          <p:nvPr/>
        </p:nvSpPr>
        <p:spPr>
          <a:xfrm>
            <a:off x="9982200" y="2895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10" id="110"/>
          <p:cNvSpPr/>
          <p:nvPr/>
        </p:nvSpPr>
        <p:spPr>
          <a:xfrm>
            <a:off x="9982200" y="3276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11" id="111"/>
          <p:cNvSpPr/>
          <p:nvPr/>
        </p:nvSpPr>
        <p:spPr>
          <a:xfrm>
            <a:off x="9982200" y="3657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12" id="112"/>
          <p:cNvSpPr/>
          <p:nvPr/>
        </p:nvSpPr>
        <p:spPr>
          <a:xfrm>
            <a:off x="9982200" y="4038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13" id="113"/>
          <p:cNvSpPr/>
          <p:nvPr/>
        </p:nvSpPr>
        <p:spPr>
          <a:xfrm>
            <a:off x="9982200" y="4419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14" id="114"/>
          <p:cNvSpPr/>
          <p:nvPr/>
        </p:nvSpPr>
        <p:spPr>
          <a:xfrm>
            <a:off x="9982200" y="480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15" id="115"/>
          <p:cNvSpPr/>
          <p:nvPr/>
        </p:nvSpPr>
        <p:spPr>
          <a:xfrm>
            <a:off x="10363200" y="99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16" id="116"/>
          <p:cNvSpPr/>
          <p:nvPr/>
        </p:nvSpPr>
        <p:spPr>
          <a:xfrm>
            <a:off x="10363200" y="1371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17" id="117"/>
          <p:cNvSpPr/>
          <p:nvPr/>
        </p:nvSpPr>
        <p:spPr>
          <a:xfrm>
            <a:off x="10363200" y="1752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18" id="118"/>
          <p:cNvSpPr/>
          <p:nvPr/>
        </p:nvSpPr>
        <p:spPr>
          <a:xfrm>
            <a:off x="10363200" y="2133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19" id="119"/>
          <p:cNvSpPr/>
          <p:nvPr/>
        </p:nvSpPr>
        <p:spPr>
          <a:xfrm>
            <a:off x="10363200" y="2514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20" id="120"/>
          <p:cNvSpPr/>
          <p:nvPr/>
        </p:nvSpPr>
        <p:spPr>
          <a:xfrm>
            <a:off x="10363200" y="2895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21" id="121"/>
          <p:cNvSpPr/>
          <p:nvPr/>
        </p:nvSpPr>
        <p:spPr>
          <a:xfrm>
            <a:off x="10363200" y="3276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22" id="122"/>
          <p:cNvSpPr/>
          <p:nvPr/>
        </p:nvSpPr>
        <p:spPr>
          <a:xfrm>
            <a:off x="10363200" y="3657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23" id="123"/>
          <p:cNvSpPr/>
          <p:nvPr/>
        </p:nvSpPr>
        <p:spPr>
          <a:xfrm>
            <a:off x="10363200" y="4038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24" id="124"/>
          <p:cNvSpPr/>
          <p:nvPr/>
        </p:nvSpPr>
        <p:spPr>
          <a:xfrm>
            <a:off x="10363200" y="4419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25" id="125"/>
          <p:cNvSpPr/>
          <p:nvPr/>
        </p:nvSpPr>
        <p:spPr>
          <a:xfrm>
            <a:off x="10363200" y="480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26" id="126"/>
          <p:cNvSpPr/>
          <p:nvPr/>
        </p:nvSpPr>
        <p:spPr>
          <a:xfrm>
            <a:off x="10744200" y="99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27" id="127"/>
          <p:cNvSpPr/>
          <p:nvPr/>
        </p:nvSpPr>
        <p:spPr>
          <a:xfrm>
            <a:off x="10744200" y="1371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28" id="128"/>
          <p:cNvSpPr/>
          <p:nvPr/>
        </p:nvSpPr>
        <p:spPr>
          <a:xfrm>
            <a:off x="10744200" y="1752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29" id="129"/>
          <p:cNvSpPr/>
          <p:nvPr/>
        </p:nvSpPr>
        <p:spPr>
          <a:xfrm>
            <a:off x="10744200" y="2133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30" id="130"/>
          <p:cNvSpPr/>
          <p:nvPr/>
        </p:nvSpPr>
        <p:spPr>
          <a:xfrm>
            <a:off x="10744200" y="2514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31" id="131"/>
          <p:cNvSpPr/>
          <p:nvPr/>
        </p:nvSpPr>
        <p:spPr>
          <a:xfrm>
            <a:off x="10744200" y="2895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32" id="132"/>
          <p:cNvSpPr/>
          <p:nvPr/>
        </p:nvSpPr>
        <p:spPr>
          <a:xfrm>
            <a:off x="10744200" y="3276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33" id="133"/>
          <p:cNvSpPr/>
          <p:nvPr/>
        </p:nvSpPr>
        <p:spPr>
          <a:xfrm>
            <a:off x="10744200" y="3657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34" id="134"/>
          <p:cNvSpPr/>
          <p:nvPr/>
        </p:nvSpPr>
        <p:spPr>
          <a:xfrm>
            <a:off x="10744200" y="4038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35" id="135"/>
          <p:cNvSpPr/>
          <p:nvPr/>
        </p:nvSpPr>
        <p:spPr>
          <a:xfrm>
            <a:off x="10744200" y="4419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36" id="136"/>
          <p:cNvSpPr/>
          <p:nvPr/>
        </p:nvSpPr>
        <p:spPr>
          <a:xfrm>
            <a:off x="10744200" y="480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37" id="137"/>
          <p:cNvSpPr/>
          <p:nvPr/>
        </p:nvSpPr>
        <p:spPr>
          <a:xfrm>
            <a:off x="11125200" y="99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38" id="138"/>
          <p:cNvSpPr/>
          <p:nvPr/>
        </p:nvSpPr>
        <p:spPr>
          <a:xfrm>
            <a:off x="11125200" y="1371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39" id="139"/>
          <p:cNvSpPr/>
          <p:nvPr/>
        </p:nvSpPr>
        <p:spPr>
          <a:xfrm>
            <a:off x="11125200" y="1752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40" id="140"/>
          <p:cNvSpPr/>
          <p:nvPr/>
        </p:nvSpPr>
        <p:spPr>
          <a:xfrm>
            <a:off x="11125200" y="2133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41" id="141"/>
          <p:cNvSpPr/>
          <p:nvPr/>
        </p:nvSpPr>
        <p:spPr>
          <a:xfrm>
            <a:off x="11125200" y="2514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42" id="142"/>
          <p:cNvSpPr/>
          <p:nvPr/>
        </p:nvSpPr>
        <p:spPr>
          <a:xfrm>
            <a:off x="11125200" y="2895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43" id="143"/>
          <p:cNvSpPr/>
          <p:nvPr/>
        </p:nvSpPr>
        <p:spPr>
          <a:xfrm>
            <a:off x="11125200" y="3276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44" id="144"/>
          <p:cNvSpPr/>
          <p:nvPr/>
        </p:nvSpPr>
        <p:spPr>
          <a:xfrm>
            <a:off x="11125200" y="3657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45" id="145"/>
          <p:cNvSpPr/>
          <p:nvPr/>
        </p:nvSpPr>
        <p:spPr>
          <a:xfrm>
            <a:off x="11125200" y="4038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46" id="146"/>
          <p:cNvSpPr/>
          <p:nvPr/>
        </p:nvSpPr>
        <p:spPr>
          <a:xfrm>
            <a:off x="11125200" y="4419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47" id="147"/>
          <p:cNvSpPr/>
          <p:nvPr/>
        </p:nvSpPr>
        <p:spPr>
          <a:xfrm>
            <a:off x="11125200" y="480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48" id="148"/>
          <p:cNvSpPr/>
          <p:nvPr/>
        </p:nvSpPr>
        <p:spPr>
          <a:xfrm>
            <a:off x="11506200" y="99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49" id="149"/>
          <p:cNvSpPr/>
          <p:nvPr/>
        </p:nvSpPr>
        <p:spPr>
          <a:xfrm>
            <a:off x="11506200" y="1371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50" id="150"/>
          <p:cNvSpPr/>
          <p:nvPr/>
        </p:nvSpPr>
        <p:spPr>
          <a:xfrm>
            <a:off x="11506200" y="1752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51" id="151"/>
          <p:cNvSpPr/>
          <p:nvPr/>
        </p:nvSpPr>
        <p:spPr>
          <a:xfrm>
            <a:off x="11506200" y="2133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52" id="152"/>
          <p:cNvSpPr/>
          <p:nvPr/>
        </p:nvSpPr>
        <p:spPr>
          <a:xfrm>
            <a:off x="11506200" y="2514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53" id="153"/>
          <p:cNvSpPr/>
          <p:nvPr/>
        </p:nvSpPr>
        <p:spPr>
          <a:xfrm>
            <a:off x="11506200" y="2895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54" id="154"/>
          <p:cNvSpPr/>
          <p:nvPr/>
        </p:nvSpPr>
        <p:spPr>
          <a:xfrm>
            <a:off x="11506200" y="3276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55" id="155"/>
          <p:cNvSpPr/>
          <p:nvPr/>
        </p:nvSpPr>
        <p:spPr>
          <a:xfrm>
            <a:off x="11506200" y="3657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56" id="156"/>
          <p:cNvSpPr/>
          <p:nvPr/>
        </p:nvSpPr>
        <p:spPr>
          <a:xfrm>
            <a:off x="11506200" y="4038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57" id="157"/>
          <p:cNvSpPr/>
          <p:nvPr/>
        </p:nvSpPr>
        <p:spPr>
          <a:xfrm>
            <a:off x="11506200" y="4419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58" id="158"/>
          <p:cNvSpPr/>
          <p:nvPr/>
        </p:nvSpPr>
        <p:spPr>
          <a:xfrm>
            <a:off x="11506200" y="480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59" id="159"/>
          <p:cNvSpPr/>
          <p:nvPr/>
        </p:nvSpPr>
        <p:spPr>
          <a:xfrm>
            <a:off x="11455400" y="279400"/>
            <a:ext cx="533400" cy="53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name="AutoShape 160" id="160"/>
          <p:cNvSpPr/>
          <p:nvPr/>
        </p:nvSpPr>
        <p:spPr>
          <a:xfrm>
            <a:off x="11455400" y="279400"/>
            <a:ext cx="533400" cy="25400"/>
          </a:xfrm>
          <a:prstGeom prst="rect">
            <a:avLst/>
          </a:prstGeom>
          <a:solidFill>
            <a:srgbClr val="4E5876"/>
          </a:solidFill>
          <a:ln>
            <a:noFill/>
          </a:ln>
        </p:spPr>
      </p:sp>
      <p:sp>
        <p:nvSpPr>
          <p:cNvPr name="AutoShape 161" id="161"/>
          <p:cNvSpPr/>
          <p:nvPr/>
        </p:nvSpPr>
        <p:spPr>
          <a:xfrm>
            <a:off x="11963400" y="279400"/>
            <a:ext cx="25400" cy="533400"/>
          </a:xfrm>
          <a:prstGeom prst="rect">
            <a:avLst/>
          </a:prstGeom>
          <a:solidFill>
            <a:srgbClr val="4E5876"/>
          </a:solidFill>
          <a:ln>
            <a:noFill/>
          </a:ln>
        </p:spPr>
      </p:sp>
      <p:sp>
        <p:nvSpPr>
          <p:cNvPr name="AutoShape 162" id="162"/>
          <p:cNvSpPr/>
          <p:nvPr/>
        </p:nvSpPr>
        <p:spPr>
          <a:xfrm>
            <a:off x="279400" y="6045200"/>
            <a:ext cx="533400" cy="53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name="AutoShape 163" id="163"/>
          <p:cNvSpPr/>
          <p:nvPr/>
        </p:nvSpPr>
        <p:spPr>
          <a:xfrm>
            <a:off x="279400" y="6553200"/>
            <a:ext cx="533400" cy="25400"/>
          </a:xfrm>
          <a:prstGeom prst="rect">
            <a:avLst/>
          </a:prstGeom>
          <a:solidFill>
            <a:srgbClr val="4E5876"/>
          </a:solidFill>
          <a:ln>
            <a:noFill/>
          </a:ln>
        </p:spPr>
      </p:sp>
      <p:sp>
        <p:nvSpPr>
          <p:cNvPr name="AutoShape 164" id="164"/>
          <p:cNvSpPr/>
          <p:nvPr/>
        </p:nvSpPr>
        <p:spPr>
          <a:xfrm>
            <a:off x="279400" y="6045200"/>
            <a:ext cx="25400" cy="533400"/>
          </a:xfrm>
          <a:prstGeom prst="rect">
            <a:avLst/>
          </a:prstGeom>
          <a:solidFill>
            <a:srgbClr val="4E5876"/>
          </a:solidFill>
          <a:ln>
            <a:noFill/>
          </a:ln>
        </p:spPr>
      </p:sp>
      <p:sp>
        <p:nvSpPr>
          <p:cNvPr name="AutoShape 165" id="165"/>
          <p:cNvSpPr/>
          <p:nvPr/>
        </p:nvSpPr>
        <p:spPr>
          <a:xfrm>
            <a:off x="660400" y="584200"/>
            <a:ext cx="3098800" cy="431800"/>
          </a:xfrm>
          <a:prstGeom prst="roundRect">
            <a:avLst>
              <a:gd name="adj" fmla="val 50000"/>
            </a:avLst>
          </a:prstGeom>
          <a:solidFill>
            <a:srgbClr val="141A2F"/>
          </a:solidFill>
          <a:ln w="12700">
            <a:solidFill>
              <a:srgbClr val="E9972D">
                <a:alpha val="50196"/>
              </a:srgbClr>
            </a:solidFill>
          </a:ln>
        </p:spPr>
      </p:sp>
      <p:sp>
        <p:nvSpPr>
          <p:cNvPr name="AutoShape 166" id="166"/>
          <p:cNvSpPr/>
          <p:nvPr/>
        </p:nvSpPr>
        <p:spPr>
          <a:xfrm>
            <a:off x="762000" y="673100"/>
            <a:ext cx="254000" cy="254000"/>
          </a:xfrm>
          <a:prstGeom prst="roundRect">
            <a:avLst>
              <a:gd name="adj" fmla="val 30000"/>
            </a:avLst>
          </a:prstGeom>
          <a:solidFill>
            <a:srgbClr val="E9972D"/>
          </a:solidFill>
          <a:ln>
            <a:noFill/>
          </a:ln>
        </p:spPr>
      </p:sp>
      <p:pic>
        <p:nvPicPr>
          <p:cNvPr name="GraphCompose Clipped Composite" id="167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50" y="704850"/>
            <a:ext cx="190500" cy="190500"/>
          </a:xfrm>
          <a:prstGeom prst="rect">
            <a:avLst/>
          </a:prstGeom>
        </p:spPr>
      </p:pic>
      <p:sp>
        <p:nvSpPr>
          <p:cNvPr name="GraphCompose Text Line" id="168"/>
          <p:cNvSpPr txBox="true"/>
          <p:nvPr/>
        </p:nvSpPr>
        <p:spPr>
          <a:xfrm>
            <a:off x="1117600" y="724342"/>
            <a:ext cx="1982470" cy="998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 b="true" i="false" u="none" strike="noStrike" kern="0">
                <a:solidFill>
                  <a:srgbClr val="CED4E6"/>
                </a:solidFill>
                <a:latin typeface="Courier New"/>
              </a:rPr>
              <a:t>AVAILABLE ON MAVEN CENTRAL</a:t>
            </a:r>
            <a:endParaRPr lang="en-US" sz="1100"/>
          </a:p>
        </p:txBody>
      </p:sp>
      <p:sp>
        <p:nvSpPr>
          <p:cNvPr name="GraphCompose Text Line" id="169"/>
          <p:cNvSpPr txBox="true"/>
          <p:nvPr/>
        </p:nvSpPr>
        <p:spPr>
          <a:xfrm>
            <a:off x="635000" y="1076498"/>
            <a:ext cx="5717032" cy="70485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000" b="true" i="false" u="none" strike="noStrike" kern="0">
                <a:solidFill>
                  <a:srgbClr val="F7F8FC"/>
                </a:solidFill>
                <a:latin typeface="Arial"/>
              </a:rPr>
              <a:t>GraphCompose</a:t>
            </a:r>
            <a:endParaRPr lang="en-US" sz="1100"/>
          </a:p>
        </p:txBody>
      </p:sp>
      <p:sp>
        <p:nvSpPr>
          <p:cNvPr name="AutoShape 170" id="170"/>
          <p:cNvSpPr/>
          <p:nvPr/>
        </p:nvSpPr>
        <p:spPr>
          <a:xfrm>
            <a:off x="698500" y="2260600"/>
            <a:ext cx="990600" cy="63500"/>
          </a:xfrm>
          <a:prstGeom prst="rect">
            <a:avLst/>
          </a:prstGeom>
          <a:solidFill>
            <a:srgbClr val="E9972D"/>
          </a:solidFill>
          <a:ln>
            <a:noFill/>
          </a:ln>
        </p:spPr>
      </p:sp>
      <p:sp>
        <p:nvSpPr>
          <p:cNvPr name="GraphCompose Text Line" id="171"/>
          <p:cNvSpPr txBox="true"/>
          <p:nvPr/>
        </p:nvSpPr>
        <p:spPr>
          <a:xfrm>
            <a:off x="660400" y="2440443"/>
            <a:ext cx="4819828" cy="24082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50" b="false" i="false" u="none" strike="noStrike" kern="0">
                <a:solidFill>
                  <a:srgbClr val="CED4E6"/>
                </a:solidFill>
                <a:latin typeface="Arial"/>
              </a:rPr>
              <a:t>Declarative document generation for Java</a:t>
            </a:r>
            <a:endParaRPr lang="en-US" sz="1100"/>
          </a:p>
        </p:txBody>
      </p:sp>
      <p:sp>
        <p:nvSpPr>
          <p:cNvPr name="AutoShape 172" id="172"/>
          <p:cNvSpPr/>
          <p:nvPr/>
        </p:nvSpPr>
        <p:spPr>
          <a:xfrm>
            <a:off x="660400" y="3175000"/>
            <a:ext cx="5537200" cy="838200"/>
          </a:xfrm>
          <a:prstGeom prst="roundRect">
            <a:avLst>
              <a:gd name="adj" fmla="val 18182"/>
            </a:avLst>
          </a:prstGeom>
          <a:solidFill>
            <a:srgbClr val="101528"/>
          </a:solidFill>
          <a:ln w="12700">
            <a:solidFill>
              <a:srgbClr val="303856"/>
            </a:solidFill>
          </a:ln>
        </p:spPr>
      </p:sp>
      <p:sp>
        <p:nvSpPr>
          <p:cNvPr name="GraphCompose Text Line" id="173"/>
          <p:cNvSpPr txBox="true"/>
          <p:nvPr/>
        </p:nvSpPr>
        <p:spPr>
          <a:xfrm>
            <a:off x="939800" y="3331851"/>
            <a:ext cx="3536950" cy="14474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50" b="false" i="false" u="none" strike="noStrike" kern="0">
                <a:solidFill>
                  <a:srgbClr val="F7F8FC"/>
                </a:solidFill>
                <a:latin typeface="Courier New"/>
              </a:rPr>
              <a:t>io.github.demchaav:graph-compose</a:t>
            </a:r>
            <a:endParaRPr lang="en-US" sz="1100"/>
          </a:p>
        </p:txBody>
      </p:sp>
      <p:sp>
        <p:nvSpPr>
          <p:cNvPr name="GraphCompose Text Line" id="174"/>
          <p:cNvSpPr txBox="true"/>
          <p:nvPr/>
        </p:nvSpPr>
        <p:spPr>
          <a:xfrm>
            <a:off x="939800" y="3664503"/>
            <a:ext cx="572770" cy="12477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50" b="true" i="false" u="none" strike="noStrike" kern="0">
                <a:solidFill>
                  <a:srgbClr val="E9972D"/>
                </a:solidFill>
                <a:latin typeface="Courier New"/>
              </a:rPr>
              <a:t>v2.4.0</a:t>
            </a:r>
            <a:endParaRPr lang="en-US" sz="1100"/>
          </a:p>
        </p:txBody>
      </p:sp>
      <p:sp>
        <p:nvSpPr>
          <p:cNvPr name="AutoShape 175" id="175"/>
          <p:cNvSpPr/>
          <p:nvPr/>
        </p:nvSpPr>
        <p:spPr>
          <a:xfrm>
            <a:off x="660400" y="4368800"/>
            <a:ext cx="1066800" cy="381000"/>
          </a:xfrm>
          <a:prstGeom prst="roundRect">
            <a:avLst>
              <a:gd name="adj" fmla="val 30000"/>
            </a:avLst>
          </a:prstGeom>
          <a:solidFill>
            <a:srgbClr val="141A2F"/>
          </a:solidFill>
          <a:ln w="12700">
            <a:solidFill>
              <a:srgbClr val="303856"/>
            </a:solidFill>
          </a:ln>
        </p:spPr>
      </p:sp>
      <p:sp>
        <p:nvSpPr>
          <p:cNvPr name="GraphCompose Text Line" id="176"/>
          <p:cNvSpPr txBox="true"/>
          <p:nvPr/>
        </p:nvSpPr>
        <p:spPr>
          <a:xfrm>
            <a:off x="889000" y="4483542"/>
            <a:ext cx="610870" cy="998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 b="true" i="false" u="none" strike="noStrike" kern="0">
                <a:solidFill>
                  <a:srgbClr val="CED4E6"/>
                </a:solidFill>
                <a:latin typeface="Courier New"/>
              </a:rPr>
              <a:t>JAVA 17+</a:t>
            </a:r>
            <a:endParaRPr lang="en-US" sz="1100"/>
          </a:p>
        </p:txBody>
      </p:sp>
      <p:sp>
        <p:nvSpPr>
          <p:cNvPr name="AutoShape 177" id="177"/>
          <p:cNvSpPr/>
          <p:nvPr/>
        </p:nvSpPr>
        <p:spPr>
          <a:xfrm>
            <a:off x="1866900" y="4368800"/>
            <a:ext cx="685800" cy="381000"/>
          </a:xfrm>
          <a:prstGeom prst="roundRect">
            <a:avLst>
              <a:gd name="adj" fmla="val 30000"/>
            </a:avLst>
          </a:prstGeom>
          <a:solidFill>
            <a:srgbClr val="141A2F"/>
          </a:solidFill>
          <a:ln w="12700">
            <a:solidFill>
              <a:srgbClr val="303856"/>
            </a:solidFill>
          </a:ln>
        </p:spPr>
      </p:sp>
      <p:sp>
        <p:nvSpPr>
          <p:cNvPr name="GraphCompose Text Line" id="178"/>
          <p:cNvSpPr txBox="true"/>
          <p:nvPr/>
        </p:nvSpPr>
        <p:spPr>
          <a:xfrm>
            <a:off x="2095500" y="4483542"/>
            <a:ext cx="229870" cy="998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 b="true" i="false" u="none" strike="noStrike" kern="0">
                <a:solidFill>
                  <a:srgbClr val="CED4E6"/>
                </a:solidFill>
                <a:latin typeface="Courier New"/>
              </a:rPr>
              <a:t>PDF</a:t>
            </a:r>
            <a:endParaRPr lang="en-US" sz="1100"/>
          </a:p>
        </p:txBody>
      </p:sp>
      <p:sp>
        <p:nvSpPr>
          <p:cNvPr name="AutoShape 179" id="179"/>
          <p:cNvSpPr/>
          <p:nvPr/>
        </p:nvSpPr>
        <p:spPr>
          <a:xfrm>
            <a:off x="2692400" y="4368800"/>
            <a:ext cx="787400" cy="381000"/>
          </a:xfrm>
          <a:prstGeom prst="roundRect">
            <a:avLst>
              <a:gd name="adj" fmla="val 30000"/>
            </a:avLst>
          </a:prstGeom>
          <a:solidFill>
            <a:srgbClr val="141A2F"/>
          </a:solidFill>
          <a:ln w="12700">
            <a:solidFill>
              <a:srgbClr val="303856"/>
            </a:solidFill>
          </a:ln>
        </p:spPr>
      </p:sp>
      <p:sp>
        <p:nvSpPr>
          <p:cNvPr name="GraphCompose Text Line" id="180"/>
          <p:cNvSpPr txBox="true"/>
          <p:nvPr/>
        </p:nvSpPr>
        <p:spPr>
          <a:xfrm>
            <a:off x="2933700" y="4483542"/>
            <a:ext cx="306070" cy="998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 b="true" i="false" u="none" strike="noStrike" kern="0">
                <a:solidFill>
                  <a:srgbClr val="CED4E6"/>
                </a:solidFill>
                <a:latin typeface="Courier New"/>
              </a:rPr>
              <a:t>PPTX</a:t>
            </a:r>
            <a:endParaRPr lang="en-US" sz="1100"/>
          </a:p>
        </p:txBody>
      </p:sp>
      <p:sp>
        <p:nvSpPr>
          <p:cNvPr name="AutoShape 181" id="181"/>
          <p:cNvSpPr/>
          <p:nvPr/>
        </p:nvSpPr>
        <p:spPr>
          <a:xfrm>
            <a:off x="3619500" y="4368800"/>
            <a:ext cx="1930400" cy="381000"/>
          </a:xfrm>
          <a:prstGeom prst="roundRect">
            <a:avLst>
              <a:gd name="adj" fmla="val 30000"/>
            </a:avLst>
          </a:prstGeom>
          <a:solidFill>
            <a:srgbClr val="141A2F"/>
          </a:solidFill>
          <a:ln w="12700">
            <a:solidFill>
              <a:srgbClr val="303856"/>
            </a:solidFill>
          </a:ln>
        </p:spPr>
      </p:sp>
      <p:sp>
        <p:nvSpPr>
          <p:cNvPr name="GraphCompose Text Line" id="182"/>
          <p:cNvSpPr txBox="true"/>
          <p:nvPr/>
        </p:nvSpPr>
        <p:spPr>
          <a:xfrm>
            <a:off x="4013200" y="4483542"/>
            <a:ext cx="1144270" cy="998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 b="true" i="false" u="none" strike="noStrike" kern="0">
                <a:solidFill>
                  <a:srgbClr val="CED4E6"/>
                </a:solidFill>
                <a:latin typeface="Courier New"/>
              </a:rPr>
              <a:t>AUTO-PAGINATION</a:t>
            </a:r>
            <a:endParaRPr lang="en-US" sz="1100"/>
          </a:p>
        </p:txBody>
      </p:sp>
      <p:sp>
        <p:nvSpPr>
          <p:cNvPr name="GraphCompose Inline Text Span" id="183"/>
          <p:cNvSpPr txBox="true"/>
          <p:nvPr/>
        </p:nvSpPr>
        <p:spPr>
          <a:xfrm>
            <a:off x="660400" y="5545189"/>
            <a:ext cx="572770" cy="21145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800" b="true" i="false" u="none" strike="noStrike" kern="0">
                <a:solidFill>
                  <a:srgbClr val="F7F8FC"/>
                </a:solidFill>
                <a:latin typeface="Arial"/>
              </a:rPr>
              <a:t>Code</a:t>
            </a:r>
            <a:endParaRPr lang="en-US" sz="1100"/>
          </a:p>
        </p:txBody>
      </p:sp>
      <p:sp>
        <p:nvSpPr>
          <p:cNvPr name="GraphCompose Inline Text Span" id="184"/>
          <p:cNvSpPr txBox="true"/>
          <p:nvPr/>
        </p:nvSpPr>
        <p:spPr>
          <a:xfrm>
            <a:off x="1231900" y="5545189"/>
            <a:ext cx="191922" cy="21145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800" b="true" i="false" u="none" strike="noStrike" kern="0">
                <a:solidFill>
                  <a:srgbClr val="F7F8FC"/>
                </a:solidFill>
                <a:latin typeface="Arial"/>
              </a:rPr>
              <a:t>   </a:t>
            </a:r>
            <a:endParaRPr lang="en-US" sz="1100"/>
          </a:p>
        </p:txBody>
      </p:sp>
      <p:sp>
        <p:nvSpPr>
          <p:cNvPr name="GraphCompose Inline Text Span" id="185"/>
          <p:cNvSpPr txBox="true"/>
          <p:nvPr/>
        </p:nvSpPr>
        <p:spPr>
          <a:xfrm>
            <a:off x="1422552" y="5591177"/>
            <a:ext cx="60477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400" b="true" i="false" u="none" strike="noStrike" kern="0">
                <a:solidFill>
                  <a:srgbClr val="E9972D"/>
                </a:solidFill>
                <a:latin typeface="Arial"/>
              </a:rPr>
              <a:t>›</a:t>
            </a:r>
            <a:endParaRPr lang="en-US" sz="1100"/>
          </a:p>
        </p:txBody>
      </p:sp>
      <p:sp>
        <p:nvSpPr>
          <p:cNvPr name="GraphCompose Inline Text Span" id="186"/>
          <p:cNvSpPr txBox="true"/>
          <p:nvPr/>
        </p:nvSpPr>
        <p:spPr>
          <a:xfrm>
            <a:off x="1481760" y="5545189"/>
            <a:ext cx="191922" cy="21145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800" b="true" i="false" u="none" strike="noStrike" kern="0">
                <a:solidFill>
                  <a:srgbClr val="F7F8FC"/>
                </a:solidFill>
                <a:latin typeface="Arial"/>
              </a:rPr>
              <a:t>   </a:t>
            </a:r>
            <a:endParaRPr lang="en-US" sz="1100"/>
          </a:p>
        </p:txBody>
      </p:sp>
      <p:sp>
        <p:nvSpPr>
          <p:cNvPr name="GraphCompose Inline Text Span" id="187"/>
          <p:cNvSpPr txBox="true"/>
          <p:nvPr/>
        </p:nvSpPr>
        <p:spPr>
          <a:xfrm>
            <a:off x="1672412" y="5545189"/>
            <a:ext cx="674497" cy="21145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800" b="true" i="false" u="none" strike="noStrike" kern="0">
                <a:solidFill>
                  <a:srgbClr val="F7F8FC"/>
                </a:solidFill>
                <a:latin typeface="Arial"/>
              </a:rPr>
              <a:t>layout</a:t>
            </a:r>
            <a:endParaRPr lang="en-US" sz="1100"/>
          </a:p>
        </p:txBody>
      </p:sp>
      <p:sp>
        <p:nvSpPr>
          <p:cNvPr name="GraphCompose Inline Text Span" id="188"/>
          <p:cNvSpPr txBox="true"/>
          <p:nvPr/>
        </p:nvSpPr>
        <p:spPr>
          <a:xfrm>
            <a:off x="2345639" y="5545189"/>
            <a:ext cx="191922" cy="21145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800" b="true" i="false" u="none" strike="noStrike" kern="0">
                <a:solidFill>
                  <a:srgbClr val="F7F8FC"/>
                </a:solidFill>
                <a:latin typeface="Arial"/>
              </a:rPr>
              <a:t>   </a:t>
            </a:r>
            <a:endParaRPr lang="en-US" sz="1100"/>
          </a:p>
        </p:txBody>
      </p:sp>
      <p:sp>
        <p:nvSpPr>
          <p:cNvPr name="GraphCompose Inline Text Span" id="189"/>
          <p:cNvSpPr txBox="true"/>
          <p:nvPr/>
        </p:nvSpPr>
        <p:spPr>
          <a:xfrm>
            <a:off x="2536292" y="5591177"/>
            <a:ext cx="60477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400" b="true" i="false" u="none" strike="noStrike" kern="0">
                <a:solidFill>
                  <a:srgbClr val="E9972D"/>
                </a:solidFill>
                <a:latin typeface="Arial"/>
              </a:rPr>
              <a:t>›</a:t>
            </a:r>
            <a:endParaRPr lang="en-US" sz="1100"/>
          </a:p>
        </p:txBody>
      </p:sp>
      <p:sp>
        <p:nvSpPr>
          <p:cNvPr name="GraphCompose Inline Text Span" id="190"/>
          <p:cNvSpPr txBox="true"/>
          <p:nvPr/>
        </p:nvSpPr>
        <p:spPr>
          <a:xfrm>
            <a:off x="2595499" y="5545189"/>
            <a:ext cx="191922" cy="21145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800" b="true" i="false" u="none" strike="noStrike" kern="0">
                <a:solidFill>
                  <a:srgbClr val="F7F8FC"/>
                </a:solidFill>
                <a:latin typeface="Arial"/>
              </a:rPr>
              <a:t>   </a:t>
            </a:r>
            <a:endParaRPr lang="en-US" sz="1100"/>
          </a:p>
        </p:txBody>
      </p:sp>
      <p:sp>
        <p:nvSpPr>
          <p:cNvPr name="GraphCompose Inline Text Span" id="191"/>
          <p:cNvSpPr txBox="true"/>
          <p:nvPr/>
        </p:nvSpPr>
        <p:spPr>
          <a:xfrm>
            <a:off x="2786151" y="5545189"/>
            <a:ext cx="877722" cy="21145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800" b="true" i="false" u="none" strike="noStrike" kern="0">
                <a:solidFill>
                  <a:srgbClr val="F7F8FC"/>
                </a:solidFill>
                <a:latin typeface="Arial"/>
              </a:rPr>
              <a:t>finished</a:t>
            </a:r>
            <a:endParaRPr lang="en-US" sz="1100"/>
          </a:p>
        </p:txBody>
      </p:sp>
      <p:sp>
        <p:nvSpPr>
          <p:cNvPr name="GraphCompose Inline Text Span" id="192"/>
          <p:cNvSpPr txBox="true"/>
          <p:nvPr/>
        </p:nvSpPr>
        <p:spPr>
          <a:xfrm>
            <a:off x="3662604" y="5545189"/>
            <a:ext cx="64821" cy="21145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800" b="true" i="false" u="none" strike="noStrike" kern="0">
                <a:solidFill>
                  <a:srgbClr val="F7F8FC"/>
                </a:solidFill>
                <a:latin typeface="Arial"/>
              </a:rPr>
              <a:t> </a:t>
            </a:r>
            <a:endParaRPr lang="en-US" sz="1100"/>
          </a:p>
        </p:txBody>
      </p:sp>
      <p:sp>
        <p:nvSpPr>
          <p:cNvPr name="GraphCompose Inline Text Span" id="193"/>
          <p:cNvSpPr txBox="true"/>
          <p:nvPr/>
        </p:nvSpPr>
        <p:spPr>
          <a:xfrm>
            <a:off x="3726155" y="5545189"/>
            <a:ext cx="1093521" cy="21145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800" b="true" i="false" u="none" strike="noStrike" kern="0">
                <a:solidFill>
                  <a:srgbClr val="F7F8FC"/>
                </a:solidFill>
                <a:latin typeface="Arial"/>
              </a:rPr>
              <a:t>document</a:t>
            </a:r>
            <a:endParaRPr lang="en-US" sz="1100"/>
          </a:p>
        </p:txBody>
      </p:sp>
      <p:sp>
        <p:nvSpPr>
          <p:cNvPr name="GraphCompose Text Line" id="194"/>
          <p:cNvSpPr txBox="true"/>
          <p:nvPr/>
        </p:nvSpPr>
        <p:spPr>
          <a:xfrm>
            <a:off x="660400" y="6017849"/>
            <a:ext cx="2631046" cy="13509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50" b="false" i="false" u="none" strike="noStrike" kern="0">
                <a:solidFill>
                  <a:srgbClr val="68728E"/>
                </a:solidFill>
                <a:latin typeface="Arial"/>
              </a:rPr>
              <a:t>Open-source Java library  ·  MIT License</a:t>
            </a:r>
            <a:endParaRPr lang="en-US" sz="1100"/>
          </a:p>
        </p:txBody>
      </p:sp>
      <p:sp>
        <p:nvSpPr>
          <p:cNvPr name="AutoShape 195" id="195"/>
          <p:cNvSpPr/>
          <p:nvPr/>
        </p:nvSpPr>
        <p:spPr>
          <a:xfrm>
            <a:off x="6604000" y="1498600"/>
            <a:ext cx="1422400" cy="1930400"/>
          </a:xfrm>
          <a:prstGeom prst="roundRect">
            <a:avLst>
              <a:gd name="adj" fmla="val 10714"/>
            </a:avLst>
          </a:prstGeom>
          <a:solidFill>
            <a:srgbClr val="192038"/>
          </a:solidFill>
          <a:ln w="12700">
            <a:solidFill>
              <a:srgbClr val="303856"/>
            </a:solidFill>
          </a:ln>
        </p:spPr>
      </p:sp>
      <p:sp>
        <p:nvSpPr>
          <p:cNvPr name="GraphCompose Text Line" id="196"/>
          <p:cNvSpPr txBox="true"/>
          <p:nvPr/>
        </p:nvSpPr>
        <p:spPr>
          <a:xfrm>
            <a:off x="6781800" y="1641730"/>
            <a:ext cx="26035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true" i="false" u="none" strike="noStrike" kern="0">
                <a:solidFill>
                  <a:srgbClr val="8C95AF"/>
                </a:solidFill>
                <a:latin typeface="Courier New"/>
              </a:rPr>
              <a:t>JAVA</a:t>
            </a:r>
            <a:endParaRPr lang="en-US" sz="1100"/>
          </a:p>
        </p:txBody>
      </p:sp>
      <p:sp>
        <p:nvSpPr>
          <p:cNvPr name="AutoShape 197" id="197"/>
          <p:cNvSpPr/>
          <p:nvPr/>
        </p:nvSpPr>
        <p:spPr>
          <a:xfrm>
            <a:off x="6781800" y="1892300"/>
            <a:ext cx="1066800" cy="12700"/>
          </a:xfrm>
          <a:prstGeom prst="rect">
            <a:avLst/>
          </a:prstGeom>
          <a:solidFill>
            <a:srgbClr val="303856"/>
          </a:solidFill>
          <a:ln>
            <a:noFill/>
          </a:ln>
        </p:spPr>
      </p:sp>
      <p:sp>
        <p:nvSpPr>
          <p:cNvPr name="GraphCompose Inline Text Span" id="198"/>
          <p:cNvSpPr txBox="true"/>
          <p:nvPr/>
        </p:nvSpPr>
        <p:spPr>
          <a:xfrm>
            <a:off x="6781800" y="2024103"/>
            <a:ext cx="850798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400" b="true" i="false" u="none" strike="noStrike" kern="0">
                <a:solidFill>
                  <a:srgbClr val="E9972D"/>
                </a:solidFill>
                <a:latin typeface="Arial"/>
              </a:rPr>
              <a:t>document</a:t>
            </a:r>
            <a:endParaRPr lang="en-US" sz="1100"/>
          </a:p>
        </p:txBody>
      </p:sp>
      <p:sp>
        <p:nvSpPr>
          <p:cNvPr name="GraphCompose Inline Text Span" id="199"/>
          <p:cNvSpPr txBox="true"/>
          <p:nvPr/>
        </p:nvSpPr>
        <p:spPr>
          <a:xfrm>
            <a:off x="7631328" y="2089903"/>
            <a:ext cx="69850" cy="8984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B0B8D2"/>
                </a:solidFill>
                <a:latin typeface="Courier New"/>
              </a:rPr>
              <a:t> </a:t>
            </a:r>
            <a:endParaRPr lang="en-US" sz="1100"/>
          </a:p>
        </p:txBody>
      </p:sp>
      <p:sp>
        <p:nvSpPr>
          <p:cNvPr name="GraphCompose Inline Text Span" id="200"/>
          <p:cNvSpPr txBox="true"/>
          <p:nvPr/>
        </p:nvSpPr>
        <p:spPr>
          <a:xfrm>
            <a:off x="7699908" y="2089903"/>
            <a:ext cx="69850" cy="8984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B0B8D2"/>
                </a:solidFill>
                <a:latin typeface="Courier New"/>
              </a:rPr>
              <a:t>{</a:t>
            </a:r>
            <a:endParaRPr lang="en-US" sz="1100"/>
          </a:p>
        </p:txBody>
      </p:sp>
      <p:sp>
        <p:nvSpPr>
          <p:cNvPr name="GraphCompose Inline Text Span" id="201"/>
          <p:cNvSpPr txBox="true"/>
          <p:nvPr/>
        </p:nvSpPr>
        <p:spPr>
          <a:xfrm>
            <a:off x="6934200" y="2240003"/>
            <a:ext cx="633527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400" b="true" i="false" u="none" strike="noStrike" kern="0">
                <a:solidFill>
                  <a:srgbClr val="E9972D"/>
                </a:solidFill>
                <a:latin typeface="Arial"/>
              </a:rPr>
              <a:t>column</a:t>
            </a:r>
            <a:endParaRPr lang="en-US" sz="1100"/>
          </a:p>
        </p:txBody>
      </p:sp>
      <p:sp>
        <p:nvSpPr>
          <p:cNvPr name="GraphCompose Inline Text Span" id="202"/>
          <p:cNvSpPr txBox="true"/>
          <p:nvPr/>
        </p:nvSpPr>
        <p:spPr>
          <a:xfrm>
            <a:off x="7566457" y="2305803"/>
            <a:ext cx="69850" cy="8984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B0B8D2"/>
                </a:solidFill>
                <a:latin typeface="Courier New"/>
              </a:rPr>
              <a:t> </a:t>
            </a:r>
            <a:endParaRPr lang="en-US" sz="1100"/>
          </a:p>
        </p:txBody>
      </p:sp>
      <p:sp>
        <p:nvSpPr>
          <p:cNvPr name="GraphCompose Inline Text Span" id="203"/>
          <p:cNvSpPr txBox="true"/>
          <p:nvPr/>
        </p:nvSpPr>
        <p:spPr>
          <a:xfrm>
            <a:off x="7635037" y="2305803"/>
            <a:ext cx="69850" cy="8984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B0B8D2"/>
                </a:solidFill>
                <a:latin typeface="Courier New"/>
              </a:rPr>
              <a:t>{</a:t>
            </a:r>
            <a:endParaRPr lang="en-US" sz="1100"/>
          </a:p>
        </p:txBody>
      </p:sp>
      <p:sp>
        <p:nvSpPr>
          <p:cNvPr name="GraphCompose Inline Text Span" id="204"/>
          <p:cNvSpPr txBox="true"/>
          <p:nvPr/>
        </p:nvSpPr>
        <p:spPr>
          <a:xfrm>
            <a:off x="7086600" y="2455903"/>
            <a:ext cx="317398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400" b="true" i="false" u="none" strike="noStrike" kern="0">
                <a:solidFill>
                  <a:srgbClr val="7ACDA8"/>
                </a:solidFill>
                <a:latin typeface="Arial"/>
              </a:rPr>
              <a:t>text</a:t>
            </a:r>
            <a:endParaRPr lang="en-US" sz="1100"/>
          </a:p>
        </p:txBody>
      </p:sp>
      <p:sp>
        <p:nvSpPr>
          <p:cNvPr name="GraphCompose Inline Text Span" id="205"/>
          <p:cNvSpPr txBox="true"/>
          <p:nvPr/>
        </p:nvSpPr>
        <p:spPr>
          <a:xfrm>
            <a:off x="7402728" y="2521703"/>
            <a:ext cx="138430" cy="8984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B0B8D2"/>
                </a:solidFill>
                <a:latin typeface="Courier New"/>
              </a:rPr>
              <a:t>()</a:t>
            </a:r>
            <a:endParaRPr lang="en-US" sz="1100"/>
          </a:p>
        </p:txBody>
      </p:sp>
      <p:sp>
        <p:nvSpPr>
          <p:cNvPr name="GraphCompose Inline Text Span" id="206"/>
          <p:cNvSpPr txBox="true"/>
          <p:nvPr/>
        </p:nvSpPr>
        <p:spPr>
          <a:xfrm>
            <a:off x="7086600" y="2671803"/>
            <a:ext cx="416255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400" b="true" i="false" u="none" strike="noStrike" kern="0">
                <a:solidFill>
                  <a:srgbClr val="7ACDA8"/>
                </a:solidFill>
                <a:latin typeface="Arial"/>
              </a:rPr>
              <a:t>table</a:t>
            </a:r>
            <a:endParaRPr lang="en-US" sz="1100"/>
          </a:p>
        </p:txBody>
      </p:sp>
      <p:sp>
        <p:nvSpPr>
          <p:cNvPr name="GraphCompose Inline Text Span" id="207"/>
          <p:cNvSpPr txBox="true"/>
          <p:nvPr/>
        </p:nvSpPr>
        <p:spPr>
          <a:xfrm>
            <a:off x="7501585" y="2737603"/>
            <a:ext cx="138430" cy="8984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B0B8D2"/>
                </a:solidFill>
                <a:latin typeface="Courier New"/>
              </a:rPr>
              <a:t>()</a:t>
            </a:r>
            <a:endParaRPr lang="en-US" sz="1100"/>
          </a:p>
        </p:txBody>
      </p:sp>
      <p:sp>
        <p:nvSpPr>
          <p:cNvPr name="GraphCompose Text Line" id="208"/>
          <p:cNvSpPr txBox="true"/>
          <p:nvPr/>
        </p:nvSpPr>
        <p:spPr>
          <a:xfrm>
            <a:off x="6934200" y="2887703"/>
            <a:ext cx="70434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true" i="false" u="none" strike="noStrike" kern="0">
                <a:solidFill>
                  <a:srgbClr val="B0B8D2"/>
                </a:solidFill>
                <a:latin typeface="Arial"/>
              </a:rPr>
              <a:t>}</a:t>
            </a:r>
            <a:endParaRPr lang="en-US" sz="1100"/>
          </a:p>
        </p:txBody>
      </p:sp>
      <p:sp>
        <p:nvSpPr>
          <p:cNvPr name="GraphCompose Text Line" id="209"/>
          <p:cNvSpPr txBox="true"/>
          <p:nvPr/>
        </p:nvSpPr>
        <p:spPr>
          <a:xfrm>
            <a:off x="6781800" y="3103603"/>
            <a:ext cx="70434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true" i="false" u="none" strike="noStrike" kern="0">
                <a:solidFill>
                  <a:srgbClr val="B0B8D2"/>
                </a:solidFill>
                <a:latin typeface="Arial"/>
              </a:rPr>
              <a:t>}</a:t>
            </a:r>
            <a:endParaRPr lang="en-US" sz="1100"/>
          </a:p>
        </p:txBody>
      </p:sp>
      <p:sp>
        <p:nvSpPr>
          <p:cNvPr name="AutoShape 210" id="210"/>
          <p:cNvSpPr/>
          <p:nvPr/>
        </p:nvSpPr>
        <p:spPr>
          <a:xfrm>
            <a:off x="8077200" y="2540000"/>
            <a:ext cx="711200" cy="25400"/>
          </a:xfrm>
          <a:prstGeom prst="rect">
            <a:avLst/>
          </a:prstGeom>
          <a:solidFill>
            <a:srgbClr val="E9972D"/>
          </a:solidFill>
          <a:ln>
            <a:noFill/>
          </a:ln>
        </p:spPr>
      </p:sp>
      <p:sp>
        <p:nvSpPr>
          <p:cNvPr name="Freeform 211" id="211"/>
          <p:cNvSpPr/>
          <p:nvPr/>
        </p:nvSpPr>
        <p:spPr>
          <a:xfrm>
            <a:off x="2147483647" y="-1412748000"/>
            <a:ext cx="121920000" cy="82296000"/>
          </a:xfrm>
          <a:custGeom>
            <a:avLst/>
            <a:gdLst/>
            <a:ahLst/>
            <a:cxnLst/>
            <a:rect r="r" b="b" t="t" l="l"/>
            <a:pathLst>
              <a:path h="82296000" w="121920000">
                <a:moveTo>
                  <a:pt x="0" y="82296000"/>
                </a:moveTo>
                <a:lnTo>
                  <a:pt x="0" y="0"/>
                </a:lnTo>
                <a:lnTo>
                  <a:pt x="0" y="41148000"/>
                </a:lnTo>
                <a:close/>
              </a:path>
            </a:pathLst>
          </a:custGeom>
          <a:solidFill>
            <a:srgbClr val="E9972D"/>
          </a:solidFill>
          <a:ln cap="flat">
            <a:noFill/>
            <a:miter/>
          </a:ln>
        </p:spPr>
      </p:sp>
      <p:sp>
        <p:nvSpPr>
          <p:cNvPr name="AutoShape 212" id="212"/>
          <p:cNvSpPr/>
          <p:nvPr/>
        </p:nvSpPr>
        <p:spPr>
          <a:xfrm>
            <a:off x="10388600" y="2540000"/>
            <a:ext cx="241300" cy="25400"/>
          </a:xfrm>
          <a:prstGeom prst="rect">
            <a:avLst/>
          </a:prstGeom>
          <a:solidFill>
            <a:srgbClr val="E9972D"/>
          </a:solidFill>
          <a:ln>
            <a:noFill/>
          </a:ln>
        </p:spPr>
      </p:sp>
      <p:sp>
        <p:nvSpPr>
          <p:cNvPr name="AutoShape 213" id="213"/>
          <p:cNvSpPr/>
          <p:nvPr/>
        </p:nvSpPr>
        <p:spPr>
          <a:xfrm>
            <a:off x="10617200" y="1663700"/>
            <a:ext cx="25400" cy="2844800"/>
          </a:xfrm>
          <a:prstGeom prst="rect">
            <a:avLst/>
          </a:prstGeom>
          <a:solidFill>
            <a:srgbClr val="E9972D"/>
          </a:solidFill>
          <a:ln>
            <a:noFill/>
          </a:ln>
        </p:spPr>
      </p:sp>
      <p:sp>
        <p:nvSpPr>
          <p:cNvPr name="AutoShape 214" id="214"/>
          <p:cNvSpPr/>
          <p:nvPr/>
        </p:nvSpPr>
        <p:spPr>
          <a:xfrm>
            <a:off x="10617200" y="1663700"/>
            <a:ext cx="279400" cy="25400"/>
          </a:xfrm>
          <a:prstGeom prst="rect">
            <a:avLst/>
          </a:prstGeom>
          <a:solidFill>
            <a:srgbClr val="E9972D"/>
          </a:solidFill>
          <a:ln>
            <a:noFill/>
          </a:ln>
        </p:spPr>
      </p:sp>
      <p:sp>
        <p:nvSpPr>
          <p:cNvPr name="AutoShape 215" id="215"/>
          <p:cNvSpPr/>
          <p:nvPr/>
        </p:nvSpPr>
        <p:spPr>
          <a:xfrm>
            <a:off x="10617200" y="4483100"/>
            <a:ext cx="279400" cy="25400"/>
          </a:xfrm>
          <a:prstGeom prst="rect">
            <a:avLst/>
          </a:prstGeom>
          <a:solidFill>
            <a:srgbClr val="E9972D"/>
          </a:solidFill>
          <a:ln>
            <a:noFill/>
          </a:ln>
        </p:spPr>
      </p:sp>
      <p:sp>
        <p:nvSpPr>
          <p:cNvPr name="Freeform 216" id="216"/>
          <p:cNvSpPr/>
          <p:nvPr/>
        </p:nvSpPr>
        <p:spPr>
          <a:xfrm>
            <a:off x="2147483647" y="-939546000"/>
            <a:ext cx="121920000" cy="82296000"/>
          </a:xfrm>
          <a:custGeom>
            <a:avLst/>
            <a:gdLst/>
            <a:ahLst/>
            <a:cxnLst/>
            <a:rect r="r" b="b" t="t" l="l"/>
            <a:pathLst>
              <a:path h="82296000" w="121920000">
                <a:moveTo>
                  <a:pt x="0" y="82296000"/>
                </a:moveTo>
                <a:lnTo>
                  <a:pt x="0" y="0"/>
                </a:lnTo>
                <a:lnTo>
                  <a:pt x="0" y="41148000"/>
                </a:lnTo>
                <a:close/>
              </a:path>
            </a:pathLst>
          </a:custGeom>
          <a:solidFill>
            <a:srgbClr val="E9972D"/>
          </a:solidFill>
          <a:ln cap="flat">
            <a:noFill/>
            <a:miter/>
          </a:ln>
        </p:spPr>
      </p:sp>
      <p:sp>
        <p:nvSpPr>
          <p:cNvPr name="Freeform 217" id="217"/>
          <p:cNvSpPr/>
          <p:nvPr/>
        </p:nvSpPr>
        <p:spPr>
          <a:xfrm>
            <a:off x="2147483647" y="-2147483648"/>
            <a:ext cx="121920000" cy="82296000"/>
          </a:xfrm>
          <a:custGeom>
            <a:avLst/>
            <a:gdLst/>
            <a:ahLst/>
            <a:cxnLst/>
            <a:rect r="r" b="b" t="t" l="l"/>
            <a:pathLst>
              <a:path h="82296000" w="1219200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E9972D"/>
          </a:solidFill>
          <a:ln cap="flat">
            <a:noFill/>
            <a:miter/>
          </a:ln>
        </p:spPr>
      </p:sp>
      <p:sp>
        <p:nvSpPr>
          <p:cNvPr name="AutoShape 218" id="218"/>
          <p:cNvSpPr/>
          <p:nvPr/>
        </p:nvSpPr>
        <p:spPr>
          <a:xfrm>
            <a:off x="8890000" y="1905000"/>
            <a:ext cx="1498600" cy="1295400"/>
          </a:xfrm>
          <a:prstGeom prst="roundRect">
            <a:avLst>
              <a:gd name="adj" fmla="val 13725"/>
            </a:avLst>
          </a:prstGeom>
          <a:solidFill>
            <a:srgbClr val="192038"/>
          </a:solidFill>
          <a:ln w="17780">
            <a:solidFill>
              <a:srgbClr val="E9972D"/>
            </a:solidFill>
          </a:ln>
        </p:spPr>
      </p:sp>
      <p:sp>
        <p:nvSpPr>
          <p:cNvPr name="AutoShape 219" id="219"/>
          <p:cNvSpPr/>
          <p:nvPr/>
        </p:nvSpPr>
        <p:spPr>
          <a:xfrm>
            <a:off x="9232900" y="2184400"/>
            <a:ext cx="812800" cy="152400"/>
          </a:xfrm>
          <a:prstGeom prst="roundRect">
            <a:avLst>
              <a:gd name="adj" fmla="val 50000"/>
            </a:avLst>
          </a:prstGeom>
          <a:solidFill>
            <a:srgbClr val="E9972D"/>
          </a:solidFill>
          <a:ln>
            <a:noFill/>
          </a:ln>
        </p:spPr>
      </p:sp>
      <p:sp>
        <p:nvSpPr>
          <p:cNvPr name="AutoShape 220" id="220"/>
          <p:cNvSpPr/>
          <p:nvPr/>
        </p:nvSpPr>
        <p:spPr>
          <a:xfrm>
            <a:off x="9232900" y="2463800"/>
            <a:ext cx="355600" cy="355600"/>
          </a:xfrm>
          <a:prstGeom prst="roundRect">
            <a:avLst>
              <a:gd name="adj" fmla="val 25000"/>
            </a:avLst>
          </a:prstGeom>
          <a:solidFill>
            <a:srgbClr val="E9972D">
              <a:alpha val="21961"/>
            </a:srgbClr>
          </a:solidFill>
          <a:ln w="12700">
            <a:solidFill>
              <a:srgbClr val="E9972D"/>
            </a:solidFill>
          </a:ln>
        </p:spPr>
      </p:sp>
      <p:sp>
        <p:nvSpPr>
          <p:cNvPr name="AutoShape 221" id="221"/>
          <p:cNvSpPr/>
          <p:nvPr/>
        </p:nvSpPr>
        <p:spPr>
          <a:xfrm>
            <a:off x="9690100" y="2463800"/>
            <a:ext cx="355600" cy="355600"/>
          </a:xfrm>
          <a:prstGeom prst="roundRect">
            <a:avLst>
              <a:gd name="adj" fmla="val 25000"/>
            </a:avLst>
          </a:prstGeom>
          <a:solidFill>
            <a:srgbClr val="E9972D">
              <a:alpha val="21961"/>
            </a:srgbClr>
          </a:solidFill>
          <a:ln w="12700">
            <a:solidFill>
              <a:srgbClr val="E9972D"/>
            </a:solidFill>
          </a:ln>
        </p:spPr>
      </p:sp>
      <p:sp>
        <p:nvSpPr>
          <p:cNvPr name="GraphCompose Text Line" id="222"/>
          <p:cNvSpPr txBox="true"/>
          <p:nvPr/>
        </p:nvSpPr>
        <p:spPr>
          <a:xfrm>
            <a:off x="9433560" y="2909498"/>
            <a:ext cx="412750" cy="8984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true" i="false" u="none" strike="noStrike" kern="0">
                <a:solidFill>
                  <a:srgbClr val="CED4E6"/>
                </a:solidFill>
                <a:latin typeface="Courier New"/>
              </a:rPr>
              <a:t>LAYOUT</a:t>
            </a:r>
            <a:endParaRPr lang="en-US" sz="1100"/>
          </a:p>
        </p:txBody>
      </p:sp>
      <p:sp>
        <p:nvSpPr>
          <p:cNvPr name="AutoShape 223" id="223"/>
          <p:cNvSpPr/>
          <p:nvPr/>
        </p:nvSpPr>
        <p:spPr>
          <a:xfrm>
            <a:off x="10896600" y="939800"/>
            <a:ext cx="1168400" cy="1473200"/>
          </a:xfrm>
          <a:prstGeom prst="roundRect">
            <a:avLst>
              <a:gd name="adj" fmla="val 8696"/>
            </a:avLst>
          </a:prstGeom>
          <a:solidFill>
            <a:srgbClr val="EEF1F8"/>
          </a:solidFill>
          <a:ln w="10160">
            <a:solidFill>
              <a:srgbClr val="303856"/>
            </a:solidFill>
          </a:ln>
        </p:spPr>
      </p:sp>
      <p:sp>
        <p:nvSpPr>
          <p:cNvPr name="AutoShape 224" id="224"/>
          <p:cNvSpPr/>
          <p:nvPr/>
        </p:nvSpPr>
        <p:spPr>
          <a:xfrm>
            <a:off x="11074400" y="1168400"/>
            <a:ext cx="711200" cy="152400"/>
          </a:xfrm>
          <a:prstGeom prst="roundRect">
            <a:avLst>
              <a:gd name="adj" fmla="val 25000"/>
            </a:avLst>
          </a:prstGeom>
          <a:solidFill>
            <a:srgbClr val="1C233A"/>
          </a:solidFill>
          <a:ln>
            <a:noFill/>
          </a:ln>
        </p:spPr>
      </p:sp>
      <p:sp>
        <p:nvSpPr>
          <p:cNvPr name="AutoShape 225" id="225"/>
          <p:cNvSpPr/>
          <p:nvPr/>
        </p:nvSpPr>
        <p:spPr>
          <a:xfrm>
            <a:off x="11074400" y="1447800"/>
            <a:ext cx="558800" cy="63500"/>
          </a:xfrm>
          <a:prstGeom prst="roundRect">
            <a:avLst>
              <a:gd name="adj" fmla="val 50000"/>
            </a:avLst>
          </a:prstGeom>
          <a:solidFill>
            <a:srgbClr val="E9972D"/>
          </a:solidFill>
          <a:ln>
            <a:noFill/>
          </a:ln>
        </p:spPr>
      </p:sp>
      <p:sp>
        <p:nvSpPr>
          <p:cNvPr name="AutoShape 226" id="226"/>
          <p:cNvSpPr/>
          <p:nvPr/>
        </p:nvSpPr>
        <p:spPr>
          <a:xfrm>
            <a:off x="11074400" y="1651000"/>
            <a:ext cx="812800" cy="50800"/>
          </a:xfrm>
          <a:prstGeom prst="rect">
            <a:avLst/>
          </a:prstGeom>
          <a:solidFill>
            <a:srgbClr val="C6CDDE"/>
          </a:solidFill>
          <a:ln>
            <a:noFill/>
          </a:ln>
        </p:spPr>
      </p:sp>
      <p:sp>
        <p:nvSpPr>
          <p:cNvPr name="AutoShape 227" id="227"/>
          <p:cNvSpPr/>
          <p:nvPr/>
        </p:nvSpPr>
        <p:spPr>
          <a:xfrm>
            <a:off x="11074400" y="1803400"/>
            <a:ext cx="812800" cy="50800"/>
          </a:xfrm>
          <a:prstGeom prst="rect">
            <a:avLst/>
          </a:prstGeom>
          <a:solidFill>
            <a:srgbClr val="C6CDDE"/>
          </a:solidFill>
          <a:ln>
            <a:noFill/>
          </a:ln>
        </p:spPr>
      </p:sp>
      <p:sp>
        <p:nvSpPr>
          <p:cNvPr name="AutoShape 228" id="228"/>
          <p:cNvSpPr/>
          <p:nvPr/>
        </p:nvSpPr>
        <p:spPr>
          <a:xfrm>
            <a:off x="11074400" y="1955800"/>
            <a:ext cx="812800" cy="50800"/>
          </a:xfrm>
          <a:prstGeom prst="rect">
            <a:avLst/>
          </a:prstGeom>
          <a:solidFill>
            <a:srgbClr val="C6CDDE"/>
          </a:solidFill>
          <a:ln>
            <a:noFill/>
          </a:ln>
        </p:spPr>
      </p:sp>
      <p:sp>
        <p:nvSpPr>
          <p:cNvPr name="AutoShape 229" id="229"/>
          <p:cNvSpPr/>
          <p:nvPr/>
        </p:nvSpPr>
        <p:spPr>
          <a:xfrm>
            <a:off x="11074400" y="2108200"/>
            <a:ext cx="508000" cy="50800"/>
          </a:xfrm>
          <a:prstGeom prst="rect">
            <a:avLst/>
          </a:prstGeom>
          <a:solidFill>
            <a:srgbClr val="C6CDDE"/>
          </a:solidFill>
          <a:ln>
            <a:noFill/>
          </a:ln>
        </p:spPr>
      </p:sp>
      <p:sp>
        <p:nvSpPr>
          <p:cNvPr name="AutoShape 230" id="230"/>
          <p:cNvSpPr/>
          <p:nvPr/>
        </p:nvSpPr>
        <p:spPr>
          <a:xfrm>
            <a:off x="11557000" y="1054100"/>
            <a:ext cx="406400" cy="203200"/>
          </a:xfrm>
          <a:prstGeom prst="roundRect">
            <a:avLst>
              <a:gd name="adj" fmla="val 31250"/>
            </a:avLst>
          </a:prstGeom>
          <a:solidFill>
            <a:srgbClr val="E9972D"/>
          </a:solidFill>
          <a:ln>
            <a:noFill/>
          </a:ln>
        </p:spPr>
      </p:sp>
      <p:sp>
        <p:nvSpPr>
          <p:cNvPr name="GraphCompose Text Line" id="231"/>
          <p:cNvSpPr txBox="true"/>
          <p:nvPr/>
        </p:nvSpPr>
        <p:spPr>
          <a:xfrm>
            <a:off x="11674475" y="1098882"/>
            <a:ext cx="17272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true" i="false" u="none" strike="noStrike" kern="0">
                <a:solidFill>
                  <a:srgbClr val="0D1121"/>
                </a:solidFill>
                <a:latin typeface="Courier New"/>
              </a:rPr>
              <a:t>PDF</a:t>
            </a:r>
            <a:endParaRPr lang="en-US" sz="1100"/>
          </a:p>
        </p:txBody>
      </p:sp>
      <p:sp>
        <p:nvSpPr>
          <p:cNvPr name="AutoShape 232" id="232"/>
          <p:cNvSpPr/>
          <p:nvPr/>
        </p:nvSpPr>
        <p:spPr>
          <a:xfrm>
            <a:off x="10896600" y="3759200"/>
            <a:ext cx="1168400" cy="1473200"/>
          </a:xfrm>
          <a:prstGeom prst="roundRect">
            <a:avLst>
              <a:gd name="adj" fmla="val 8696"/>
            </a:avLst>
          </a:prstGeom>
          <a:solidFill>
            <a:srgbClr val="EEF1F8"/>
          </a:solidFill>
          <a:ln w="10160">
            <a:solidFill>
              <a:srgbClr val="303856"/>
            </a:solidFill>
          </a:ln>
        </p:spPr>
      </p:sp>
      <p:sp>
        <p:nvSpPr>
          <p:cNvPr name="AutoShape 233" id="233"/>
          <p:cNvSpPr/>
          <p:nvPr/>
        </p:nvSpPr>
        <p:spPr>
          <a:xfrm>
            <a:off x="11074400" y="3987800"/>
            <a:ext cx="711200" cy="152400"/>
          </a:xfrm>
          <a:prstGeom prst="roundRect">
            <a:avLst>
              <a:gd name="adj" fmla="val 25000"/>
            </a:avLst>
          </a:prstGeom>
          <a:solidFill>
            <a:srgbClr val="1C233A"/>
          </a:solidFill>
          <a:ln>
            <a:noFill/>
          </a:ln>
        </p:spPr>
      </p:sp>
      <p:sp>
        <p:nvSpPr>
          <p:cNvPr name="AutoShape 234" id="234"/>
          <p:cNvSpPr/>
          <p:nvPr/>
        </p:nvSpPr>
        <p:spPr>
          <a:xfrm>
            <a:off x="11074400" y="4267200"/>
            <a:ext cx="558800" cy="63500"/>
          </a:xfrm>
          <a:prstGeom prst="roundRect">
            <a:avLst>
              <a:gd name="adj" fmla="val 50000"/>
            </a:avLst>
          </a:prstGeom>
          <a:solidFill>
            <a:srgbClr val="E9972D"/>
          </a:solidFill>
          <a:ln>
            <a:noFill/>
          </a:ln>
        </p:spPr>
      </p:sp>
      <p:sp>
        <p:nvSpPr>
          <p:cNvPr name="AutoShape 235" id="235"/>
          <p:cNvSpPr/>
          <p:nvPr/>
        </p:nvSpPr>
        <p:spPr>
          <a:xfrm>
            <a:off x="11074400" y="4470400"/>
            <a:ext cx="812800" cy="50800"/>
          </a:xfrm>
          <a:prstGeom prst="rect">
            <a:avLst/>
          </a:prstGeom>
          <a:solidFill>
            <a:srgbClr val="C6CDDE"/>
          </a:solidFill>
          <a:ln>
            <a:noFill/>
          </a:ln>
        </p:spPr>
      </p:sp>
      <p:sp>
        <p:nvSpPr>
          <p:cNvPr name="AutoShape 236" id="236"/>
          <p:cNvSpPr/>
          <p:nvPr/>
        </p:nvSpPr>
        <p:spPr>
          <a:xfrm>
            <a:off x="11074400" y="4622800"/>
            <a:ext cx="812800" cy="50800"/>
          </a:xfrm>
          <a:prstGeom prst="rect">
            <a:avLst/>
          </a:prstGeom>
          <a:solidFill>
            <a:srgbClr val="C6CDDE"/>
          </a:solidFill>
          <a:ln>
            <a:noFill/>
          </a:ln>
        </p:spPr>
      </p:sp>
      <p:sp>
        <p:nvSpPr>
          <p:cNvPr name="AutoShape 237" id="237"/>
          <p:cNvSpPr/>
          <p:nvPr/>
        </p:nvSpPr>
        <p:spPr>
          <a:xfrm>
            <a:off x="11074400" y="4775200"/>
            <a:ext cx="812800" cy="50800"/>
          </a:xfrm>
          <a:prstGeom prst="rect">
            <a:avLst/>
          </a:prstGeom>
          <a:solidFill>
            <a:srgbClr val="C6CDDE"/>
          </a:solidFill>
          <a:ln>
            <a:noFill/>
          </a:ln>
        </p:spPr>
      </p:sp>
      <p:sp>
        <p:nvSpPr>
          <p:cNvPr name="AutoShape 238" id="238"/>
          <p:cNvSpPr/>
          <p:nvPr/>
        </p:nvSpPr>
        <p:spPr>
          <a:xfrm>
            <a:off x="11074400" y="4927600"/>
            <a:ext cx="508000" cy="50800"/>
          </a:xfrm>
          <a:prstGeom prst="rect">
            <a:avLst/>
          </a:prstGeom>
          <a:solidFill>
            <a:srgbClr val="C6CDDE"/>
          </a:solidFill>
          <a:ln>
            <a:noFill/>
          </a:ln>
        </p:spPr>
      </p:sp>
      <p:sp>
        <p:nvSpPr>
          <p:cNvPr name="AutoShape 239" id="239"/>
          <p:cNvSpPr/>
          <p:nvPr/>
        </p:nvSpPr>
        <p:spPr>
          <a:xfrm>
            <a:off x="11480800" y="3873500"/>
            <a:ext cx="482600" cy="203200"/>
          </a:xfrm>
          <a:prstGeom prst="roundRect">
            <a:avLst>
              <a:gd name="adj" fmla="val 31250"/>
            </a:avLst>
          </a:prstGeom>
          <a:solidFill>
            <a:srgbClr val="F2A844"/>
          </a:solidFill>
          <a:ln>
            <a:noFill/>
          </a:ln>
        </p:spPr>
      </p:sp>
      <p:sp>
        <p:nvSpPr>
          <p:cNvPr name="GraphCompose Text Line" id="240"/>
          <p:cNvSpPr txBox="true"/>
          <p:nvPr/>
        </p:nvSpPr>
        <p:spPr>
          <a:xfrm>
            <a:off x="11607800" y="3918282"/>
            <a:ext cx="22987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true" i="false" u="none" strike="noStrike" kern="0">
                <a:solidFill>
                  <a:srgbClr val="0D1121"/>
                </a:solidFill>
                <a:latin typeface="Courier New"/>
              </a:rPr>
              <a:t>PPTX</a:t>
            </a:r>
            <a:endParaRPr lang="en-US" sz="1100"/>
          </a:p>
        </p:txBody>
      </p:sp>
      <p:sp>
        <p:nvSpPr>
          <p:cNvPr name="GraphCompose Text Line" id="241"/>
          <p:cNvSpPr txBox="true"/>
          <p:nvPr/>
        </p:nvSpPr>
        <p:spPr>
          <a:xfrm>
            <a:off x="8297110" y="5433649"/>
            <a:ext cx="2355450" cy="13509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50" b="false" i="false" u="none" strike="noStrike" kern="0">
                <a:solidFill>
                  <a:srgbClr val="8C95AF"/>
                </a:solidFill>
                <a:latin typeface="Arial"/>
              </a:rPr>
              <a:t>One model. PDF and PPTX outputs.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21"/>
          </a:solidFill>
          <a:ln>
            <a:noFill/>
          </a:ln>
        </p:spPr>
      </p:sp>
      <p:sp>
        <p:nvSpPr>
          <p:cNvPr name="GraphCompose Text Line" id="3"/>
          <p:cNvSpPr txBox="true"/>
          <p:nvPr/>
        </p:nvSpPr>
        <p:spPr>
          <a:xfrm>
            <a:off x="660400" y="454168"/>
            <a:ext cx="1007110" cy="10980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E9972D"/>
                </a:solidFill>
                <a:latin typeface="Courier New"/>
              </a:rPr>
              <a:t>HOW IT WORKS</a:t>
            </a:r>
            <a:endParaRPr lang="en-US" sz="1100"/>
          </a:p>
        </p:txBody>
      </p:sp>
      <p:sp>
        <p:nvSpPr>
          <p:cNvPr name="GraphCompose Text Line" id="4"/>
          <p:cNvSpPr txBox="true"/>
          <p:nvPr/>
        </p:nvSpPr>
        <p:spPr>
          <a:xfrm>
            <a:off x="660400" y="597253"/>
            <a:ext cx="7623175" cy="35242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000" b="true" i="false" u="none" strike="noStrike" kern="0">
                <a:solidFill>
                  <a:srgbClr val="F7F8FC"/>
                </a:solidFill>
                <a:latin typeface="Arial"/>
              </a:rPr>
              <a:t>From one Java file to a finished document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>
            <a:off x="660400" y="1173429"/>
            <a:ext cx="1219200" cy="50800"/>
          </a:xfrm>
          <a:prstGeom prst="rect">
            <a:avLst/>
          </a:prstGeom>
          <a:solidFill>
            <a:srgbClr val="E9972D"/>
          </a:solidFill>
          <a:ln>
            <a:noFill/>
          </a:ln>
        </p:spPr>
      </p:sp>
      <p:sp>
        <p:nvSpPr>
          <p:cNvPr name="GraphCompose Text Line" id="6"/>
          <p:cNvSpPr txBox="true"/>
          <p:nvPr/>
        </p:nvSpPr>
        <p:spPr>
          <a:xfrm>
            <a:off x="660400" y="1396510"/>
            <a:ext cx="9994113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false" i="false" u="none" strike="noStrike" kern="0">
                <a:solidFill>
                  <a:srgbClr val="CED4E6"/>
                </a:solidFill>
                <a:latin typeface="Arial"/>
              </a:rPr>
              <a:t>You describe the document semantically — sections, rows, tables, charts, shapes, layers — and the engine resolves the rest. No manual</a:t>
            </a:r>
            <a:endParaRPr lang="en-US" sz="1100"/>
          </a:p>
        </p:txBody>
      </p:sp>
      <p:sp>
        <p:nvSpPr>
          <p:cNvPr name="GraphCompose Text Line" id="7"/>
          <p:cNvSpPr txBox="true"/>
          <p:nvPr/>
        </p:nvSpPr>
        <p:spPr>
          <a:xfrm>
            <a:off x="660400" y="1600028"/>
            <a:ext cx="4139832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false" i="false" u="none" strike="noStrike" kern="0">
                <a:solidFill>
                  <a:srgbClr val="CED4E6"/>
                </a:solidFill>
                <a:latin typeface="Arial"/>
              </a:rPr>
              <a:t>coordinates, no XML templates, no per-format authoring.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>
            <a:off x="660400" y="2253564"/>
            <a:ext cx="2584450" cy="1233106"/>
          </a:xfrm>
          <a:prstGeom prst="roundRect">
            <a:avLst>
              <a:gd name="adj" fmla="val 10299"/>
            </a:avLst>
          </a:prstGeom>
          <a:solidFill>
            <a:srgbClr val="141A2F"/>
          </a:solidFill>
          <a:ln w="12700">
            <a:solidFill>
              <a:srgbClr val="303856"/>
            </a:solidFill>
          </a:ln>
        </p:spPr>
      </p:sp>
      <p:sp>
        <p:nvSpPr>
          <p:cNvPr name="GraphCompose Text Line" id="9"/>
          <p:cNvSpPr txBox="true"/>
          <p:nvPr/>
        </p:nvSpPr>
        <p:spPr>
          <a:xfrm>
            <a:off x="863600" y="2405070"/>
            <a:ext cx="153670" cy="19964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true" i="false" u="none" strike="noStrike" kern="0">
                <a:solidFill>
                  <a:srgbClr val="E9972D"/>
                </a:solidFill>
                <a:latin typeface="Courier New"/>
              </a:rPr>
              <a:t>1</a:t>
            </a:r>
            <a:endParaRPr lang="en-US" sz="1100"/>
          </a:p>
        </p:txBody>
      </p:sp>
      <p:sp>
        <p:nvSpPr>
          <p:cNvPr name="GraphCompose Text Line" id="10"/>
          <p:cNvSpPr txBox="true"/>
          <p:nvPr/>
        </p:nvSpPr>
        <p:spPr>
          <a:xfrm>
            <a:off x="863600" y="2727089"/>
            <a:ext cx="707403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true" i="false" u="none" strike="noStrike" kern="0">
                <a:solidFill>
                  <a:srgbClr val="F7F8FC"/>
                </a:solidFill>
                <a:latin typeface="Arial"/>
              </a:rPr>
              <a:t>AUTHOR</a:t>
            </a:r>
            <a:endParaRPr lang="en-US" sz="1100"/>
          </a:p>
        </p:txBody>
      </p:sp>
      <p:sp>
        <p:nvSpPr>
          <p:cNvPr name="GraphCompose Text Line" id="11"/>
          <p:cNvSpPr txBox="true"/>
          <p:nvPr/>
        </p:nvSpPr>
        <p:spPr>
          <a:xfrm>
            <a:off x="863600" y="2960764"/>
            <a:ext cx="2074558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A fluent DSL describes intent, not</a:t>
            </a:r>
            <a:endParaRPr lang="en-US" sz="1100"/>
          </a:p>
        </p:txBody>
      </p:sp>
      <p:sp>
        <p:nvSpPr>
          <p:cNvPr name="GraphCompose Text Line" id="12"/>
          <p:cNvSpPr txBox="true"/>
          <p:nvPr/>
        </p:nvSpPr>
        <p:spPr>
          <a:xfrm>
            <a:off x="863600" y="3128086"/>
            <a:ext cx="622376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geometry.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>
            <a:off x="3422650" y="2253564"/>
            <a:ext cx="2584450" cy="1233106"/>
          </a:xfrm>
          <a:prstGeom prst="roundRect">
            <a:avLst>
              <a:gd name="adj" fmla="val 10299"/>
            </a:avLst>
          </a:prstGeom>
          <a:solidFill>
            <a:srgbClr val="141A2F"/>
          </a:solidFill>
          <a:ln w="12700">
            <a:solidFill>
              <a:srgbClr val="303856"/>
            </a:solidFill>
          </a:ln>
        </p:spPr>
      </p:sp>
      <p:sp>
        <p:nvSpPr>
          <p:cNvPr name="GraphCompose Text Line" id="14"/>
          <p:cNvSpPr txBox="true"/>
          <p:nvPr/>
        </p:nvSpPr>
        <p:spPr>
          <a:xfrm>
            <a:off x="3625850" y="2405070"/>
            <a:ext cx="153670" cy="19964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true" i="false" u="none" strike="noStrike" kern="0">
                <a:solidFill>
                  <a:srgbClr val="E9972D"/>
                </a:solidFill>
                <a:latin typeface="Courier New"/>
              </a:rPr>
              <a:t>2</a:t>
            </a:r>
            <a:endParaRPr lang="en-US" sz="1100"/>
          </a:p>
        </p:txBody>
      </p:sp>
      <p:sp>
        <p:nvSpPr>
          <p:cNvPr name="GraphCompose Text Line" id="15"/>
          <p:cNvSpPr txBox="true"/>
          <p:nvPr/>
        </p:nvSpPr>
        <p:spPr>
          <a:xfrm>
            <a:off x="3625850" y="2727089"/>
            <a:ext cx="826770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true" i="false" u="none" strike="noStrike" kern="0">
                <a:solidFill>
                  <a:srgbClr val="F7F8FC"/>
                </a:solidFill>
                <a:latin typeface="Arial"/>
              </a:rPr>
              <a:t>MEASURE</a:t>
            </a:r>
            <a:endParaRPr lang="en-US" sz="1100"/>
          </a:p>
        </p:txBody>
      </p:sp>
      <p:sp>
        <p:nvSpPr>
          <p:cNvPr name="GraphCompose Text Line" id="16"/>
          <p:cNvSpPr txBox="true"/>
          <p:nvPr/>
        </p:nvSpPr>
        <p:spPr>
          <a:xfrm>
            <a:off x="3625850" y="2960764"/>
            <a:ext cx="1763725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Every node measured twice,</a:t>
            </a:r>
            <a:endParaRPr lang="en-US" sz="1100"/>
          </a:p>
        </p:txBody>
      </p:sp>
      <p:sp>
        <p:nvSpPr>
          <p:cNvPr name="GraphCompose Text Line" id="17"/>
          <p:cNvSpPr txBox="true"/>
          <p:nvPr/>
        </p:nvSpPr>
        <p:spPr>
          <a:xfrm>
            <a:off x="3625850" y="3128086"/>
            <a:ext cx="1033653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deterministically.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>
            <a:off x="6184900" y="2253564"/>
            <a:ext cx="2584450" cy="1233106"/>
          </a:xfrm>
          <a:prstGeom prst="roundRect">
            <a:avLst>
              <a:gd name="adj" fmla="val 10299"/>
            </a:avLst>
          </a:prstGeom>
          <a:solidFill>
            <a:srgbClr val="141A2F"/>
          </a:solidFill>
          <a:ln w="12700">
            <a:solidFill>
              <a:srgbClr val="303856"/>
            </a:solidFill>
          </a:ln>
        </p:spPr>
      </p:sp>
      <p:sp>
        <p:nvSpPr>
          <p:cNvPr name="GraphCompose Text Line" id="19"/>
          <p:cNvSpPr txBox="true"/>
          <p:nvPr/>
        </p:nvSpPr>
        <p:spPr>
          <a:xfrm>
            <a:off x="6388100" y="2405070"/>
            <a:ext cx="153670" cy="19964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true" i="false" u="none" strike="noStrike" kern="0">
                <a:solidFill>
                  <a:srgbClr val="E9972D"/>
                </a:solidFill>
                <a:latin typeface="Courier New"/>
              </a:rPr>
              <a:t>3</a:t>
            </a:r>
            <a:endParaRPr lang="en-US" sz="1100"/>
          </a:p>
        </p:txBody>
      </p:sp>
      <p:sp>
        <p:nvSpPr>
          <p:cNvPr name="GraphCompose Text Line" id="20"/>
          <p:cNvSpPr txBox="true"/>
          <p:nvPr/>
        </p:nvSpPr>
        <p:spPr>
          <a:xfrm>
            <a:off x="6388100" y="2727089"/>
            <a:ext cx="854342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true" i="false" u="none" strike="noStrike" kern="0">
                <a:solidFill>
                  <a:srgbClr val="F7F8FC"/>
                </a:solidFill>
                <a:latin typeface="Arial"/>
              </a:rPr>
              <a:t>PAGINATE</a:t>
            </a:r>
            <a:endParaRPr lang="en-US" sz="1100"/>
          </a:p>
        </p:txBody>
      </p:sp>
      <p:sp>
        <p:nvSpPr>
          <p:cNvPr name="GraphCompose Text Line" id="21"/>
          <p:cNvSpPr txBox="true"/>
          <p:nvPr/>
        </p:nvSpPr>
        <p:spPr>
          <a:xfrm>
            <a:off x="6388100" y="2960764"/>
            <a:ext cx="2019795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The flow splits across pages row</a:t>
            </a:r>
            <a:endParaRPr lang="en-US" sz="1100"/>
          </a:p>
        </p:txBody>
      </p:sp>
      <p:sp>
        <p:nvSpPr>
          <p:cNvPr name="GraphCompose Text Line" id="22"/>
          <p:cNvSpPr txBox="true"/>
          <p:nvPr/>
        </p:nvSpPr>
        <p:spPr>
          <a:xfrm>
            <a:off x="6388100" y="3128086"/>
            <a:ext cx="451523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by row.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>
            <a:off x="8947150" y="2253564"/>
            <a:ext cx="2584450" cy="1233106"/>
          </a:xfrm>
          <a:prstGeom prst="roundRect">
            <a:avLst>
              <a:gd name="adj" fmla="val 10299"/>
            </a:avLst>
          </a:prstGeom>
          <a:solidFill>
            <a:srgbClr val="141A2F"/>
          </a:solidFill>
          <a:ln w="12700">
            <a:solidFill>
              <a:srgbClr val="303856"/>
            </a:solidFill>
          </a:ln>
        </p:spPr>
      </p:sp>
      <p:sp>
        <p:nvSpPr>
          <p:cNvPr name="GraphCompose Text Line" id="24"/>
          <p:cNvSpPr txBox="true"/>
          <p:nvPr/>
        </p:nvSpPr>
        <p:spPr>
          <a:xfrm>
            <a:off x="9150350" y="2405070"/>
            <a:ext cx="153670" cy="19964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true" i="false" u="none" strike="noStrike" kern="0">
                <a:solidFill>
                  <a:srgbClr val="E9972D"/>
                </a:solidFill>
                <a:latin typeface="Courier New"/>
              </a:rPr>
              <a:t>4</a:t>
            </a:r>
            <a:endParaRPr lang="en-US" sz="1100"/>
          </a:p>
        </p:txBody>
      </p:sp>
      <p:sp>
        <p:nvSpPr>
          <p:cNvPr name="GraphCompose Text Line" id="25"/>
          <p:cNvSpPr txBox="true"/>
          <p:nvPr/>
        </p:nvSpPr>
        <p:spPr>
          <a:xfrm>
            <a:off x="9150350" y="2727089"/>
            <a:ext cx="698322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true" i="false" u="none" strike="noStrike" kern="0">
                <a:solidFill>
                  <a:srgbClr val="F7F8FC"/>
                </a:solidFill>
                <a:latin typeface="Arial"/>
              </a:rPr>
              <a:t>RENDER</a:t>
            </a:r>
            <a:endParaRPr lang="en-US" sz="1100"/>
          </a:p>
        </p:txBody>
      </p:sp>
      <p:sp>
        <p:nvSpPr>
          <p:cNvPr name="GraphCompose Text Line" id="26"/>
          <p:cNvSpPr txBox="true"/>
          <p:nvPr/>
        </p:nvSpPr>
        <p:spPr>
          <a:xfrm>
            <a:off x="9150350" y="2960764"/>
            <a:ext cx="2167458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A backend writes the bytes — PDF</a:t>
            </a:r>
            <a:endParaRPr lang="en-US" sz="1100"/>
          </a:p>
        </p:txBody>
      </p:sp>
      <p:sp>
        <p:nvSpPr>
          <p:cNvPr name="GraphCompose Text Line" id="27"/>
          <p:cNvSpPr txBox="true"/>
          <p:nvPr/>
        </p:nvSpPr>
        <p:spPr>
          <a:xfrm>
            <a:off x="9150350" y="3128086"/>
            <a:ext cx="568033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or PPTX.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>
            <a:off x="660400" y="3766071"/>
            <a:ext cx="3505200" cy="944563"/>
          </a:xfrm>
          <a:prstGeom prst="roundRect">
            <a:avLst>
              <a:gd name="adj" fmla="val 13445"/>
            </a:avLst>
          </a:prstGeom>
          <a:solidFill>
            <a:srgbClr val="192038"/>
          </a:solidFill>
          <a:ln>
            <a:noFill/>
          </a:ln>
        </p:spPr>
      </p:sp>
      <p:cxnSp>
        <p:nvCxnSpPr>
          <p:cNvPr name="Connector 29" id="29"/>
          <p:cNvCxnSpPr/>
          <p:nvPr/>
        </p:nvCxnSpPr>
        <p:spPr>
          <a:xfrm>
            <a:off x="660400" y="3766071"/>
            <a:ext cx="3505200" cy="0"/>
          </a:xfrm>
          <a:prstGeom prst="line">
            <a:avLst/>
          </a:prstGeom>
          <a:ln w="38100">
            <a:solidFill>
              <a:srgbClr val="E9972D"/>
            </a:solidFill>
          </a:ln>
        </p:spPr>
      </p:cxnSp>
      <p:sp>
        <p:nvSpPr>
          <p:cNvPr name="GraphCompose Text Line" id="30"/>
          <p:cNvSpPr txBox="true"/>
          <p:nvPr/>
        </p:nvSpPr>
        <p:spPr>
          <a:xfrm>
            <a:off x="863600" y="3938352"/>
            <a:ext cx="1047178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true" i="false" u="none" strike="noStrike" kern="0">
                <a:solidFill>
                  <a:srgbClr val="F7F8FC"/>
                </a:solidFill>
                <a:latin typeface="Arial"/>
              </a:rPr>
              <a:t>Deterministic</a:t>
            </a:r>
            <a:endParaRPr lang="en-US" sz="1100"/>
          </a:p>
        </p:txBody>
      </p:sp>
      <p:sp>
        <p:nvSpPr>
          <p:cNvPr name="GraphCompose Text Line" id="31"/>
          <p:cNvSpPr txBox="true"/>
          <p:nvPr/>
        </p:nvSpPr>
        <p:spPr>
          <a:xfrm>
            <a:off x="863600" y="4184726"/>
            <a:ext cx="3037230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The same input renders the same bytes on every</a:t>
            </a:r>
            <a:endParaRPr lang="en-US" sz="1100"/>
          </a:p>
        </p:txBody>
      </p:sp>
      <p:sp>
        <p:nvSpPr>
          <p:cNvPr name="GraphCompose Text Line" id="32"/>
          <p:cNvSpPr txBox="true"/>
          <p:nvPr/>
        </p:nvSpPr>
        <p:spPr>
          <a:xfrm>
            <a:off x="863600" y="4352049"/>
            <a:ext cx="2951874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machine. Layout is reproducible, not best-effort.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>
            <a:off x="4343400" y="3766071"/>
            <a:ext cx="3505200" cy="1111885"/>
          </a:xfrm>
          <a:prstGeom prst="roundRect">
            <a:avLst>
              <a:gd name="adj" fmla="val 11422"/>
            </a:avLst>
          </a:prstGeom>
          <a:solidFill>
            <a:srgbClr val="192038"/>
          </a:solidFill>
          <a:ln>
            <a:noFill/>
          </a:ln>
        </p:spPr>
      </p:sp>
      <p:cxnSp>
        <p:nvCxnSpPr>
          <p:cNvPr name="Connector 34" id="34"/>
          <p:cNvCxnSpPr/>
          <p:nvPr/>
        </p:nvCxnSpPr>
        <p:spPr>
          <a:xfrm>
            <a:off x="4343400" y="3766071"/>
            <a:ext cx="3505200" cy="0"/>
          </a:xfrm>
          <a:prstGeom prst="line">
            <a:avLst/>
          </a:prstGeom>
          <a:ln w="38100">
            <a:solidFill>
              <a:srgbClr val="E9972D"/>
            </a:solidFill>
          </a:ln>
        </p:spPr>
      </p:cxnSp>
      <p:sp>
        <p:nvSpPr>
          <p:cNvPr name="GraphCompose Text Line" id="35"/>
          <p:cNvSpPr txBox="true"/>
          <p:nvPr/>
        </p:nvSpPr>
        <p:spPr>
          <a:xfrm>
            <a:off x="4546600" y="3938352"/>
            <a:ext cx="1441602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true" i="false" u="none" strike="noStrike" kern="0">
                <a:solidFill>
                  <a:srgbClr val="F7F8FC"/>
                </a:solidFill>
                <a:latin typeface="Arial"/>
              </a:rPr>
              <a:t>Regression-tested</a:t>
            </a:r>
            <a:endParaRPr lang="en-US" sz="1100"/>
          </a:p>
        </p:txBody>
      </p:sp>
      <p:sp>
        <p:nvSpPr>
          <p:cNvPr name="GraphCompose Text Line" id="36"/>
          <p:cNvSpPr txBox="true"/>
          <p:nvPr/>
        </p:nvSpPr>
        <p:spPr>
          <a:xfrm>
            <a:off x="4546600" y="4184726"/>
            <a:ext cx="3091574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layoutSnapshot() captures the resolved geometry,</a:t>
            </a:r>
            <a:endParaRPr lang="en-US" sz="1100"/>
          </a:p>
        </p:txBody>
      </p:sp>
      <p:sp>
        <p:nvSpPr>
          <p:cNvPr name="GraphCompose Text Line" id="37"/>
          <p:cNvSpPr txBox="true"/>
          <p:nvPr/>
        </p:nvSpPr>
        <p:spPr>
          <a:xfrm>
            <a:off x="4546600" y="4352049"/>
            <a:ext cx="3091853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so a layout change fails a test instead of surfacing</a:t>
            </a:r>
            <a:endParaRPr lang="en-US" sz="1100"/>
          </a:p>
        </p:txBody>
      </p:sp>
      <p:sp>
        <p:nvSpPr>
          <p:cNvPr name="GraphCompose Text Line" id="38"/>
          <p:cNvSpPr txBox="true"/>
          <p:nvPr/>
        </p:nvSpPr>
        <p:spPr>
          <a:xfrm>
            <a:off x="4546600" y="4519371"/>
            <a:ext cx="762216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in a release.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>
            <a:off x="8026400" y="3766071"/>
            <a:ext cx="3505200" cy="1111885"/>
          </a:xfrm>
          <a:prstGeom prst="roundRect">
            <a:avLst>
              <a:gd name="adj" fmla="val 11422"/>
            </a:avLst>
          </a:prstGeom>
          <a:solidFill>
            <a:srgbClr val="192038"/>
          </a:solidFill>
          <a:ln>
            <a:noFill/>
          </a:ln>
        </p:spPr>
      </p:sp>
      <p:cxnSp>
        <p:nvCxnSpPr>
          <p:cNvPr name="Connector 40" id="40"/>
          <p:cNvCxnSpPr/>
          <p:nvPr/>
        </p:nvCxnSpPr>
        <p:spPr>
          <a:xfrm>
            <a:off x="8026400" y="3766071"/>
            <a:ext cx="3505200" cy="0"/>
          </a:xfrm>
          <a:prstGeom prst="line">
            <a:avLst/>
          </a:prstGeom>
          <a:ln w="38100">
            <a:solidFill>
              <a:srgbClr val="E9972D"/>
            </a:solidFill>
          </a:ln>
        </p:spPr>
      </p:cxnSp>
      <p:sp>
        <p:nvSpPr>
          <p:cNvPr name="GraphCompose Text Line" id="41"/>
          <p:cNvSpPr txBox="true"/>
          <p:nvPr/>
        </p:nvSpPr>
        <p:spPr>
          <a:xfrm>
            <a:off x="8229600" y="3938352"/>
            <a:ext cx="1881924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true" i="false" u="none" strike="noStrike" kern="0">
                <a:solidFill>
                  <a:srgbClr val="F7F8FC"/>
                </a:solidFill>
                <a:latin typeface="Arial"/>
              </a:rPr>
              <a:t>One model, two formats</a:t>
            </a:r>
            <a:endParaRPr lang="en-US" sz="1100"/>
          </a:p>
        </p:txBody>
      </p:sp>
      <p:sp>
        <p:nvSpPr>
          <p:cNvPr name="GraphCompose Text Line" id="42"/>
          <p:cNvSpPr txBox="true"/>
          <p:nvPr/>
        </p:nvSpPr>
        <p:spPr>
          <a:xfrm>
            <a:off x="8229600" y="4184726"/>
            <a:ext cx="2819578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The same composition emits this PDF and an</a:t>
            </a:r>
            <a:endParaRPr lang="en-US" sz="1100"/>
          </a:p>
        </p:txBody>
      </p:sp>
      <p:sp>
        <p:nvSpPr>
          <p:cNvPr name="GraphCompose Text Line" id="43"/>
          <p:cNvSpPr txBox="true"/>
          <p:nvPr/>
        </p:nvSpPr>
        <p:spPr>
          <a:xfrm>
            <a:off x="8229600" y="4352049"/>
            <a:ext cx="2998534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editable PPTX. Nothing is authored twice, so the</a:t>
            </a:r>
            <a:endParaRPr lang="en-US" sz="1100"/>
          </a:p>
        </p:txBody>
      </p:sp>
      <p:sp>
        <p:nvSpPr>
          <p:cNvPr name="GraphCompose Text Line" id="44"/>
          <p:cNvSpPr txBox="true"/>
          <p:nvPr/>
        </p:nvSpPr>
        <p:spPr>
          <a:xfrm>
            <a:off x="8229600" y="4519371"/>
            <a:ext cx="987412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two cannot drift.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21"/>
          </a:solidFill>
          <a:ln>
            <a:noFill/>
          </a:ln>
        </p:spPr>
      </p:sp>
      <p:sp>
        <p:nvSpPr>
          <p:cNvPr name="GraphCompose Text Line" id="3"/>
          <p:cNvSpPr txBox="true"/>
          <p:nvPr/>
        </p:nvSpPr>
        <p:spPr>
          <a:xfrm>
            <a:off x="660400" y="454168"/>
            <a:ext cx="1761490" cy="10980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E9972D"/>
                </a:solidFill>
                <a:latin typeface="Courier New"/>
              </a:rPr>
              <a:t>MEASURED, NOT CLAIMED</a:t>
            </a:r>
            <a:endParaRPr lang="en-US" sz="1100"/>
          </a:p>
        </p:txBody>
      </p:sp>
      <p:sp>
        <p:nvSpPr>
          <p:cNvPr name="GraphCompose Text Line" id="4"/>
          <p:cNvSpPr txBox="true"/>
          <p:nvPr/>
        </p:nvSpPr>
        <p:spPr>
          <a:xfrm>
            <a:off x="660400" y="597253"/>
            <a:ext cx="5865622" cy="35242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000" b="true" i="false" u="none" strike="noStrike" kern="0">
                <a:solidFill>
                  <a:srgbClr val="F7F8FC"/>
                </a:solidFill>
                <a:latin typeface="Arial"/>
              </a:rPr>
              <a:t>GraphCompose against the field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>
            <a:off x="660400" y="1173429"/>
            <a:ext cx="1219200" cy="50800"/>
          </a:xfrm>
          <a:prstGeom prst="rect">
            <a:avLst/>
          </a:prstGeom>
          <a:solidFill>
            <a:srgbClr val="E9972D"/>
          </a:solidFill>
          <a:ln>
            <a:noFill/>
          </a:ln>
        </p:spPr>
      </p:sp>
      <p:sp>
        <p:nvSpPr>
          <p:cNvPr name="GraphCompose Text Line" id="6"/>
          <p:cNvSpPr txBox="true"/>
          <p:nvPr/>
        </p:nvSpPr>
        <p:spPr>
          <a:xfrm>
            <a:off x="660400" y="1396510"/>
            <a:ext cx="10604157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false" i="false" u="none" strike="noStrike" kern="0">
                <a:solidFill>
                  <a:srgbClr val="CED4E6"/>
                </a:solidFill>
                <a:latin typeface="Arial"/>
              </a:rPr>
              <a:t>The same documents through three engines — render time and peak heap, measured by this repository's own harness. Every figure on this page</a:t>
            </a:r>
            <a:endParaRPr lang="en-US" sz="1100"/>
          </a:p>
        </p:txBody>
      </p:sp>
      <p:sp>
        <p:nvSpPr>
          <p:cNvPr name="GraphCompose Text Line" id="7"/>
          <p:cNvSpPr txBox="true"/>
          <p:nvPr/>
        </p:nvSpPr>
        <p:spPr>
          <a:xfrm>
            <a:off x="660400" y="1600028"/>
            <a:ext cx="4864951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false" i="false" u="none" strike="noStrike" kern="0">
                <a:solidFill>
                  <a:srgbClr val="CED4E6"/>
                </a:solidFill>
                <a:latin typeface="Arial"/>
              </a:rPr>
              <a:t>and the next is read from the result file at render time, not typed in.</a:t>
            </a:r>
            <a:endParaRPr lang="en-US" sz="1100"/>
          </a:p>
        </p:txBody>
      </p:sp>
      <p:sp>
        <p:nvSpPr>
          <p:cNvPr name="GraphCompose Table Cell Fill" id="8"/>
          <p:cNvSpPr/>
          <p:nvPr/>
        </p:nvSpPr>
        <p:spPr>
          <a:xfrm>
            <a:off x="660400" y="2253564"/>
            <a:ext cx="1287577" cy="267970"/>
          </a:xfrm>
          <a:prstGeom prst="rect">
            <a:avLst/>
          </a:prstGeom>
          <a:solidFill>
            <a:srgbClr val="2A3558"/>
          </a:solidFill>
          <a:ln>
            <a:noFill/>
          </a:ln>
        </p:spPr>
      </p:sp>
      <p:sp>
        <p:nvSpPr>
          <p:cNvPr name="GraphCompose Table Cell Fill" id="9"/>
          <p:cNvSpPr/>
          <p:nvPr/>
        </p:nvSpPr>
        <p:spPr>
          <a:xfrm>
            <a:off x="1947977" y="2253564"/>
            <a:ext cx="1490726" cy="267970"/>
          </a:xfrm>
          <a:prstGeom prst="rect">
            <a:avLst/>
          </a:prstGeom>
          <a:solidFill>
            <a:srgbClr val="2A3558"/>
          </a:solidFill>
          <a:ln>
            <a:noFill/>
          </a:ln>
        </p:spPr>
      </p:sp>
      <p:sp>
        <p:nvSpPr>
          <p:cNvPr name="GraphCompose Table Cell Fill" id="10"/>
          <p:cNvSpPr/>
          <p:nvPr/>
        </p:nvSpPr>
        <p:spPr>
          <a:xfrm>
            <a:off x="3438703" y="2253564"/>
            <a:ext cx="1575460" cy="267970"/>
          </a:xfrm>
          <a:prstGeom prst="rect">
            <a:avLst/>
          </a:prstGeom>
          <a:solidFill>
            <a:srgbClr val="2A3558"/>
          </a:solidFill>
          <a:ln>
            <a:noFill/>
          </a:ln>
        </p:spPr>
      </p:sp>
      <p:sp>
        <p:nvSpPr>
          <p:cNvPr name="GraphCompose Table Cell Fill" id="11"/>
          <p:cNvSpPr/>
          <p:nvPr/>
        </p:nvSpPr>
        <p:spPr>
          <a:xfrm>
            <a:off x="5014163" y="2253564"/>
            <a:ext cx="1490726" cy="267970"/>
          </a:xfrm>
          <a:prstGeom prst="rect">
            <a:avLst/>
          </a:prstGeom>
          <a:solidFill>
            <a:srgbClr val="2A3558"/>
          </a:solidFill>
          <a:ln>
            <a:noFill/>
          </a:ln>
        </p:spPr>
      </p:sp>
      <p:sp>
        <p:nvSpPr>
          <p:cNvPr name="GraphCompose Table Cell Fill" id="12"/>
          <p:cNvSpPr/>
          <p:nvPr/>
        </p:nvSpPr>
        <p:spPr>
          <a:xfrm>
            <a:off x="660400" y="2521534"/>
            <a:ext cx="1287577" cy="267970"/>
          </a:xfrm>
          <a:prstGeom prst="rect">
            <a:avLst/>
          </a:prstGeom>
          <a:solidFill>
            <a:srgbClr val="1D2642"/>
          </a:solidFill>
          <a:ln>
            <a:noFill/>
          </a:ln>
        </p:spPr>
      </p:sp>
      <p:sp>
        <p:nvSpPr>
          <p:cNvPr name="GraphCompose Table Cell Fill" id="13"/>
          <p:cNvSpPr/>
          <p:nvPr/>
        </p:nvSpPr>
        <p:spPr>
          <a:xfrm>
            <a:off x="1947977" y="2521534"/>
            <a:ext cx="1490726" cy="267970"/>
          </a:xfrm>
          <a:prstGeom prst="rect">
            <a:avLst/>
          </a:prstGeom>
          <a:solidFill>
            <a:srgbClr val="1D2642"/>
          </a:solidFill>
          <a:ln>
            <a:noFill/>
          </a:ln>
        </p:spPr>
      </p:sp>
      <p:sp>
        <p:nvSpPr>
          <p:cNvPr name="GraphCompose Table Cell Fill" id="14"/>
          <p:cNvSpPr/>
          <p:nvPr/>
        </p:nvSpPr>
        <p:spPr>
          <a:xfrm>
            <a:off x="3438703" y="2521534"/>
            <a:ext cx="1575460" cy="267970"/>
          </a:xfrm>
          <a:prstGeom prst="rect">
            <a:avLst/>
          </a:prstGeom>
          <a:solidFill>
            <a:srgbClr val="1D2642"/>
          </a:solidFill>
          <a:ln>
            <a:noFill/>
          </a:ln>
        </p:spPr>
      </p:sp>
      <p:sp>
        <p:nvSpPr>
          <p:cNvPr name="GraphCompose Table Cell Fill" id="15"/>
          <p:cNvSpPr/>
          <p:nvPr/>
        </p:nvSpPr>
        <p:spPr>
          <a:xfrm>
            <a:off x="5014163" y="2521534"/>
            <a:ext cx="1490726" cy="267970"/>
          </a:xfrm>
          <a:prstGeom prst="rect">
            <a:avLst/>
          </a:prstGeom>
          <a:solidFill>
            <a:srgbClr val="1D2642"/>
          </a:solidFill>
          <a:ln>
            <a:noFill/>
          </a:ln>
        </p:spPr>
      </p:sp>
      <p:sp>
        <p:nvSpPr>
          <p:cNvPr name="GraphCompose Table Cell Fill" id="16"/>
          <p:cNvSpPr/>
          <p:nvPr/>
        </p:nvSpPr>
        <p:spPr>
          <a:xfrm>
            <a:off x="660400" y="2789504"/>
            <a:ext cx="1287577" cy="267970"/>
          </a:xfrm>
          <a:prstGeom prst="rect">
            <a:avLst/>
          </a:prstGeom>
          <a:solidFill>
            <a:srgbClr val="13192D"/>
          </a:solidFill>
          <a:ln>
            <a:noFill/>
          </a:ln>
        </p:spPr>
      </p:sp>
      <p:sp>
        <p:nvSpPr>
          <p:cNvPr name="GraphCompose Table Cell Fill" id="17"/>
          <p:cNvSpPr/>
          <p:nvPr/>
        </p:nvSpPr>
        <p:spPr>
          <a:xfrm>
            <a:off x="1947977" y="2789504"/>
            <a:ext cx="1490726" cy="267970"/>
          </a:xfrm>
          <a:prstGeom prst="rect">
            <a:avLst/>
          </a:prstGeom>
          <a:solidFill>
            <a:srgbClr val="13192D"/>
          </a:solidFill>
          <a:ln>
            <a:noFill/>
          </a:ln>
        </p:spPr>
      </p:sp>
      <p:sp>
        <p:nvSpPr>
          <p:cNvPr name="GraphCompose Table Cell Fill" id="18"/>
          <p:cNvSpPr/>
          <p:nvPr/>
        </p:nvSpPr>
        <p:spPr>
          <a:xfrm>
            <a:off x="3438703" y="2789504"/>
            <a:ext cx="1575460" cy="267970"/>
          </a:xfrm>
          <a:prstGeom prst="rect">
            <a:avLst/>
          </a:prstGeom>
          <a:solidFill>
            <a:srgbClr val="13192D"/>
          </a:solidFill>
          <a:ln>
            <a:noFill/>
          </a:ln>
        </p:spPr>
      </p:sp>
      <p:sp>
        <p:nvSpPr>
          <p:cNvPr name="GraphCompose Table Cell Fill" id="19"/>
          <p:cNvSpPr/>
          <p:nvPr/>
        </p:nvSpPr>
        <p:spPr>
          <a:xfrm>
            <a:off x="5014163" y="2789504"/>
            <a:ext cx="1490726" cy="267970"/>
          </a:xfrm>
          <a:prstGeom prst="rect">
            <a:avLst/>
          </a:prstGeom>
          <a:solidFill>
            <a:srgbClr val="13192D"/>
          </a:solidFill>
          <a:ln>
            <a:noFill/>
          </a:ln>
        </p:spPr>
      </p:sp>
      <p:sp>
        <p:nvSpPr>
          <p:cNvPr name="GraphCompose Table Cell Fill" id="20"/>
          <p:cNvSpPr/>
          <p:nvPr/>
        </p:nvSpPr>
        <p:spPr>
          <a:xfrm>
            <a:off x="660400" y="3057474"/>
            <a:ext cx="1287577" cy="267970"/>
          </a:xfrm>
          <a:prstGeom prst="rect">
            <a:avLst/>
          </a:prstGeom>
          <a:solidFill>
            <a:srgbClr val="1D2642"/>
          </a:solidFill>
          <a:ln>
            <a:noFill/>
          </a:ln>
        </p:spPr>
      </p:sp>
      <p:sp>
        <p:nvSpPr>
          <p:cNvPr name="GraphCompose Table Cell Fill" id="21"/>
          <p:cNvSpPr/>
          <p:nvPr/>
        </p:nvSpPr>
        <p:spPr>
          <a:xfrm>
            <a:off x="1947977" y="3057474"/>
            <a:ext cx="1490726" cy="267970"/>
          </a:xfrm>
          <a:prstGeom prst="rect">
            <a:avLst/>
          </a:prstGeom>
          <a:solidFill>
            <a:srgbClr val="1D2642"/>
          </a:solidFill>
          <a:ln>
            <a:noFill/>
          </a:ln>
        </p:spPr>
      </p:sp>
      <p:sp>
        <p:nvSpPr>
          <p:cNvPr name="GraphCompose Table Cell Fill" id="22"/>
          <p:cNvSpPr/>
          <p:nvPr/>
        </p:nvSpPr>
        <p:spPr>
          <a:xfrm>
            <a:off x="3438703" y="3057474"/>
            <a:ext cx="1575460" cy="267970"/>
          </a:xfrm>
          <a:prstGeom prst="rect">
            <a:avLst/>
          </a:prstGeom>
          <a:solidFill>
            <a:srgbClr val="1D2642"/>
          </a:solidFill>
          <a:ln>
            <a:noFill/>
          </a:ln>
        </p:spPr>
      </p:sp>
      <p:sp>
        <p:nvSpPr>
          <p:cNvPr name="GraphCompose Table Cell Fill" id="23"/>
          <p:cNvSpPr/>
          <p:nvPr/>
        </p:nvSpPr>
        <p:spPr>
          <a:xfrm>
            <a:off x="5014163" y="3057474"/>
            <a:ext cx="1490726" cy="267970"/>
          </a:xfrm>
          <a:prstGeom prst="rect">
            <a:avLst/>
          </a:prstGeom>
          <a:solidFill>
            <a:srgbClr val="1D2642"/>
          </a:solidFill>
          <a:ln>
            <a:noFill/>
          </a:ln>
        </p:spPr>
      </p:sp>
      <p:sp>
        <p:nvSpPr>
          <p:cNvPr name="GraphCompose Table Cell Fill" id="24"/>
          <p:cNvSpPr/>
          <p:nvPr/>
        </p:nvSpPr>
        <p:spPr>
          <a:xfrm>
            <a:off x="660400" y="3325444"/>
            <a:ext cx="1287577" cy="267970"/>
          </a:xfrm>
          <a:prstGeom prst="rect">
            <a:avLst/>
          </a:prstGeom>
          <a:solidFill>
            <a:srgbClr val="13192D"/>
          </a:solidFill>
          <a:ln>
            <a:noFill/>
          </a:ln>
        </p:spPr>
      </p:sp>
      <p:sp>
        <p:nvSpPr>
          <p:cNvPr name="GraphCompose Table Cell Fill" id="25"/>
          <p:cNvSpPr/>
          <p:nvPr/>
        </p:nvSpPr>
        <p:spPr>
          <a:xfrm>
            <a:off x="1947977" y="3325444"/>
            <a:ext cx="1490726" cy="267970"/>
          </a:xfrm>
          <a:prstGeom prst="rect">
            <a:avLst/>
          </a:prstGeom>
          <a:solidFill>
            <a:srgbClr val="13192D"/>
          </a:solidFill>
          <a:ln>
            <a:noFill/>
          </a:ln>
        </p:spPr>
      </p:sp>
      <p:sp>
        <p:nvSpPr>
          <p:cNvPr name="GraphCompose Table Cell Fill" id="26"/>
          <p:cNvSpPr/>
          <p:nvPr/>
        </p:nvSpPr>
        <p:spPr>
          <a:xfrm>
            <a:off x="3438703" y="3325444"/>
            <a:ext cx="1575460" cy="267970"/>
          </a:xfrm>
          <a:prstGeom prst="rect">
            <a:avLst/>
          </a:prstGeom>
          <a:solidFill>
            <a:srgbClr val="13192D"/>
          </a:solidFill>
          <a:ln>
            <a:noFill/>
          </a:ln>
        </p:spPr>
      </p:sp>
      <p:sp>
        <p:nvSpPr>
          <p:cNvPr name="GraphCompose Table Cell Fill" id="27"/>
          <p:cNvSpPr/>
          <p:nvPr/>
        </p:nvSpPr>
        <p:spPr>
          <a:xfrm>
            <a:off x="5014163" y="3325444"/>
            <a:ext cx="1490726" cy="267970"/>
          </a:xfrm>
          <a:prstGeom prst="rect">
            <a:avLst/>
          </a:prstGeom>
          <a:solidFill>
            <a:srgbClr val="13192D"/>
          </a:solidFill>
          <a:ln>
            <a:noFill/>
          </a:ln>
        </p:spPr>
      </p:sp>
      <p:cxnSp>
        <p:nvCxnSpPr>
          <p:cNvPr name="GraphCompose Table Cell Border" id="28"/>
          <p:cNvCxnSpPr/>
          <p:nvPr/>
        </p:nvCxnSpPr>
        <p:spPr>
          <a:xfrm>
            <a:off x="660400" y="2253564"/>
            <a:ext cx="1292657" cy="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29"/>
          <p:cNvCxnSpPr/>
          <p:nvPr/>
        </p:nvCxnSpPr>
        <p:spPr>
          <a:xfrm>
            <a:off x="660400" y="2521534"/>
            <a:ext cx="1292657" cy="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30"/>
          <p:cNvCxnSpPr/>
          <p:nvPr/>
        </p:nvCxnSpPr>
        <p:spPr>
          <a:xfrm>
            <a:off x="660400" y="2253564"/>
            <a:ext cx="0" cy="26797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31"/>
          <p:cNvCxnSpPr/>
          <p:nvPr/>
        </p:nvCxnSpPr>
        <p:spPr>
          <a:xfrm>
            <a:off x="1947977" y="2253564"/>
            <a:ext cx="0" cy="26797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sp>
        <p:nvSpPr>
          <p:cNvPr name="GraphCompose Table Cell Text" id="32"/>
          <p:cNvSpPr txBox="true"/>
          <p:nvPr/>
        </p:nvSpPr>
        <p:spPr>
          <a:xfrm>
            <a:off x="787400" y="2288524"/>
            <a:ext cx="822706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200" b="true" i="false" u="none" strike="noStrike" kern="0">
                <a:solidFill>
                  <a:srgbClr val="F7F8FC"/>
                </a:solidFill>
                <a:latin typeface="Arial"/>
              </a:rPr>
              <a:t>Report size</a:t>
            </a:r>
            <a:endParaRPr lang="en-US" sz="1100"/>
          </a:p>
        </p:txBody>
      </p:sp>
      <p:cxnSp>
        <p:nvCxnSpPr>
          <p:cNvPr name="GraphCompose Table Cell Border" id="33"/>
          <p:cNvCxnSpPr/>
          <p:nvPr/>
        </p:nvCxnSpPr>
        <p:spPr>
          <a:xfrm>
            <a:off x="1942897" y="2253564"/>
            <a:ext cx="1500886" cy="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34"/>
          <p:cNvCxnSpPr/>
          <p:nvPr/>
        </p:nvCxnSpPr>
        <p:spPr>
          <a:xfrm>
            <a:off x="1942897" y="2521534"/>
            <a:ext cx="1500886" cy="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35"/>
          <p:cNvCxnSpPr/>
          <p:nvPr/>
        </p:nvCxnSpPr>
        <p:spPr>
          <a:xfrm>
            <a:off x="3438703" y="2253564"/>
            <a:ext cx="0" cy="26797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sp>
        <p:nvSpPr>
          <p:cNvPr name="GraphCompose Table Cell Text" id="36"/>
          <p:cNvSpPr txBox="true"/>
          <p:nvPr/>
        </p:nvSpPr>
        <p:spPr>
          <a:xfrm>
            <a:off x="2074977" y="2288524"/>
            <a:ext cx="1144422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200" b="true" i="false" u="none" strike="noStrike" kern="0">
                <a:solidFill>
                  <a:srgbClr val="F7F8FC"/>
                </a:solidFill>
                <a:latin typeface="Arial"/>
              </a:rPr>
              <a:t>GraphCompose</a:t>
            </a:r>
            <a:endParaRPr lang="en-US" sz="1100"/>
          </a:p>
        </p:txBody>
      </p:sp>
      <p:cxnSp>
        <p:nvCxnSpPr>
          <p:cNvPr name="GraphCompose Table Cell Border" id="37"/>
          <p:cNvCxnSpPr/>
          <p:nvPr/>
        </p:nvCxnSpPr>
        <p:spPr>
          <a:xfrm>
            <a:off x="3433623" y="2253564"/>
            <a:ext cx="1585620" cy="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38"/>
          <p:cNvCxnSpPr/>
          <p:nvPr/>
        </p:nvCxnSpPr>
        <p:spPr>
          <a:xfrm>
            <a:off x="3433623" y="2521534"/>
            <a:ext cx="1585620" cy="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39"/>
          <p:cNvCxnSpPr/>
          <p:nvPr/>
        </p:nvCxnSpPr>
        <p:spPr>
          <a:xfrm>
            <a:off x="5014163" y="2253564"/>
            <a:ext cx="0" cy="26797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sp>
        <p:nvSpPr>
          <p:cNvPr name="GraphCompose Table Cell Text" id="40"/>
          <p:cNvSpPr txBox="true"/>
          <p:nvPr/>
        </p:nvSpPr>
        <p:spPr>
          <a:xfrm>
            <a:off x="3565703" y="2288524"/>
            <a:ext cx="484073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200" b="true" i="false" u="none" strike="noStrike" kern="0">
                <a:solidFill>
                  <a:srgbClr val="F7F8FC"/>
                </a:solidFill>
                <a:latin typeface="Arial"/>
              </a:rPr>
              <a:t>iText 9</a:t>
            </a:r>
            <a:endParaRPr lang="en-US" sz="1100"/>
          </a:p>
        </p:txBody>
      </p:sp>
      <p:cxnSp>
        <p:nvCxnSpPr>
          <p:cNvPr name="GraphCompose Table Cell Border" id="41"/>
          <p:cNvCxnSpPr/>
          <p:nvPr/>
        </p:nvCxnSpPr>
        <p:spPr>
          <a:xfrm>
            <a:off x="5009083" y="2253564"/>
            <a:ext cx="1495806" cy="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42"/>
          <p:cNvCxnSpPr/>
          <p:nvPr/>
        </p:nvCxnSpPr>
        <p:spPr>
          <a:xfrm>
            <a:off x="5009083" y="2521534"/>
            <a:ext cx="1495806" cy="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43"/>
          <p:cNvCxnSpPr/>
          <p:nvPr/>
        </p:nvCxnSpPr>
        <p:spPr>
          <a:xfrm>
            <a:off x="6504889" y="2253564"/>
            <a:ext cx="0" cy="26797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sp>
        <p:nvSpPr>
          <p:cNvPr name="GraphCompose Table Cell Text" id="44"/>
          <p:cNvSpPr txBox="true"/>
          <p:nvPr/>
        </p:nvSpPr>
        <p:spPr>
          <a:xfrm>
            <a:off x="5141163" y="2288524"/>
            <a:ext cx="1068375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200" b="true" i="false" u="none" strike="noStrike" kern="0">
                <a:solidFill>
                  <a:srgbClr val="F7F8FC"/>
                </a:solidFill>
                <a:latin typeface="Arial"/>
              </a:rPr>
              <a:t>JasperReports</a:t>
            </a:r>
            <a:endParaRPr lang="en-US" sz="1100"/>
          </a:p>
        </p:txBody>
      </p:sp>
      <p:cxnSp>
        <p:nvCxnSpPr>
          <p:cNvPr name="GraphCompose Table Cell Border" id="45"/>
          <p:cNvCxnSpPr/>
          <p:nvPr/>
        </p:nvCxnSpPr>
        <p:spPr>
          <a:xfrm>
            <a:off x="660400" y="2789504"/>
            <a:ext cx="1292657" cy="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46"/>
          <p:cNvCxnSpPr/>
          <p:nvPr/>
        </p:nvCxnSpPr>
        <p:spPr>
          <a:xfrm>
            <a:off x="660400" y="2521534"/>
            <a:ext cx="0" cy="26797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47"/>
          <p:cNvCxnSpPr/>
          <p:nvPr/>
        </p:nvCxnSpPr>
        <p:spPr>
          <a:xfrm>
            <a:off x="1947977" y="2521534"/>
            <a:ext cx="0" cy="26797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sp>
        <p:nvSpPr>
          <p:cNvPr name="GraphCompose Table Cell Text" id="48"/>
          <p:cNvSpPr txBox="true"/>
          <p:nvPr/>
        </p:nvSpPr>
        <p:spPr>
          <a:xfrm>
            <a:off x="787400" y="2556494"/>
            <a:ext cx="1034847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200" b="false" i="false" u="none" strike="noStrike" kern="0">
                <a:solidFill>
                  <a:srgbClr val="CED4E6"/>
                </a:solidFill>
                <a:latin typeface="Arial"/>
              </a:rPr>
              <a:t>1 page · 3 lines</a:t>
            </a:r>
            <a:endParaRPr lang="en-US" sz="1100"/>
          </a:p>
        </p:txBody>
      </p:sp>
      <p:cxnSp>
        <p:nvCxnSpPr>
          <p:cNvPr name="GraphCompose Table Cell Border" id="49"/>
          <p:cNvCxnSpPr/>
          <p:nvPr/>
        </p:nvCxnSpPr>
        <p:spPr>
          <a:xfrm>
            <a:off x="1942897" y="2789504"/>
            <a:ext cx="1500886" cy="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50"/>
          <p:cNvCxnSpPr/>
          <p:nvPr/>
        </p:nvCxnSpPr>
        <p:spPr>
          <a:xfrm>
            <a:off x="3438703" y="2521534"/>
            <a:ext cx="0" cy="26797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sp>
        <p:nvSpPr>
          <p:cNvPr name="GraphCompose Table Cell Text" id="51"/>
          <p:cNvSpPr txBox="true"/>
          <p:nvPr/>
        </p:nvSpPr>
        <p:spPr>
          <a:xfrm>
            <a:off x="2074977" y="2556494"/>
            <a:ext cx="1068527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200" b="false" i="false" u="none" strike="noStrike" kern="0">
                <a:solidFill>
                  <a:srgbClr val="CED4E6"/>
                </a:solidFill>
                <a:latin typeface="Arial"/>
              </a:rPr>
              <a:t>2.0 ms · 0.2 MB</a:t>
            </a:r>
            <a:endParaRPr lang="en-US" sz="1100"/>
          </a:p>
        </p:txBody>
      </p:sp>
      <p:cxnSp>
        <p:nvCxnSpPr>
          <p:cNvPr name="GraphCompose Table Cell Border" id="52"/>
          <p:cNvCxnSpPr/>
          <p:nvPr/>
        </p:nvCxnSpPr>
        <p:spPr>
          <a:xfrm>
            <a:off x="3433623" y="2789504"/>
            <a:ext cx="1585620" cy="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53"/>
          <p:cNvCxnSpPr/>
          <p:nvPr/>
        </p:nvCxnSpPr>
        <p:spPr>
          <a:xfrm>
            <a:off x="5014163" y="2521534"/>
            <a:ext cx="0" cy="26797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sp>
        <p:nvSpPr>
          <p:cNvPr name="GraphCompose Table Cell Text" id="54"/>
          <p:cNvSpPr txBox="true"/>
          <p:nvPr/>
        </p:nvSpPr>
        <p:spPr>
          <a:xfrm>
            <a:off x="3565703" y="2556494"/>
            <a:ext cx="1068527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200" b="false" i="false" u="none" strike="noStrike" kern="0">
                <a:solidFill>
                  <a:srgbClr val="CED4E6"/>
                </a:solidFill>
                <a:latin typeface="Arial"/>
              </a:rPr>
              <a:t>2.1 ms · 0.2 MB</a:t>
            </a:r>
            <a:endParaRPr lang="en-US" sz="1100"/>
          </a:p>
        </p:txBody>
      </p:sp>
      <p:cxnSp>
        <p:nvCxnSpPr>
          <p:cNvPr name="GraphCompose Table Cell Border" id="55"/>
          <p:cNvCxnSpPr/>
          <p:nvPr/>
        </p:nvCxnSpPr>
        <p:spPr>
          <a:xfrm>
            <a:off x="5009083" y="2789504"/>
            <a:ext cx="1495806" cy="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56"/>
          <p:cNvCxnSpPr/>
          <p:nvPr/>
        </p:nvCxnSpPr>
        <p:spPr>
          <a:xfrm>
            <a:off x="6504889" y="2521534"/>
            <a:ext cx="0" cy="26797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sp>
        <p:nvSpPr>
          <p:cNvPr name="GraphCompose Table Cell Text" id="57"/>
          <p:cNvSpPr txBox="true"/>
          <p:nvPr/>
        </p:nvSpPr>
        <p:spPr>
          <a:xfrm>
            <a:off x="5141163" y="2556494"/>
            <a:ext cx="1068527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200" b="false" i="false" u="none" strike="noStrike" kern="0">
                <a:solidFill>
                  <a:srgbClr val="CED4E6"/>
                </a:solidFill>
                <a:latin typeface="Arial"/>
              </a:rPr>
              <a:t>4.2 ms · 0.2 MB</a:t>
            </a:r>
            <a:endParaRPr lang="en-US" sz="1100"/>
          </a:p>
        </p:txBody>
      </p:sp>
      <p:cxnSp>
        <p:nvCxnSpPr>
          <p:cNvPr name="GraphCompose Table Cell Border" id="58"/>
          <p:cNvCxnSpPr/>
          <p:nvPr/>
        </p:nvCxnSpPr>
        <p:spPr>
          <a:xfrm>
            <a:off x="660400" y="3057474"/>
            <a:ext cx="1292657" cy="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59"/>
          <p:cNvCxnSpPr/>
          <p:nvPr/>
        </p:nvCxnSpPr>
        <p:spPr>
          <a:xfrm>
            <a:off x="660400" y="2789504"/>
            <a:ext cx="0" cy="26797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60"/>
          <p:cNvCxnSpPr/>
          <p:nvPr/>
        </p:nvCxnSpPr>
        <p:spPr>
          <a:xfrm>
            <a:off x="1947977" y="2789504"/>
            <a:ext cx="0" cy="26797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sp>
        <p:nvSpPr>
          <p:cNvPr name="GraphCompose Table Cell Text" id="61"/>
          <p:cNvSpPr txBox="true"/>
          <p:nvPr/>
        </p:nvSpPr>
        <p:spPr>
          <a:xfrm>
            <a:off x="787400" y="2824464"/>
            <a:ext cx="534822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200" b="false" i="false" u="none" strike="noStrike" kern="0">
                <a:solidFill>
                  <a:srgbClr val="CED4E6"/>
                </a:solidFill>
                <a:latin typeface="Arial"/>
              </a:rPr>
              <a:t>40 rows</a:t>
            </a:r>
            <a:endParaRPr lang="en-US" sz="1100"/>
          </a:p>
        </p:txBody>
      </p:sp>
      <p:cxnSp>
        <p:nvCxnSpPr>
          <p:cNvPr name="GraphCompose Table Cell Border" id="62"/>
          <p:cNvCxnSpPr/>
          <p:nvPr/>
        </p:nvCxnSpPr>
        <p:spPr>
          <a:xfrm>
            <a:off x="1942897" y="3057474"/>
            <a:ext cx="1500886" cy="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63"/>
          <p:cNvCxnSpPr/>
          <p:nvPr/>
        </p:nvCxnSpPr>
        <p:spPr>
          <a:xfrm>
            <a:off x="3438703" y="2789504"/>
            <a:ext cx="0" cy="26797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sp>
        <p:nvSpPr>
          <p:cNvPr name="GraphCompose Table Cell Text" id="64"/>
          <p:cNvSpPr txBox="true"/>
          <p:nvPr/>
        </p:nvSpPr>
        <p:spPr>
          <a:xfrm>
            <a:off x="2074977" y="2824464"/>
            <a:ext cx="1068527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200" b="false" i="false" u="none" strike="noStrike" kern="0">
                <a:solidFill>
                  <a:srgbClr val="CED4E6"/>
                </a:solidFill>
                <a:latin typeface="Arial"/>
              </a:rPr>
              <a:t>4.1 ms · 1.0 MB</a:t>
            </a:r>
            <a:endParaRPr lang="en-US" sz="1100"/>
          </a:p>
        </p:txBody>
      </p:sp>
      <p:cxnSp>
        <p:nvCxnSpPr>
          <p:cNvPr name="GraphCompose Table Cell Border" id="65"/>
          <p:cNvCxnSpPr/>
          <p:nvPr/>
        </p:nvCxnSpPr>
        <p:spPr>
          <a:xfrm>
            <a:off x="3433623" y="3057474"/>
            <a:ext cx="1585620" cy="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66"/>
          <p:cNvCxnSpPr/>
          <p:nvPr/>
        </p:nvCxnSpPr>
        <p:spPr>
          <a:xfrm>
            <a:off x="5014163" y="2789504"/>
            <a:ext cx="0" cy="26797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sp>
        <p:nvSpPr>
          <p:cNvPr name="GraphCompose Table Cell Text" id="67"/>
          <p:cNvSpPr txBox="true"/>
          <p:nvPr/>
        </p:nvSpPr>
        <p:spPr>
          <a:xfrm>
            <a:off x="3565703" y="2824464"/>
            <a:ext cx="1153262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200" b="false" i="false" u="none" strike="noStrike" kern="0">
                <a:solidFill>
                  <a:srgbClr val="CED4E6"/>
                </a:solidFill>
                <a:latin typeface="Arial"/>
              </a:rPr>
              <a:t>10.0 ms · 3.0 MB</a:t>
            </a:r>
            <a:endParaRPr lang="en-US" sz="1100"/>
          </a:p>
        </p:txBody>
      </p:sp>
      <p:cxnSp>
        <p:nvCxnSpPr>
          <p:cNvPr name="GraphCompose Table Cell Border" id="68"/>
          <p:cNvCxnSpPr/>
          <p:nvPr/>
        </p:nvCxnSpPr>
        <p:spPr>
          <a:xfrm>
            <a:off x="5009083" y="3057474"/>
            <a:ext cx="1495806" cy="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69"/>
          <p:cNvCxnSpPr/>
          <p:nvPr/>
        </p:nvCxnSpPr>
        <p:spPr>
          <a:xfrm>
            <a:off x="6504889" y="2789504"/>
            <a:ext cx="0" cy="26797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sp>
        <p:nvSpPr>
          <p:cNvPr name="GraphCompose Table Cell Text" id="70"/>
          <p:cNvSpPr txBox="true"/>
          <p:nvPr/>
        </p:nvSpPr>
        <p:spPr>
          <a:xfrm>
            <a:off x="5141163" y="2824464"/>
            <a:ext cx="1068527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200" b="false" i="false" u="none" strike="noStrike" kern="0">
                <a:solidFill>
                  <a:srgbClr val="CED4E6"/>
                </a:solidFill>
                <a:latin typeface="Arial"/>
              </a:rPr>
              <a:t>8.3 ms · 2.5 MB</a:t>
            </a:r>
            <a:endParaRPr lang="en-US" sz="1100"/>
          </a:p>
        </p:txBody>
      </p:sp>
      <p:cxnSp>
        <p:nvCxnSpPr>
          <p:cNvPr name="GraphCompose Table Cell Border" id="71"/>
          <p:cNvCxnSpPr/>
          <p:nvPr/>
        </p:nvCxnSpPr>
        <p:spPr>
          <a:xfrm>
            <a:off x="660400" y="3325444"/>
            <a:ext cx="1292657" cy="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72"/>
          <p:cNvCxnSpPr/>
          <p:nvPr/>
        </p:nvCxnSpPr>
        <p:spPr>
          <a:xfrm>
            <a:off x="660400" y="3057474"/>
            <a:ext cx="0" cy="26797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73"/>
          <p:cNvCxnSpPr/>
          <p:nvPr/>
        </p:nvCxnSpPr>
        <p:spPr>
          <a:xfrm>
            <a:off x="1947977" y="3057474"/>
            <a:ext cx="0" cy="26797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sp>
        <p:nvSpPr>
          <p:cNvPr name="GraphCompose Table Cell Text" id="74"/>
          <p:cNvSpPr txBox="true"/>
          <p:nvPr/>
        </p:nvSpPr>
        <p:spPr>
          <a:xfrm>
            <a:off x="787400" y="3092434"/>
            <a:ext cx="619557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200" b="false" i="false" u="none" strike="noStrike" kern="0">
                <a:solidFill>
                  <a:srgbClr val="CED4E6"/>
                </a:solidFill>
                <a:latin typeface="Arial"/>
              </a:rPr>
              <a:t>200 rows</a:t>
            </a:r>
            <a:endParaRPr lang="en-US" sz="1100"/>
          </a:p>
        </p:txBody>
      </p:sp>
      <p:cxnSp>
        <p:nvCxnSpPr>
          <p:cNvPr name="GraphCompose Table Cell Border" id="75"/>
          <p:cNvCxnSpPr/>
          <p:nvPr/>
        </p:nvCxnSpPr>
        <p:spPr>
          <a:xfrm>
            <a:off x="1942897" y="3325444"/>
            <a:ext cx="1500886" cy="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76"/>
          <p:cNvCxnSpPr/>
          <p:nvPr/>
        </p:nvCxnSpPr>
        <p:spPr>
          <a:xfrm>
            <a:off x="3438703" y="3057474"/>
            <a:ext cx="0" cy="26797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sp>
        <p:nvSpPr>
          <p:cNvPr name="GraphCompose Table Cell Text" id="77"/>
          <p:cNvSpPr txBox="true"/>
          <p:nvPr/>
        </p:nvSpPr>
        <p:spPr>
          <a:xfrm>
            <a:off x="2074977" y="3092434"/>
            <a:ext cx="1153262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200" b="false" i="false" u="none" strike="noStrike" kern="0">
                <a:solidFill>
                  <a:srgbClr val="CED4E6"/>
                </a:solidFill>
                <a:latin typeface="Arial"/>
              </a:rPr>
              <a:t>10.9 ms · 4.0 MB</a:t>
            </a:r>
            <a:endParaRPr lang="en-US" sz="1100"/>
          </a:p>
        </p:txBody>
      </p:sp>
      <p:cxnSp>
        <p:nvCxnSpPr>
          <p:cNvPr name="GraphCompose Table Cell Border" id="78"/>
          <p:cNvCxnSpPr/>
          <p:nvPr/>
        </p:nvCxnSpPr>
        <p:spPr>
          <a:xfrm>
            <a:off x="3433623" y="3325444"/>
            <a:ext cx="1585620" cy="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79"/>
          <p:cNvCxnSpPr/>
          <p:nvPr/>
        </p:nvCxnSpPr>
        <p:spPr>
          <a:xfrm>
            <a:off x="5014163" y="3057474"/>
            <a:ext cx="0" cy="26797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sp>
        <p:nvSpPr>
          <p:cNvPr name="GraphCompose Table Cell Text" id="80"/>
          <p:cNvSpPr txBox="true"/>
          <p:nvPr/>
        </p:nvSpPr>
        <p:spPr>
          <a:xfrm>
            <a:off x="3565703" y="3092434"/>
            <a:ext cx="1237996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200" b="false" i="false" u="none" strike="noStrike" kern="0">
                <a:solidFill>
                  <a:srgbClr val="CED4E6"/>
                </a:solidFill>
                <a:latin typeface="Arial"/>
              </a:rPr>
              <a:t>36.6 ms · 13.6 MB</a:t>
            </a:r>
            <a:endParaRPr lang="en-US" sz="1100"/>
          </a:p>
        </p:txBody>
      </p:sp>
      <p:cxnSp>
        <p:nvCxnSpPr>
          <p:cNvPr name="GraphCompose Table Cell Border" id="81"/>
          <p:cNvCxnSpPr/>
          <p:nvPr/>
        </p:nvCxnSpPr>
        <p:spPr>
          <a:xfrm>
            <a:off x="5009083" y="3325444"/>
            <a:ext cx="1495806" cy="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82"/>
          <p:cNvCxnSpPr/>
          <p:nvPr/>
        </p:nvCxnSpPr>
        <p:spPr>
          <a:xfrm>
            <a:off x="6504889" y="3057474"/>
            <a:ext cx="0" cy="26797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sp>
        <p:nvSpPr>
          <p:cNvPr name="GraphCompose Table Cell Text" id="83"/>
          <p:cNvSpPr txBox="true"/>
          <p:nvPr/>
        </p:nvSpPr>
        <p:spPr>
          <a:xfrm>
            <a:off x="5141163" y="3092434"/>
            <a:ext cx="1237996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200" b="false" i="false" u="none" strike="noStrike" kern="0">
                <a:solidFill>
                  <a:srgbClr val="CED4E6"/>
                </a:solidFill>
                <a:latin typeface="Arial"/>
              </a:rPr>
              <a:t>13.5 ms · 10.8 MB</a:t>
            </a:r>
            <a:endParaRPr lang="en-US" sz="1100"/>
          </a:p>
        </p:txBody>
      </p:sp>
      <p:cxnSp>
        <p:nvCxnSpPr>
          <p:cNvPr name="GraphCompose Table Cell Border" id="84"/>
          <p:cNvCxnSpPr/>
          <p:nvPr/>
        </p:nvCxnSpPr>
        <p:spPr>
          <a:xfrm>
            <a:off x="660400" y="3593414"/>
            <a:ext cx="1292657" cy="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85"/>
          <p:cNvCxnSpPr/>
          <p:nvPr/>
        </p:nvCxnSpPr>
        <p:spPr>
          <a:xfrm>
            <a:off x="660400" y="3325444"/>
            <a:ext cx="0" cy="26797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86"/>
          <p:cNvCxnSpPr/>
          <p:nvPr/>
        </p:nvCxnSpPr>
        <p:spPr>
          <a:xfrm>
            <a:off x="1947977" y="3325444"/>
            <a:ext cx="0" cy="26797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sp>
        <p:nvSpPr>
          <p:cNvPr name="GraphCompose Table Cell Text" id="87"/>
          <p:cNvSpPr txBox="true"/>
          <p:nvPr/>
        </p:nvSpPr>
        <p:spPr>
          <a:xfrm>
            <a:off x="787400" y="3360404"/>
            <a:ext cx="704291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200" b="false" i="false" u="none" strike="noStrike" kern="0">
                <a:solidFill>
                  <a:srgbClr val="CED4E6"/>
                </a:solidFill>
                <a:latin typeface="Arial"/>
              </a:rPr>
              <a:t>1000 rows</a:t>
            </a:r>
            <a:endParaRPr lang="en-US" sz="1100"/>
          </a:p>
        </p:txBody>
      </p:sp>
      <p:cxnSp>
        <p:nvCxnSpPr>
          <p:cNvPr name="GraphCompose Table Cell Border" id="88"/>
          <p:cNvCxnSpPr/>
          <p:nvPr/>
        </p:nvCxnSpPr>
        <p:spPr>
          <a:xfrm>
            <a:off x="1942897" y="3593414"/>
            <a:ext cx="1500886" cy="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89"/>
          <p:cNvCxnSpPr/>
          <p:nvPr/>
        </p:nvCxnSpPr>
        <p:spPr>
          <a:xfrm>
            <a:off x="3438703" y="3325444"/>
            <a:ext cx="0" cy="26797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sp>
        <p:nvSpPr>
          <p:cNvPr name="GraphCompose Table Cell Text" id="90"/>
          <p:cNvSpPr txBox="true"/>
          <p:nvPr/>
        </p:nvSpPr>
        <p:spPr>
          <a:xfrm>
            <a:off x="2074977" y="3360404"/>
            <a:ext cx="1237996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200" b="false" i="false" u="none" strike="noStrike" kern="0">
                <a:solidFill>
                  <a:srgbClr val="CED4E6"/>
                </a:solidFill>
                <a:latin typeface="Arial"/>
              </a:rPr>
              <a:t>42.8 ms · 19.3 MB</a:t>
            </a:r>
            <a:endParaRPr lang="en-US" sz="1100"/>
          </a:p>
        </p:txBody>
      </p:sp>
      <p:cxnSp>
        <p:nvCxnSpPr>
          <p:cNvPr name="GraphCompose Table Cell Border" id="91"/>
          <p:cNvCxnSpPr/>
          <p:nvPr/>
        </p:nvCxnSpPr>
        <p:spPr>
          <a:xfrm>
            <a:off x="3433623" y="3593414"/>
            <a:ext cx="1585620" cy="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92"/>
          <p:cNvCxnSpPr/>
          <p:nvPr/>
        </p:nvCxnSpPr>
        <p:spPr>
          <a:xfrm>
            <a:off x="5014163" y="3325444"/>
            <a:ext cx="0" cy="26797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sp>
        <p:nvSpPr>
          <p:cNvPr name="GraphCompose Table Cell Text" id="93"/>
          <p:cNvSpPr txBox="true"/>
          <p:nvPr/>
        </p:nvSpPr>
        <p:spPr>
          <a:xfrm>
            <a:off x="3565703" y="3360404"/>
            <a:ext cx="1322730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200" b="false" i="false" u="none" strike="noStrike" kern="0">
                <a:solidFill>
                  <a:srgbClr val="CED4E6"/>
                </a:solidFill>
                <a:latin typeface="Arial"/>
              </a:rPr>
              <a:t>189.1 ms · 67.3 MB</a:t>
            </a:r>
            <a:endParaRPr lang="en-US" sz="1100"/>
          </a:p>
        </p:txBody>
      </p:sp>
      <p:cxnSp>
        <p:nvCxnSpPr>
          <p:cNvPr name="GraphCompose Table Cell Border" id="94"/>
          <p:cNvCxnSpPr/>
          <p:nvPr/>
        </p:nvCxnSpPr>
        <p:spPr>
          <a:xfrm>
            <a:off x="5009083" y="3593414"/>
            <a:ext cx="1495806" cy="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95"/>
          <p:cNvCxnSpPr/>
          <p:nvPr/>
        </p:nvCxnSpPr>
        <p:spPr>
          <a:xfrm>
            <a:off x="6504889" y="3325444"/>
            <a:ext cx="0" cy="26797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sp>
        <p:nvSpPr>
          <p:cNvPr name="GraphCompose Table Cell Text" id="96"/>
          <p:cNvSpPr txBox="true"/>
          <p:nvPr/>
        </p:nvSpPr>
        <p:spPr>
          <a:xfrm>
            <a:off x="5141163" y="3360404"/>
            <a:ext cx="1237996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200" b="false" i="false" u="none" strike="noStrike" kern="0">
                <a:solidFill>
                  <a:srgbClr val="CED4E6"/>
                </a:solidFill>
                <a:latin typeface="Arial"/>
              </a:rPr>
              <a:t>43.7 ms · 52.5 MB</a:t>
            </a:r>
            <a:endParaRPr lang="en-US" sz="1100"/>
          </a:p>
        </p:txBody>
      </p:sp>
      <p:sp>
        <p:nvSpPr>
          <p:cNvPr name="AutoShape 97" id="97"/>
          <p:cNvSpPr/>
          <p:nvPr/>
        </p:nvSpPr>
        <p:spPr>
          <a:xfrm>
            <a:off x="660400" y="3847414"/>
            <a:ext cx="3505200" cy="915353"/>
          </a:xfrm>
          <a:prstGeom prst="roundRect">
            <a:avLst>
              <a:gd name="adj" fmla="val 13874"/>
            </a:avLst>
          </a:prstGeom>
          <a:solidFill>
            <a:srgbClr val="141A2F"/>
          </a:solidFill>
          <a:ln>
            <a:noFill/>
          </a:ln>
        </p:spPr>
      </p:sp>
      <p:cxnSp>
        <p:nvCxnSpPr>
          <p:cNvPr name="Connector 98" id="98"/>
          <p:cNvCxnSpPr/>
          <p:nvPr/>
        </p:nvCxnSpPr>
        <p:spPr>
          <a:xfrm>
            <a:off x="660400" y="3847414"/>
            <a:ext cx="3505200" cy="0"/>
          </a:xfrm>
          <a:prstGeom prst="line">
            <a:avLst/>
          </a:prstGeom>
          <a:ln w="38100">
            <a:solidFill>
              <a:srgbClr val="E9972D"/>
            </a:solidFill>
          </a:ln>
        </p:spPr>
      </p:cxnSp>
      <p:sp>
        <p:nvSpPr>
          <p:cNvPr name="GraphCompose Text Line" id="99"/>
          <p:cNvSpPr txBox="true"/>
          <p:nvPr/>
        </p:nvSpPr>
        <p:spPr>
          <a:xfrm>
            <a:off x="863600" y="3984020"/>
            <a:ext cx="693268" cy="32893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="true" i="false" u="none" strike="noStrike" kern="0">
                <a:solidFill>
                  <a:srgbClr val="E9972D"/>
                </a:solidFill>
                <a:latin typeface="Arial"/>
              </a:rPr>
              <a:t>4.4x</a:t>
            </a:r>
            <a:endParaRPr lang="en-US" sz="1100"/>
          </a:p>
        </p:txBody>
      </p:sp>
      <p:sp>
        <p:nvSpPr>
          <p:cNvPr name="GraphCompose Text Line" id="100"/>
          <p:cNvSpPr txBox="true"/>
          <p:nvPr/>
        </p:nvSpPr>
        <p:spPr>
          <a:xfrm>
            <a:off x="863600" y="4404182"/>
            <a:ext cx="1958048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faster than iText 9 at 1000 rows</a:t>
            </a:r>
            <a:endParaRPr lang="en-US" sz="1100"/>
          </a:p>
        </p:txBody>
      </p:sp>
      <p:sp>
        <p:nvSpPr>
          <p:cNvPr name="AutoShape 101" id="101"/>
          <p:cNvSpPr/>
          <p:nvPr/>
        </p:nvSpPr>
        <p:spPr>
          <a:xfrm>
            <a:off x="4343400" y="3847414"/>
            <a:ext cx="3505200" cy="915353"/>
          </a:xfrm>
          <a:prstGeom prst="roundRect">
            <a:avLst>
              <a:gd name="adj" fmla="val 13874"/>
            </a:avLst>
          </a:prstGeom>
          <a:solidFill>
            <a:srgbClr val="141A2F"/>
          </a:solidFill>
          <a:ln>
            <a:noFill/>
          </a:ln>
        </p:spPr>
      </p:sp>
      <p:cxnSp>
        <p:nvCxnSpPr>
          <p:cNvPr name="Connector 102" id="102"/>
          <p:cNvCxnSpPr/>
          <p:nvPr/>
        </p:nvCxnSpPr>
        <p:spPr>
          <a:xfrm>
            <a:off x="4343400" y="3847414"/>
            <a:ext cx="3505200" cy="0"/>
          </a:xfrm>
          <a:prstGeom prst="line">
            <a:avLst/>
          </a:prstGeom>
          <a:ln w="38100">
            <a:solidFill>
              <a:srgbClr val="7A85A8"/>
            </a:solidFill>
          </a:ln>
        </p:spPr>
      </p:cxnSp>
      <p:sp>
        <p:nvSpPr>
          <p:cNvPr name="GraphCompose Text Line" id="103"/>
          <p:cNvSpPr txBox="true"/>
          <p:nvPr/>
        </p:nvSpPr>
        <p:spPr>
          <a:xfrm>
            <a:off x="4546600" y="3984020"/>
            <a:ext cx="693268" cy="32893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="true" i="false" u="none" strike="noStrike" kern="0">
                <a:solidFill>
                  <a:srgbClr val="7A85A8"/>
                </a:solidFill>
                <a:latin typeface="Arial"/>
              </a:rPr>
              <a:t>3.5x</a:t>
            </a:r>
            <a:endParaRPr lang="en-US" sz="1100"/>
          </a:p>
        </p:txBody>
      </p:sp>
      <p:sp>
        <p:nvSpPr>
          <p:cNvPr name="GraphCompose Text Line" id="104"/>
          <p:cNvSpPr txBox="true"/>
          <p:nvPr/>
        </p:nvSpPr>
        <p:spPr>
          <a:xfrm>
            <a:off x="4546600" y="4404182"/>
            <a:ext cx="1150442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lighter than iText 9</a:t>
            </a:r>
            <a:endParaRPr lang="en-US" sz="1100"/>
          </a:p>
        </p:txBody>
      </p:sp>
      <p:sp>
        <p:nvSpPr>
          <p:cNvPr name="AutoShape 105" id="105"/>
          <p:cNvSpPr/>
          <p:nvPr/>
        </p:nvSpPr>
        <p:spPr>
          <a:xfrm>
            <a:off x="8026400" y="3847414"/>
            <a:ext cx="3505200" cy="915353"/>
          </a:xfrm>
          <a:prstGeom prst="roundRect">
            <a:avLst>
              <a:gd name="adj" fmla="val 13874"/>
            </a:avLst>
          </a:prstGeom>
          <a:solidFill>
            <a:srgbClr val="141A2F"/>
          </a:solidFill>
          <a:ln>
            <a:noFill/>
          </a:ln>
        </p:spPr>
      </p:sp>
      <p:cxnSp>
        <p:nvCxnSpPr>
          <p:cNvPr name="Connector 106" id="106"/>
          <p:cNvCxnSpPr/>
          <p:nvPr/>
        </p:nvCxnSpPr>
        <p:spPr>
          <a:xfrm>
            <a:off x="8026400" y="3847414"/>
            <a:ext cx="3505200" cy="0"/>
          </a:xfrm>
          <a:prstGeom prst="line">
            <a:avLst/>
          </a:prstGeom>
          <a:ln w="38100">
            <a:solidFill>
              <a:srgbClr val="5DC88F"/>
            </a:solidFill>
          </a:ln>
        </p:spPr>
      </p:cxnSp>
      <p:sp>
        <p:nvSpPr>
          <p:cNvPr name="GraphCompose Text Line" id="107"/>
          <p:cNvSpPr txBox="true"/>
          <p:nvPr/>
        </p:nvSpPr>
        <p:spPr>
          <a:xfrm>
            <a:off x="8229600" y="3984020"/>
            <a:ext cx="693268" cy="32893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="true" i="false" u="none" strike="noStrike" kern="0">
                <a:solidFill>
                  <a:srgbClr val="5DC88F"/>
                </a:solidFill>
                <a:latin typeface="Arial"/>
              </a:rPr>
              <a:t>2.7x</a:t>
            </a:r>
            <a:endParaRPr lang="en-US" sz="1100"/>
          </a:p>
        </p:txBody>
      </p:sp>
      <p:sp>
        <p:nvSpPr>
          <p:cNvPr name="GraphCompose Text Line" id="108"/>
          <p:cNvSpPr txBox="true"/>
          <p:nvPr/>
        </p:nvSpPr>
        <p:spPr>
          <a:xfrm>
            <a:off x="8229600" y="4404182"/>
            <a:ext cx="1639532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lighter than JasperReports</a:t>
            </a:r>
            <a:endParaRPr lang="en-US" sz="1100"/>
          </a:p>
        </p:txBody>
      </p:sp>
      <p:sp>
        <p:nvSpPr>
          <p:cNvPr name="GraphCompose Text Line" id="109"/>
          <p:cNvSpPr txBox="true"/>
          <p:nvPr/>
        </p:nvSpPr>
        <p:spPr>
          <a:xfrm>
            <a:off x="660400" y="4968772"/>
            <a:ext cx="10328427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false" i="false" u="none" strike="noStrike" kern="0">
                <a:solidFill>
                  <a:srgbClr val="68728E"/>
                </a:solidFill>
                <a:latin typeface="Arial"/>
              </a:rPr>
              <a:t>Measured 2026-08-04 22:16:04 · 50 warmup / 100 measurement iterations on one machine. Read the ratios rather than the milliseconds: all three engines are measured in the same run, so their</a:t>
            </a:r>
            <a:endParaRPr lang="en-US" sz="1100"/>
          </a:p>
        </p:txBody>
      </p:sp>
      <p:sp>
        <p:nvSpPr>
          <p:cNvPr name="GraphCompose Text Line" id="110"/>
          <p:cNvSpPr txBox="true"/>
          <p:nvPr/>
        </p:nvSpPr>
        <p:spPr>
          <a:xfrm>
            <a:off x="660400" y="5118473"/>
            <a:ext cx="3548621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false" i="false" u="none" strike="noStrike" kern="0">
                <a:solidFill>
                  <a:srgbClr val="68728E"/>
                </a:solidFill>
                <a:latin typeface="Arial"/>
              </a:rPr>
              <a:t>proportions survive a change of hardware while the timings do not.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21"/>
          </a:solidFill>
          <a:ln>
            <a:noFill/>
          </a:ln>
        </p:spPr>
      </p:sp>
      <p:sp>
        <p:nvSpPr>
          <p:cNvPr name="GraphCompose Text Line" id="3"/>
          <p:cNvSpPr txBox="true"/>
          <p:nvPr/>
        </p:nvSpPr>
        <p:spPr>
          <a:xfrm>
            <a:off x="660400" y="454168"/>
            <a:ext cx="588010" cy="10980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E9972D"/>
                </a:solidFill>
                <a:latin typeface="Courier New"/>
              </a:rPr>
              <a:t>SCALING</a:t>
            </a:r>
            <a:endParaRPr lang="en-US" sz="1100"/>
          </a:p>
        </p:txBody>
      </p:sp>
      <p:sp>
        <p:nvSpPr>
          <p:cNvPr name="GraphCompose Text Line" id="4"/>
          <p:cNvSpPr txBox="true"/>
          <p:nvPr/>
        </p:nvSpPr>
        <p:spPr>
          <a:xfrm>
            <a:off x="660400" y="597253"/>
            <a:ext cx="6225667" cy="35242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000" b="true" i="false" u="none" strike="noStrike" kern="0">
                <a:solidFill>
                  <a:srgbClr val="F7F8FC"/>
                </a:solidFill>
                <a:latin typeface="Arial"/>
              </a:rPr>
              <a:t>What changes as the report grows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>
            <a:off x="660400" y="1173429"/>
            <a:ext cx="1219200" cy="50800"/>
          </a:xfrm>
          <a:prstGeom prst="rect">
            <a:avLst/>
          </a:prstGeom>
          <a:solidFill>
            <a:srgbClr val="E9972D"/>
          </a:solidFill>
          <a:ln>
            <a:noFill/>
          </a:ln>
        </p:spPr>
      </p:sp>
      <p:sp>
        <p:nvSpPr>
          <p:cNvPr name="GraphCompose Text Line" id="6"/>
          <p:cNvSpPr txBox="true"/>
          <p:nvPr/>
        </p:nvSpPr>
        <p:spPr>
          <a:xfrm>
            <a:off x="660400" y="1396510"/>
            <a:ext cx="10737063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false" i="false" u="none" strike="noStrike" kern="0">
                <a:solidFill>
                  <a:srgbClr val="CED4E6"/>
                </a:solidFill>
                <a:latin typeface="Arial"/>
              </a:rPr>
              <a:t>From 40 to 1000 rows the time lead over iText widens; JasperReports closes to roughly the same render time at the top size, while GraphCompose</a:t>
            </a:r>
            <a:endParaRPr lang="en-US" sz="1100"/>
          </a:p>
        </p:txBody>
      </p:sp>
      <p:sp>
        <p:nvSpPr>
          <p:cNvPr name="GraphCompose Text Line" id="7"/>
          <p:cNvSpPr txBox="true"/>
          <p:nvPr/>
        </p:nvSpPr>
        <p:spPr>
          <a:xfrm>
            <a:off x="660400" y="1600028"/>
            <a:ext cx="9388691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false" i="false" u="none" strike="noStrike" kern="0">
                <a:solidFill>
                  <a:srgbClr val="CED4E6"/>
                </a:solidFill>
                <a:latin typeface="Arial"/>
              </a:rPr>
              <a:t>stays markedly lighter on memory than both throughout. Every series reads from the same file as the table on the previous page.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>
            <a:off x="660400" y="2253564"/>
            <a:ext cx="5308600" cy="2847657"/>
          </a:xfrm>
          <a:prstGeom prst="roundRect">
            <a:avLst>
              <a:gd name="adj" fmla="val 4460"/>
            </a:avLst>
          </a:prstGeom>
          <a:solidFill>
            <a:srgbClr val="141A2F"/>
          </a:solidFill>
          <a:ln w="12700">
            <a:solidFill>
              <a:srgbClr val="303856"/>
            </a:solidFill>
          </a:ln>
        </p:spPr>
      </p:sp>
      <p:sp>
        <p:nvSpPr>
          <p:cNvPr name="GraphCompose Text Line" id="9"/>
          <p:cNvSpPr txBox="true"/>
          <p:nvPr/>
        </p:nvSpPr>
        <p:spPr>
          <a:xfrm>
            <a:off x="863600" y="2428224"/>
            <a:ext cx="2406599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true" i="false" u="none" strike="noStrike" kern="0">
                <a:solidFill>
                  <a:srgbClr val="F7F8FC"/>
                </a:solidFill>
                <a:latin typeface="Arial"/>
              </a:rPr>
              <a:t>Render time vs. report size — ms</a:t>
            </a:r>
            <a:endParaRPr lang="en-US" sz="1100"/>
          </a:p>
        </p:txBody>
      </p:sp>
      <p:sp>
        <p:nvSpPr>
          <p:cNvPr name="GraphCompose Text Line" id="10"/>
          <p:cNvSpPr txBox="true"/>
          <p:nvPr/>
        </p:nvSpPr>
        <p:spPr>
          <a:xfrm>
            <a:off x="863600" y="2612050"/>
            <a:ext cx="784606" cy="11747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 b="false" i="false" u="none" strike="noStrike" kern="0">
                <a:solidFill>
                  <a:srgbClr val="68728E"/>
                </a:solidFill>
                <a:latin typeface="Arial"/>
              </a:rPr>
              <a:t>lower is faster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flipV="false">
            <a:off x="1108710" y="4605845"/>
            <a:ext cx="4657090" cy="0"/>
          </a:xfrm>
          <a:prstGeom prst="line">
            <a:avLst/>
          </a:prstGeom>
          <a:ln w="7620" cap="flat">
            <a:solidFill>
              <a:srgbClr val="303856"/>
            </a:solidFill>
          </a:ln>
        </p:spPr>
      </p:cxnSp>
      <p:sp>
        <p:nvSpPr>
          <p:cNvPr name="GraphCompose Text Line" id="12"/>
          <p:cNvSpPr txBox="true"/>
          <p:nvPr/>
        </p:nvSpPr>
        <p:spPr>
          <a:xfrm>
            <a:off x="993140" y="4553758"/>
            <a:ext cx="6604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8C95AF"/>
                </a:solidFill>
                <a:latin typeface="Courier New"/>
              </a:rPr>
              <a:t>0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flipV="false">
            <a:off x="1108710" y="4153318"/>
            <a:ext cx="4657090" cy="0"/>
          </a:xfrm>
          <a:prstGeom prst="line">
            <a:avLst/>
          </a:prstGeom>
          <a:ln w="7620" cap="flat">
            <a:solidFill>
              <a:srgbClr val="303856"/>
            </a:solidFill>
          </a:ln>
        </p:spPr>
      </p:cxnSp>
      <p:sp>
        <p:nvSpPr>
          <p:cNvPr name="GraphCompose Text Line" id="14"/>
          <p:cNvSpPr txBox="true"/>
          <p:nvPr/>
        </p:nvSpPr>
        <p:spPr>
          <a:xfrm>
            <a:off x="928370" y="4101230"/>
            <a:ext cx="13081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8C95AF"/>
                </a:solidFill>
                <a:latin typeface="Courier New"/>
              </a:rPr>
              <a:t>50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flipV="false">
            <a:off x="1108710" y="3700790"/>
            <a:ext cx="4657090" cy="0"/>
          </a:xfrm>
          <a:prstGeom prst="line">
            <a:avLst/>
          </a:prstGeom>
          <a:ln w="7620" cap="flat">
            <a:solidFill>
              <a:srgbClr val="303856"/>
            </a:solidFill>
          </a:ln>
        </p:spPr>
      </p:cxnSp>
      <p:sp>
        <p:nvSpPr>
          <p:cNvPr name="GraphCompose Text Line" id="16"/>
          <p:cNvSpPr txBox="true"/>
          <p:nvPr/>
        </p:nvSpPr>
        <p:spPr>
          <a:xfrm>
            <a:off x="863600" y="3648702"/>
            <a:ext cx="19558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8C95AF"/>
                </a:solidFill>
                <a:latin typeface="Courier New"/>
              </a:rPr>
              <a:t>100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flipV="false">
            <a:off x="1108710" y="3248262"/>
            <a:ext cx="4657090" cy="0"/>
          </a:xfrm>
          <a:prstGeom prst="line">
            <a:avLst/>
          </a:prstGeom>
          <a:ln w="7620" cap="flat">
            <a:solidFill>
              <a:srgbClr val="303856"/>
            </a:solidFill>
          </a:ln>
        </p:spPr>
      </p:cxnSp>
      <p:sp>
        <p:nvSpPr>
          <p:cNvPr name="GraphCompose Text Line" id="18"/>
          <p:cNvSpPr txBox="true"/>
          <p:nvPr/>
        </p:nvSpPr>
        <p:spPr>
          <a:xfrm>
            <a:off x="863600" y="3196174"/>
            <a:ext cx="19558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8C95AF"/>
                </a:solidFill>
                <a:latin typeface="Courier New"/>
              </a:rPr>
              <a:t>150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flipV="false">
            <a:off x="1108710" y="2795734"/>
            <a:ext cx="4657090" cy="0"/>
          </a:xfrm>
          <a:prstGeom prst="line">
            <a:avLst/>
          </a:prstGeom>
          <a:ln w="7620" cap="flat">
            <a:solidFill>
              <a:srgbClr val="303856"/>
            </a:solidFill>
          </a:ln>
        </p:spPr>
      </p:cxnSp>
      <p:sp>
        <p:nvSpPr>
          <p:cNvPr name="GraphCompose Text Line" id="20"/>
          <p:cNvSpPr txBox="true"/>
          <p:nvPr/>
        </p:nvSpPr>
        <p:spPr>
          <a:xfrm>
            <a:off x="863600" y="2743646"/>
            <a:ext cx="19558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8C95AF"/>
                </a:solidFill>
                <a:latin typeface="Courier New"/>
              </a:rPr>
              <a:t>200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flipV="true">
            <a:off x="1884892" y="4507104"/>
            <a:ext cx="1552363" cy="61815"/>
          </a:xfrm>
          <a:prstGeom prst="line">
            <a:avLst/>
          </a:prstGeom>
          <a:ln w="25400" cap="flat">
            <a:solidFill>
              <a:srgbClr val="E9972D"/>
            </a:solidFill>
          </a:ln>
        </p:spPr>
      </p:cxnSp>
      <p:cxnSp>
        <p:nvCxnSpPr>
          <p:cNvPr name="Connector 22" id="22"/>
          <p:cNvCxnSpPr/>
          <p:nvPr/>
        </p:nvCxnSpPr>
        <p:spPr>
          <a:xfrm flipV="true">
            <a:off x="3437255" y="4218844"/>
            <a:ext cx="1552363" cy="288260"/>
          </a:xfrm>
          <a:prstGeom prst="line">
            <a:avLst/>
          </a:prstGeom>
          <a:ln w="25400" cap="flat">
            <a:solidFill>
              <a:srgbClr val="E9972D"/>
            </a:solidFill>
          </a:ln>
        </p:spPr>
      </p:cxnSp>
      <p:cxnSp>
        <p:nvCxnSpPr>
          <p:cNvPr name="Connector 23" id="23"/>
          <p:cNvCxnSpPr/>
          <p:nvPr/>
        </p:nvCxnSpPr>
        <p:spPr>
          <a:xfrm flipV="true">
            <a:off x="1884892" y="4274867"/>
            <a:ext cx="1552363" cy="240835"/>
          </a:xfrm>
          <a:prstGeom prst="line">
            <a:avLst/>
          </a:prstGeom>
          <a:ln w="25400" cap="flat">
            <a:solidFill>
              <a:srgbClr val="7A85A8"/>
            </a:solidFill>
          </a:ln>
        </p:spPr>
      </p:cxnSp>
      <p:cxnSp>
        <p:nvCxnSpPr>
          <p:cNvPr name="Connector 24" id="24"/>
          <p:cNvCxnSpPr/>
          <p:nvPr/>
        </p:nvCxnSpPr>
        <p:spPr>
          <a:xfrm flipV="true">
            <a:off x="3437255" y="2894204"/>
            <a:ext cx="1552363" cy="1380663"/>
          </a:xfrm>
          <a:prstGeom prst="line">
            <a:avLst/>
          </a:prstGeom>
          <a:ln w="25400" cap="flat">
            <a:solidFill>
              <a:srgbClr val="7A85A8"/>
            </a:solidFill>
          </a:ln>
        </p:spPr>
      </p:cxnSp>
      <p:cxnSp>
        <p:nvCxnSpPr>
          <p:cNvPr name="Connector 25" id="25"/>
          <p:cNvCxnSpPr/>
          <p:nvPr/>
        </p:nvCxnSpPr>
        <p:spPr>
          <a:xfrm flipV="true">
            <a:off x="1884892" y="4484025"/>
            <a:ext cx="1552363" cy="47063"/>
          </a:xfrm>
          <a:prstGeom prst="line">
            <a:avLst/>
          </a:prstGeom>
          <a:ln w="25400" cap="flat">
            <a:solidFill>
              <a:srgbClr val="5DC88F"/>
            </a:solidFill>
          </a:ln>
        </p:spPr>
      </p:cxnSp>
      <p:cxnSp>
        <p:nvCxnSpPr>
          <p:cNvPr name="Connector 26" id="26"/>
          <p:cNvCxnSpPr/>
          <p:nvPr/>
        </p:nvCxnSpPr>
        <p:spPr>
          <a:xfrm flipV="true">
            <a:off x="3437255" y="4210517"/>
            <a:ext cx="1552363" cy="273508"/>
          </a:xfrm>
          <a:prstGeom prst="line">
            <a:avLst/>
          </a:prstGeom>
          <a:ln w="25400" cap="flat">
            <a:solidFill>
              <a:srgbClr val="5DC88F"/>
            </a:solidFill>
          </a:ln>
        </p:spPr>
      </p:cxnSp>
      <p:sp>
        <p:nvSpPr>
          <p:cNvPr name="GraphCompose Text Line" id="27"/>
          <p:cNvSpPr txBox="true"/>
          <p:nvPr/>
        </p:nvSpPr>
        <p:spPr>
          <a:xfrm>
            <a:off x="1820122" y="4634676"/>
            <a:ext cx="13081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8C95AF"/>
                </a:solidFill>
                <a:latin typeface="Courier New"/>
              </a:rPr>
              <a:t>40</a:t>
            </a:r>
            <a:endParaRPr lang="en-US" sz="1100"/>
          </a:p>
        </p:txBody>
      </p:sp>
      <p:sp>
        <p:nvSpPr>
          <p:cNvPr name="GraphCompose Text Line" id="28"/>
          <p:cNvSpPr txBox="true"/>
          <p:nvPr/>
        </p:nvSpPr>
        <p:spPr>
          <a:xfrm>
            <a:off x="3340100" y="4634676"/>
            <a:ext cx="19558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8C95AF"/>
                </a:solidFill>
                <a:latin typeface="Courier New"/>
              </a:rPr>
              <a:t>200</a:t>
            </a:r>
            <a:endParaRPr lang="en-US" sz="1100"/>
          </a:p>
        </p:txBody>
      </p:sp>
      <p:sp>
        <p:nvSpPr>
          <p:cNvPr name="GraphCompose Text Line" id="29"/>
          <p:cNvSpPr txBox="true"/>
          <p:nvPr/>
        </p:nvSpPr>
        <p:spPr>
          <a:xfrm>
            <a:off x="4860078" y="4634676"/>
            <a:ext cx="26035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8C95AF"/>
                </a:solidFill>
                <a:latin typeface="Courier New"/>
              </a:rPr>
              <a:t>1000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>
            <a:off x="1942789" y="4751807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E9972D"/>
          </a:solidFill>
          <a:ln>
            <a:noFill/>
          </a:ln>
        </p:spPr>
      </p:sp>
      <p:sp>
        <p:nvSpPr>
          <p:cNvPr name="GraphCompose Text Line" id="31"/>
          <p:cNvSpPr txBox="true"/>
          <p:nvPr/>
        </p:nvSpPr>
        <p:spPr>
          <a:xfrm>
            <a:off x="2107889" y="4745489"/>
            <a:ext cx="807999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8C95AF"/>
                </a:solidFill>
                <a:latin typeface="Arial"/>
              </a:rPr>
              <a:t>GraphCompose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>
            <a:off x="3092418" y="4751807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7A85A8"/>
          </a:solidFill>
          <a:ln>
            <a:noFill/>
          </a:ln>
        </p:spPr>
      </p:sp>
      <p:sp>
        <p:nvSpPr>
          <p:cNvPr name="GraphCompose Text Line" id="33"/>
          <p:cNvSpPr txBox="true"/>
          <p:nvPr/>
        </p:nvSpPr>
        <p:spPr>
          <a:xfrm>
            <a:off x="3257518" y="4745489"/>
            <a:ext cx="344284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8C95AF"/>
                </a:solidFill>
                <a:latin typeface="Arial"/>
              </a:rPr>
              <a:t>iText 9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>
            <a:off x="3778333" y="4751807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5DC88F"/>
          </a:solidFill>
          <a:ln>
            <a:noFill/>
          </a:ln>
        </p:spPr>
      </p:sp>
      <p:sp>
        <p:nvSpPr>
          <p:cNvPr name="GraphCompose Text Line" id="35"/>
          <p:cNvSpPr txBox="true"/>
          <p:nvPr/>
        </p:nvSpPr>
        <p:spPr>
          <a:xfrm>
            <a:off x="3943433" y="4745489"/>
            <a:ext cx="744449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8C95AF"/>
                </a:solidFill>
                <a:latin typeface="Arial"/>
              </a:rPr>
              <a:t>JasperReports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>
            <a:off x="6223000" y="2253564"/>
            <a:ext cx="5308600" cy="2847657"/>
          </a:xfrm>
          <a:prstGeom prst="roundRect">
            <a:avLst>
              <a:gd name="adj" fmla="val 4460"/>
            </a:avLst>
          </a:prstGeom>
          <a:solidFill>
            <a:srgbClr val="141A2F"/>
          </a:solidFill>
          <a:ln w="12700">
            <a:solidFill>
              <a:srgbClr val="303856"/>
            </a:solidFill>
          </a:ln>
        </p:spPr>
      </p:sp>
      <p:sp>
        <p:nvSpPr>
          <p:cNvPr name="GraphCompose Text Line" id="37"/>
          <p:cNvSpPr txBox="true"/>
          <p:nvPr/>
        </p:nvSpPr>
        <p:spPr>
          <a:xfrm>
            <a:off x="6426200" y="2428224"/>
            <a:ext cx="2296566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true" i="false" u="none" strike="noStrike" kern="0">
                <a:solidFill>
                  <a:srgbClr val="F7F8FC"/>
                </a:solidFill>
                <a:latin typeface="Arial"/>
              </a:rPr>
              <a:t>Peak heap vs. report size — MB</a:t>
            </a:r>
            <a:endParaRPr lang="en-US" sz="1100"/>
          </a:p>
        </p:txBody>
      </p:sp>
      <p:sp>
        <p:nvSpPr>
          <p:cNvPr name="GraphCompose Text Line" id="38"/>
          <p:cNvSpPr txBox="true"/>
          <p:nvPr/>
        </p:nvSpPr>
        <p:spPr>
          <a:xfrm>
            <a:off x="6426200" y="2612050"/>
            <a:ext cx="812800" cy="11747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 b="false" i="false" u="none" strike="noStrike" kern="0">
                <a:solidFill>
                  <a:srgbClr val="68728E"/>
                </a:solidFill>
                <a:latin typeface="Arial"/>
              </a:rPr>
              <a:t>lower is lighter</a:t>
            </a:r>
            <a:endParaRPr lang="en-US" sz="1100"/>
          </a:p>
        </p:txBody>
      </p:sp>
      <p:cxnSp>
        <p:nvCxnSpPr>
          <p:cNvPr name="Connector 39" id="39"/>
          <p:cNvCxnSpPr/>
          <p:nvPr/>
        </p:nvCxnSpPr>
        <p:spPr>
          <a:xfrm flipV="false">
            <a:off x="6606540" y="4605845"/>
            <a:ext cx="4721860" cy="0"/>
          </a:xfrm>
          <a:prstGeom prst="line">
            <a:avLst/>
          </a:prstGeom>
          <a:ln w="7620" cap="flat">
            <a:solidFill>
              <a:srgbClr val="303856"/>
            </a:solidFill>
          </a:ln>
        </p:spPr>
      </p:cxnSp>
      <p:sp>
        <p:nvSpPr>
          <p:cNvPr name="GraphCompose Text Line" id="40"/>
          <p:cNvSpPr txBox="true"/>
          <p:nvPr/>
        </p:nvSpPr>
        <p:spPr>
          <a:xfrm>
            <a:off x="6490970" y="4553758"/>
            <a:ext cx="6604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8C95AF"/>
                </a:solidFill>
                <a:latin typeface="Courier New"/>
              </a:rPr>
              <a:t>0</a:t>
            </a:r>
            <a:endParaRPr lang="en-US" sz="1100"/>
          </a:p>
        </p:txBody>
      </p:sp>
      <p:cxnSp>
        <p:nvCxnSpPr>
          <p:cNvPr name="Connector 41" id="41"/>
          <p:cNvCxnSpPr/>
          <p:nvPr/>
        </p:nvCxnSpPr>
        <p:spPr>
          <a:xfrm flipV="false">
            <a:off x="6606540" y="4153318"/>
            <a:ext cx="4721860" cy="0"/>
          </a:xfrm>
          <a:prstGeom prst="line">
            <a:avLst/>
          </a:prstGeom>
          <a:ln w="7620" cap="flat">
            <a:solidFill>
              <a:srgbClr val="303856"/>
            </a:solidFill>
          </a:ln>
        </p:spPr>
      </p:cxnSp>
      <p:sp>
        <p:nvSpPr>
          <p:cNvPr name="GraphCompose Text Line" id="42"/>
          <p:cNvSpPr txBox="true"/>
          <p:nvPr/>
        </p:nvSpPr>
        <p:spPr>
          <a:xfrm>
            <a:off x="6426200" y="4101230"/>
            <a:ext cx="13081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8C95AF"/>
                </a:solidFill>
                <a:latin typeface="Courier New"/>
              </a:rPr>
              <a:t>20</a:t>
            </a:r>
            <a:endParaRPr lang="en-US" sz="1100"/>
          </a:p>
        </p:txBody>
      </p:sp>
      <p:cxnSp>
        <p:nvCxnSpPr>
          <p:cNvPr name="Connector 43" id="43"/>
          <p:cNvCxnSpPr/>
          <p:nvPr/>
        </p:nvCxnSpPr>
        <p:spPr>
          <a:xfrm flipV="false">
            <a:off x="6606540" y="3700790"/>
            <a:ext cx="4721860" cy="0"/>
          </a:xfrm>
          <a:prstGeom prst="line">
            <a:avLst/>
          </a:prstGeom>
          <a:ln w="7620" cap="flat">
            <a:solidFill>
              <a:srgbClr val="303856"/>
            </a:solidFill>
          </a:ln>
        </p:spPr>
      </p:cxnSp>
      <p:sp>
        <p:nvSpPr>
          <p:cNvPr name="GraphCompose Text Line" id="44"/>
          <p:cNvSpPr txBox="true"/>
          <p:nvPr/>
        </p:nvSpPr>
        <p:spPr>
          <a:xfrm>
            <a:off x="6426200" y="3648702"/>
            <a:ext cx="13081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8C95AF"/>
                </a:solidFill>
                <a:latin typeface="Courier New"/>
              </a:rPr>
              <a:t>40</a:t>
            </a:r>
            <a:endParaRPr lang="en-US" sz="1100"/>
          </a:p>
        </p:txBody>
      </p:sp>
      <p:cxnSp>
        <p:nvCxnSpPr>
          <p:cNvPr name="Connector 45" id="45"/>
          <p:cNvCxnSpPr/>
          <p:nvPr/>
        </p:nvCxnSpPr>
        <p:spPr>
          <a:xfrm flipV="false">
            <a:off x="6606540" y="3248262"/>
            <a:ext cx="4721860" cy="0"/>
          </a:xfrm>
          <a:prstGeom prst="line">
            <a:avLst/>
          </a:prstGeom>
          <a:ln w="7620" cap="flat">
            <a:solidFill>
              <a:srgbClr val="303856"/>
            </a:solidFill>
          </a:ln>
        </p:spPr>
      </p:cxnSp>
      <p:sp>
        <p:nvSpPr>
          <p:cNvPr name="GraphCompose Text Line" id="46"/>
          <p:cNvSpPr txBox="true"/>
          <p:nvPr/>
        </p:nvSpPr>
        <p:spPr>
          <a:xfrm>
            <a:off x="6426200" y="3196174"/>
            <a:ext cx="13081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8C95AF"/>
                </a:solidFill>
                <a:latin typeface="Courier New"/>
              </a:rPr>
              <a:t>60</a:t>
            </a:r>
            <a:endParaRPr lang="en-US" sz="1100"/>
          </a:p>
        </p:txBody>
      </p:sp>
      <p:cxnSp>
        <p:nvCxnSpPr>
          <p:cNvPr name="Connector 47" id="47"/>
          <p:cNvCxnSpPr/>
          <p:nvPr/>
        </p:nvCxnSpPr>
        <p:spPr>
          <a:xfrm flipV="false">
            <a:off x="6606540" y="2795734"/>
            <a:ext cx="4721860" cy="0"/>
          </a:xfrm>
          <a:prstGeom prst="line">
            <a:avLst/>
          </a:prstGeom>
          <a:ln w="7620" cap="flat">
            <a:solidFill>
              <a:srgbClr val="303856"/>
            </a:solidFill>
          </a:ln>
        </p:spPr>
      </p:cxnSp>
      <p:sp>
        <p:nvSpPr>
          <p:cNvPr name="GraphCompose Text Line" id="48"/>
          <p:cNvSpPr txBox="true"/>
          <p:nvPr/>
        </p:nvSpPr>
        <p:spPr>
          <a:xfrm>
            <a:off x="6426200" y="2743646"/>
            <a:ext cx="13081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8C95AF"/>
                </a:solidFill>
                <a:latin typeface="Courier New"/>
              </a:rPr>
              <a:t>80</a:t>
            </a:r>
            <a:endParaRPr lang="en-US" sz="1100"/>
          </a:p>
        </p:txBody>
      </p:sp>
      <p:cxnSp>
        <p:nvCxnSpPr>
          <p:cNvPr name="Connector 49" id="49"/>
          <p:cNvCxnSpPr/>
          <p:nvPr/>
        </p:nvCxnSpPr>
        <p:spPr>
          <a:xfrm flipV="true">
            <a:off x="7393517" y="4516471"/>
            <a:ext cx="1573953" cy="66748"/>
          </a:xfrm>
          <a:prstGeom prst="line">
            <a:avLst/>
          </a:prstGeom>
          <a:ln w="25400" cap="flat">
            <a:solidFill>
              <a:srgbClr val="E9972D"/>
            </a:solidFill>
          </a:ln>
        </p:spPr>
      </p:cxnSp>
      <p:cxnSp>
        <p:nvCxnSpPr>
          <p:cNvPr name="Connector 50" id="50"/>
          <p:cNvCxnSpPr/>
          <p:nvPr/>
        </p:nvCxnSpPr>
        <p:spPr>
          <a:xfrm flipV="true">
            <a:off x="8967470" y="4168930"/>
            <a:ext cx="1573953" cy="347541"/>
          </a:xfrm>
          <a:prstGeom prst="line">
            <a:avLst/>
          </a:prstGeom>
          <a:ln w="25400" cap="flat">
            <a:solidFill>
              <a:srgbClr val="E9972D"/>
            </a:solidFill>
          </a:ln>
        </p:spPr>
      </p:cxnSp>
      <p:cxnSp>
        <p:nvCxnSpPr>
          <p:cNvPr name="Connector 51" id="51"/>
          <p:cNvCxnSpPr/>
          <p:nvPr/>
        </p:nvCxnSpPr>
        <p:spPr>
          <a:xfrm flipV="true">
            <a:off x="7393517" y="4297221"/>
            <a:ext cx="1573953" cy="240519"/>
          </a:xfrm>
          <a:prstGeom prst="line">
            <a:avLst/>
          </a:prstGeom>
          <a:ln w="25400" cap="flat">
            <a:solidFill>
              <a:srgbClr val="7A85A8"/>
            </a:solidFill>
          </a:ln>
        </p:spPr>
      </p:cxnSp>
      <p:cxnSp>
        <p:nvCxnSpPr>
          <p:cNvPr name="Connector 52" id="52"/>
          <p:cNvCxnSpPr/>
          <p:nvPr/>
        </p:nvCxnSpPr>
        <p:spPr>
          <a:xfrm flipV="true">
            <a:off x="8967470" y="3083315"/>
            <a:ext cx="1573953" cy="1213906"/>
          </a:xfrm>
          <a:prstGeom prst="line">
            <a:avLst/>
          </a:prstGeom>
          <a:ln w="25400" cap="flat">
            <a:solidFill>
              <a:srgbClr val="7A85A8"/>
            </a:solidFill>
          </a:ln>
        </p:spPr>
      </p:cxnSp>
      <p:cxnSp>
        <p:nvCxnSpPr>
          <p:cNvPr name="Connector 53" id="53"/>
          <p:cNvCxnSpPr/>
          <p:nvPr/>
        </p:nvCxnSpPr>
        <p:spPr>
          <a:xfrm flipV="true">
            <a:off x="7393517" y="4361254"/>
            <a:ext cx="1573953" cy="187347"/>
          </a:xfrm>
          <a:prstGeom prst="line">
            <a:avLst/>
          </a:prstGeom>
          <a:ln w="25400" cap="flat">
            <a:solidFill>
              <a:srgbClr val="5DC88F"/>
            </a:solidFill>
          </a:ln>
        </p:spPr>
      </p:cxnSp>
      <p:cxnSp>
        <p:nvCxnSpPr>
          <p:cNvPr name="Connector 54" id="54"/>
          <p:cNvCxnSpPr/>
          <p:nvPr/>
        </p:nvCxnSpPr>
        <p:spPr>
          <a:xfrm flipV="true">
            <a:off x="8967470" y="3418638"/>
            <a:ext cx="1573953" cy="942616"/>
          </a:xfrm>
          <a:prstGeom prst="line">
            <a:avLst/>
          </a:prstGeom>
          <a:ln w="25400" cap="flat">
            <a:solidFill>
              <a:srgbClr val="5DC88F"/>
            </a:solidFill>
          </a:ln>
        </p:spPr>
      </p:cxnSp>
      <p:sp>
        <p:nvSpPr>
          <p:cNvPr name="GraphCompose Text Line" id="55"/>
          <p:cNvSpPr txBox="true"/>
          <p:nvPr/>
        </p:nvSpPr>
        <p:spPr>
          <a:xfrm>
            <a:off x="7328747" y="4634676"/>
            <a:ext cx="13081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8C95AF"/>
                </a:solidFill>
                <a:latin typeface="Courier New"/>
              </a:rPr>
              <a:t>40</a:t>
            </a:r>
            <a:endParaRPr lang="en-US" sz="1100"/>
          </a:p>
        </p:txBody>
      </p:sp>
      <p:sp>
        <p:nvSpPr>
          <p:cNvPr name="GraphCompose Text Line" id="56"/>
          <p:cNvSpPr txBox="true"/>
          <p:nvPr/>
        </p:nvSpPr>
        <p:spPr>
          <a:xfrm>
            <a:off x="8870315" y="4634676"/>
            <a:ext cx="19558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8C95AF"/>
                </a:solidFill>
                <a:latin typeface="Courier New"/>
              </a:rPr>
              <a:t>200</a:t>
            </a:r>
            <a:endParaRPr lang="en-US" sz="1100"/>
          </a:p>
        </p:txBody>
      </p:sp>
      <p:sp>
        <p:nvSpPr>
          <p:cNvPr name="GraphCompose Text Line" id="57"/>
          <p:cNvSpPr txBox="true"/>
          <p:nvPr/>
        </p:nvSpPr>
        <p:spPr>
          <a:xfrm>
            <a:off x="10411883" y="4634676"/>
            <a:ext cx="26035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8C95AF"/>
                </a:solidFill>
                <a:latin typeface="Courier New"/>
              </a:rPr>
              <a:t>1000</a:t>
            </a:r>
            <a:endParaRPr lang="en-US" sz="1100"/>
          </a:p>
        </p:txBody>
      </p:sp>
      <p:sp>
        <p:nvSpPr>
          <p:cNvPr name="AutoShape 58" id="58"/>
          <p:cNvSpPr/>
          <p:nvPr/>
        </p:nvSpPr>
        <p:spPr>
          <a:xfrm>
            <a:off x="7505389" y="4751807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E9972D"/>
          </a:solidFill>
          <a:ln>
            <a:noFill/>
          </a:ln>
        </p:spPr>
      </p:sp>
      <p:sp>
        <p:nvSpPr>
          <p:cNvPr name="GraphCompose Text Line" id="59"/>
          <p:cNvSpPr txBox="true"/>
          <p:nvPr/>
        </p:nvSpPr>
        <p:spPr>
          <a:xfrm>
            <a:off x="7670489" y="4745489"/>
            <a:ext cx="807999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8C95AF"/>
                </a:solidFill>
                <a:latin typeface="Arial"/>
              </a:rPr>
              <a:t>GraphCompose</a:t>
            </a:r>
            <a:endParaRPr lang="en-US" sz="1100"/>
          </a:p>
        </p:txBody>
      </p:sp>
      <p:sp>
        <p:nvSpPr>
          <p:cNvPr name="AutoShape 60" id="60"/>
          <p:cNvSpPr/>
          <p:nvPr/>
        </p:nvSpPr>
        <p:spPr>
          <a:xfrm>
            <a:off x="8655018" y="4751807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7A85A8"/>
          </a:solidFill>
          <a:ln>
            <a:noFill/>
          </a:ln>
        </p:spPr>
      </p:sp>
      <p:sp>
        <p:nvSpPr>
          <p:cNvPr name="GraphCompose Text Line" id="61"/>
          <p:cNvSpPr txBox="true"/>
          <p:nvPr/>
        </p:nvSpPr>
        <p:spPr>
          <a:xfrm>
            <a:off x="8820118" y="4745489"/>
            <a:ext cx="344284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8C95AF"/>
                </a:solidFill>
                <a:latin typeface="Arial"/>
              </a:rPr>
              <a:t>iText 9</a:t>
            </a:r>
            <a:endParaRPr lang="en-US" sz="1100"/>
          </a:p>
        </p:txBody>
      </p:sp>
      <p:sp>
        <p:nvSpPr>
          <p:cNvPr name="AutoShape 62" id="62"/>
          <p:cNvSpPr/>
          <p:nvPr/>
        </p:nvSpPr>
        <p:spPr>
          <a:xfrm>
            <a:off x="9340933" y="4751807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5DC88F"/>
          </a:solidFill>
          <a:ln>
            <a:noFill/>
          </a:ln>
        </p:spPr>
      </p:sp>
      <p:sp>
        <p:nvSpPr>
          <p:cNvPr name="GraphCompose Text Line" id="63"/>
          <p:cNvSpPr txBox="true"/>
          <p:nvPr/>
        </p:nvSpPr>
        <p:spPr>
          <a:xfrm>
            <a:off x="9506033" y="4745489"/>
            <a:ext cx="744449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8C95AF"/>
                </a:solidFill>
                <a:latin typeface="Arial"/>
              </a:rPr>
              <a:t>JasperReports</a:t>
            </a:r>
            <a:endParaRPr lang="en-US" sz="1100"/>
          </a:p>
        </p:txBody>
      </p:sp>
      <p:sp>
        <p:nvSpPr>
          <p:cNvPr name="GraphCompose Text Line" id="64"/>
          <p:cNvSpPr txBox="true"/>
          <p:nvPr/>
        </p:nvSpPr>
        <p:spPr>
          <a:xfrm>
            <a:off x="660400" y="5332627"/>
            <a:ext cx="10697496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false" i="false" u="none" strike="noStrike" kern="0">
                <a:solidFill>
                  <a:srgbClr val="68728E"/>
                </a:solidFill>
                <a:latin typeface="Arial"/>
              </a:rPr>
              <a:t>Both charts are native vector output: the engine compiles them to the same shapes, lines and text frames as everything else on the page — no image is embedded, and the numbers come from the file,</a:t>
            </a:r>
            <a:endParaRPr lang="en-US" sz="1100"/>
          </a:p>
        </p:txBody>
      </p:sp>
      <p:sp>
        <p:nvSpPr>
          <p:cNvPr name="GraphCompose Text Line" id="65"/>
          <p:cNvSpPr txBox="true"/>
          <p:nvPr/>
        </p:nvSpPr>
        <p:spPr>
          <a:xfrm>
            <a:off x="660400" y="5482328"/>
            <a:ext cx="82627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false" i="false" u="none" strike="noStrike" kern="0">
                <a:solidFill>
                  <a:srgbClr val="68728E"/>
                </a:solidFill>
                <a:latin typeface="Arial"/>
              </a:rPr>
              <a:t>not the caption.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21"/>
          </a:solidFill>
          <a:ln>
            <a:noFill/>
          </a:ln>
        </p:spPr>
      </p:sp>
      <p:sp>
        <p:nvSpPr>
          <p:cNvPr name="GraphCompose Text Line" id="3"/>
          <p:cNvSpPr txBox="true"/>
          <p:nvPr/>
        </p:nvSpPr>
        <p:spPr>
          <a:xfrm>
            <a:off x="660400" y="454168"/>
            <a:ext cx="1007110" cy="10980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E9972D"/>
                </a:solidFill>
                <a:latin typeface="Courier New"/>
              </a:rPr>
              <a:t>MULTILINGUAL</a:t>
            </a:r>
            <a:endParaRPr lang="en-US" sz="1100"/>
          </a:p>
        </p:txBody>
      </p:sp>
      <p:sp>
        <p:nvSpPr>
          <p:cNvPr name="GraphCompose Text Line" id="4"/>
          <p:cNvSpPr txBox="true"/>
          <p:nvPr/>
        </p:nvSpPr>
        <p:spPr>
          <a:xfrm>
            <a:off x="660400" y="597253"/>
            <a:ext cx="5886196" cy="35242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000" b="true" i="false" u="none" strike="noStrike" kern="0">
                <a:solidFill>
                  <a:srgbClr val="F7F8FC"/>
                </a:solidFill>
                <a:latin typeface="Arial"/>
              </a:rPr>
              <a:t>Documents that read right to left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>
            <a:off x="660400" y="1173429"/>
            <a:ext cx="1219200" cy="50800"/>
          </a:xfrm>
          <a:prstGeom prst="rect">
            <a:avLst/>
          </a:prstGeom>
          <a:solidFill>
            <a:srgbClr val="E9972D"/>
          </a:solidFill>
          <a:ln>
            <a:noFill/>
          </a:ln>
        </p:spPr>
      </p:sp>
      <p:sp>
        <p:nvSpPr>
          <p:cNvPr name="GraphCompose Text Line" id="6"/>
          <p:cNvSpPr txBox="true"/>
          <p:nvPr/>
        </p:nvSpPr>
        <p:spPr>
          <a:xfrm>
            <a:off x="660400" y="1396510"/>
            <a:ext cx="10801287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false" i="false" u="none" strike="noStrike" kern="0">
                <a:solidFill>
                  <a:srgbClr val="CED4E6"/>
                </a:solidFill>
                <a:latin typeface="Arial"/>
              </a:rPr>
              <a:t>A paragraph — or a table cell — says which way it runs, and Hebrew and Arabic lay out, join and mirror correctly. The PDF is painted, so the engine</a:t>
            </a:r>
            <a:endParaRPr lang="en-US" sz="1100"/>
          </a:p>
        </p:txBody>
      </p:sp>
      <p:sp>
        <p:nvSpPr>
          <p:cNvPr name="GraphCompose Text Line" id="7"/>
          <p:cNvSpPr txBox="true"/>
          <p:nvPr/>
        </p:nvSpPr>
        <p:spPr>
          <a:xfrm>
            <a:off x="660400" y="1600028"/>
            <a:ext cx="10645267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false" i="false" u="none" strike="noStrike" kern="0">
                <a:solidFill>
                  <a:srgbClr val="CED4E6"/>
                </a:solidFill>
                <a:latin typeface="Arial"/>
              </a:rPr>
              <a:t>resolves the line itself; Word and PowerPoint order text themselves and are told what each needs instead. Five script families ship with the library.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>
            <a:off x="660400" y="2253564"/>
            <a:ext cx="2032000" cy="1214971"/>
          </a:xfrm>
          <a:prstGeom prst="roundRect">
            <a:avLst>
              <a:gd name="adj" fmla="val 10453"/>
            </a:avLst>
          </a:prstGeom>
          <a:solidFill>
            <a:srgbClr val="141A2F"/>
          </a:solidFill>
          <a:ln w="12700">
            <a:solidFill>
              <a:srgbClr val="303856"/>
            </a:solidFill>
          </a:ln>
        </p:spPr>
      </p:sp>
      <p:sp>
        <p:nvSpPr>
          <p:cNvPr name="GraphCompose Text Line" id="9"/>
          <p:cNvSpPr txBox="true"/>
          <p:nvPr/>
        </p:nvSpPr>
        <p:spPr>
          <a:xfrm>
            <a:off x="863600" y="2428224"/>
            <a:ext cx="475539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true" i="false" u="none" strike="noStrike" kern="0">
                <a:solidFill>
                  <a:srgbClr val="F7F8FC"/>
                </a:solidFill>
                <a:latin typeface="Arial"/>
              </a:rPr>
              <a:t>Arabic</a:t>
            </a:r>
            <a:endParaRPr lang="en-US" sz="1100"/>
          </a:p>
        </p:txBody>
      </p:sp>
      <p:sp>
        <p:nvSpPr>
          <p:cNvPr name="GraphCompose Text Line" id="10"/>
          <p:cNvSpPr txBox="true"/>
          <p:nvPr/>
        </p:nvSpPr>
        <p:spPr>
          <a:xfrm>
            <a:off x="863600" y="2626564"/>
            <a:ext cx="32512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8C95AF"/>
                </a:solidFill>
                <a:latin typeface="Courier New"/>
              </a:rPr>
              <a:t>AMIRI</a:t>
            </a:r>
            <a:endParaRPr lang="en-US" sz="1100"/>
          </a:p>
        </p:txBody>
      </p:sp>
      <p:sp>
        <p:nvSpPr>
          <p:cNvPr name="GraphCompose Inline Text Span" id="11"/>
          <p:cNvSpPr txBox="true"/>
          <p:nvPr/>
        </p:nvSpPr>
        <p:spPr>
          <a:xfrm>
            <a:off x="1617396" y="2885783"/>
            <a:ext cx="873074" cy="37955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 rtl="true">
              <a:defRPr/>
            </a:pPr>
            <a:r>
              <a:rPr lang="en-US" sz="1700" b="false" i="false" u="none" strike="noStrike" kern="0">
                <a:solidFill>
                  <a:srgbClr val="F2A844"/>
                </a:solidFill>
                <a:cs typeface="Amiri"/>
              </a:rPr>
              <a:t>مرحبا بالعالم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>
            <a:off x="2870200" y="2253564"/>
            <a:ext cx="2032000" cy="1051319"/>
          </a:xfrm>
          <a:prstGeom prst="roundRect">
            <a:avLst>
              <a:gd name="adj" fmla="val 12080"/>
            </a:avLst>
          </a:prstGeom>
          <a:solidFill>
            <a:srgbClr val="141A2F"/>
          </a:solidFill>
          <a:ln w="12700">
            <a:solidFill>
              <a:srgbClr val="303856"/>
            </a:solidFill>
          </a:ln>
        </p:spPr>
      </p:sp>
      <p:sp>
        <p:nvSpPr>
          <p:cNvPr name="GraphCompose Text Line" id="13"/>
          <p:cNvSpPr txBox="true"/>
          <p:nvPr/>
        </p:nvSpPr>
        <p:spPr>
          <a:xfrm>
            <a:off x="3073400" y="2428224"/>
            <a:ext cx="551739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true" i="false" u="none" strike="noStrike" kern="0">
                <a:solidFill>
                  <a:srgbClr val="F7F8FC"/>
                </a:solidFill>
                <a:latin typeface="Arial"/>
              </a:rPr>
              <a:t>Hebrew</a:t>
            </a:r>
            <a:endParaRPr lang="en-US" sz="1100"/>
          </a:p>
        </p:txBody>
      </p:sp>
      <p:sp>
        <p:nvSpPr>
          <p:cNvPr name="GraphCompose Text Line" id="14"/>
          <p:cNvSpPr txBox="true"/>
          <p:nvPr/>
        </p:nvSpPr>
        <p:spPr>
          <a:xfrm>
            <a:off x="3073400" y="2626564"/>
            <a:ext cx="71374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8C95AF"/>
                </a:solidFill>
                <a:latin typeface="Courier New"/>
              </a:rPr>
              <a:t>DAVID_LIBRE</a:t>
            </a:r>
            <a:endParaRPr lang="en-US" sz="1100"/>
          </a:p>
        </p:txBody>
      </p:sp>
      <p:sp>
        <p:nvSpPr>
          <p:cNvPr name="GraphCompose Inline Text Span" id="15"/>
          <p:cNvSpPr txBox="true"/>
          <p:nvPr/>
        </p:nvSpPr>
        <p:spPr>
          <a:xfrm>
            <a:off x="3765448" y="2885783"/>
            <a:ext cx="934822" cy="21590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 rtl="true">
              <a:defRPr/>
            </a:pPr>
            <a:r>
              <a:rPr lang="en-US" sz="1700" b="false" i="false" u="none" strike="noStrike" kern="0">
                <a:solidFill>
                  <a:srgbClr val="F2A844"/>
                </a:solidFill>
                <a:cs typeface="David Libre"/>
              </a:rPr>
              <a:t>שלום עולם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>
            <a:off x="5080000" y="2253564"/>
            <a:ext cx="2032000" cy="1129043"/>
          </a:xfrm>
          <a:prstGeom prst="roundRect">
            <a:avLst>
              <a:gd name="adj" fmla="val 11248"/>
            </a:avLst>
          </a:prstGeom>
          <a:solidFill>
            <a:srgbClr val="141A2F"/>
          </a:solidFill>
          <a:ln w="12700">
            <a:solidFill>
              <a:srgbClr val="303856"/>
            </a:solidFill>
          </a:ln>
        </p:spPr>
      </p:sp>
      <p:sp>
        <p:nvSpPr>
          <p:cNvPr name="GraphCompose Text Line" id="17"/>
          <p:cNvSpPr txBox="true"/>
          <p:nvPr/>
        </p:nvSpPr>
        <p:spPr>
          <a:xfrm>
            <a:off x="5283200" y="2428224"/>
            <a:ext cx="670306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true" i="false" u="none" strike="noStrike" kern="0">
                <a:solidFill>
                  <a:srgbClr val="F7F8FC"/>
                </a:solidFill>
                <a:latin typeface="Arial"/>
              </a:rPr>
              <a:t>Georgian</a:t>
            </a:r>
            <a:endParaRPr lang="en-US" sz="1100"/>
          </a:p>
        </p:txBody>
      </p:sp>
      <p:sp>
        <p:nvSpPr>
          <p:cNvPr name="GraphCompose Text Line" id="18"/>
          <p:cNvSpPr txBox="true"/>
          <p:nvPr/>
        </p:nvSpPr>
        <p:spPr>
          <a:xfrm>
            <a:off x="5283200" y="2626564"/>
            <a:ext cx="116713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8C95AF"/>
                </a:solidFill>
                <a:latin typeface="Courier New"/>
              </a:rPr>
              <a:t>NOTO_SANS_GEORGIAN</a:t>
            </a:r>
            <a:endParaRPr lang="en-US" sz="1100"/>
          </a:p>
        </p:txBody>
      </p:sp>
      <p:sp>
        <p:nvSpPr>
          <p:cNvPr name="GraphCompose Text Line" id="19"/>
          <p:cNvSpPr txBox="true"/>
          <p:nvPr/>
        </p:nvSpPr>
        <p:spPr>
          <a:xfrm>
            <a:off x="5283200" y="2885783"/>
            <a:ext cx="1216139" cy="29362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700" b="false" i="false" u="none" strike="noStrike" kern="0">
                <a:solidFill>
                  <a:srgbClr val="F2A844"/>
                </a:solidFill>
                <a:latin typeface="Noto Sans Georgian"/>
              </a:rPr>
              <a:t>გამარჯობა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>
            <a:off x="7289800" y="2253564"/>
            <a:ext cx="2032000" cy="1129043"/>
          </a:xfrm>
          <a:prstGeom prst="roundRect">
            <a:avLst>
              <a:gd name="adj" fmla="val 11248"/>
            </a:avLst>
          </a:prstGeom>
          <a:solidFill>
            <a:srgbClr val="141A2F"/>
          </a:solidFill>
          <a:ln w="12700">
            <a:solidFill>
              <a:srgbClr val="303856"/>
            </a:solidFill>
          </a:ln>
        </p:spPr>
      </p:sp>
      <p:sp>
        <p:nvSpPr>
          <p:cNvPr name="GraphCompose Text Line" id="21"/>
          <p:cNvSpPr txBox="true"/>
          <p:nvPr/>
        </p:nvSpPr>
        <p:spPr>
          <a:xfrm>
            <a:off x="7493000" y="2428224"/>
            <a:ext cx="704139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true" i="false" u="none" strike="noStrike" kern="0">
                <a:solidFill>
                  <a:srgbClr val="F7F8FC"/>
                </a:solidFill>
                <a:latin typeface="Arial"/>
              </a:rPr>
              <a:t>Armenian</a:t>
            </a:r>
            <a:endParaRPr lang="en-US" sz="1100"/>
          </a:p>
        </p:txBody>
      </p:sp>
      <p:sp>
        <p:nvSpPr>
          <p:cNvPr name="GraphCompose Text Line" id="22"/>
          <p:cNvSpPr txBox="true"/>
          <p:nvPr/>
        </p:nvSpPr>
        <p:spPr>
          <a:xfrm>
            <a:off x="7493000" y="2626564"/>
            <a:ext cx="116713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8C95AF"/>
                </a:solidFill>
                <a:latin typeface="Courier New"/>
              </a:rPr>
              <a:t>NOTO_SANS_ARMENIAN</a:t>
            </a:r>
            <a:endParaRPr lang="en-US" sz="1100"/>
          </a:p>
        </p:txBody>
      </p:sp>
      <p:sp>
        <p:nvSpPr>
          <p:cNvPr name="GraphCompose Text Line" id="23"/>
          <p:cNvSpPr txBox="true"/>
          <p:nvPr/>
        </p:nvSpPr>
        <p:spPr>
          <a:xfrm>
            <a:off x="7493000" y="2885783"/>
            <a:ext cx="1606702" cy="29362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700" b="false" i="false" u="none" strike="noStrike" kern="0">
                <a:solidFill>
                  <a:srgbClr val="F2A844"/>
                </a:solidFill>
                <a:latin typeface="Noto Sans Armenian"/>
              </a:rPr>
              <a:t>Բարև աշխարհ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>
            <a:off x="9499600" y="2253564"/>
            <a:ext cx="2032000" cy="1051319"/>
          </a:xfrm>
          <a:prstGeom prst="roundRect">
            <a:avLst>
              <a:gd name="adj" fmla="val 12080"/>
            </a:avLst>
          </a:prstGeom>
          <a:solidFill>
            <a:srgbClr val="141A2F"/>
          </a:solidFill>
          <a:ln w="12700">
            <a:solidFill>
              <a:srgbClr val="303856"/>
            </a:solidFill>
          </a:ln>
        </p:spPr>
      </p:sp>
      <p:sp>
        <p:nvSpPr>
          <p:cNvPr name="GraphCompose Text Line" id="25"/>
          <p:cNvSpPr txBox="true"/>
          <p:nvPr/>
        </p:nvSpPr>
        <p:spPr>
          <a:xfrm>
            <a:off x="9702800" y="2428224"/>
            <a:ext cx="526288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true" i="false" u="none" strike="noStrike" kern="0">
                <a:solidFill>
                  <a:srgbClr val="F7F8FC"/>
                </a:solidFill>
                <a:latin typeface="Arial"/>
              </a:rPr>
              <a:t>Korean</a:t>
            </a:r>
            <a:endParaRPr lang="en-US" sz="1100"/>
          </a:p>
        </p:txBody>
      </p:sp>
      <p:sp>
        <p:nvSpPr>
          <p:cNvPr name="GraphCompose Text Line" id="26"/>
          <p:cNvSpPr txBox="true"/>
          <p:nvPr/>
        </p:nvSpPr>
        <p:spPr>
          <a:xfrm>
            <a:off x="9702800" y="2626564"/>
            <a:ext cx="58420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8C95AF"/>
                </a:solidFill>
                <a:latin typeface="Courier New"/>
              </a:rPr>
              <a:t>GOTHIC_A1</a:t>
            </a:r>
            <a:endParaRPr lang="en-US" sz="1100"/>
          </a:p>
        </p:txBody>
      </p:sp>
      <p:sp>
        <p:nvSpPr>
          <p:cNvPr name="GraphCompose Text Line" id="27"/>
          <p:cNvSpPr txBox="true"/>
          <p:nvPr/>
        </p:nvSpPr>
        <p:spPr>
          <a:xfrm>
            <a:off x="9702800" y="2885783"/>
            <a:ext cx="1038670" cy="21590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700" b="false" i="false" u="none" strike="noStrike" kern="0">
                <a:solidFill>
                  <a:srgbClr val="F2A844"/>
                </a:solidFill>
                <a:ea typeface="Gothic A1"/>
              </a:rPr>
              <a:t>안녕하세요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>
            <a:off x="660400" y="3697135"/>
            <a:ext cx="3505200" cy="1111885"/>
          </a:xfrm>
          <a:prstGeom prst="roundRect">
            <a:avLst>
              <a:gd name="adj" fmla="val 11422"/>
            </a:avLst>
          </a:prstGeom>
          <a:solidFill>
            <a:srgbClr val="192038"/>
          </a:solidFill>
          <a:ln>
            <a:noFill/>
          </a:ln>
        </p:spPr>
      </p:sp>
      <p:cxnSp>
        <p:nvCxnSpPr>
          <p:cNvPr name="Connector 29" id="29"/>
          <p:cNvCxnSpPr/>
          <p:nvPr/>
        </p:nvCxnSpPr>
        <p:spPr>
          <a:xfrm>
            <a:off x="660400" y="3697135"/>
            <a:ext cx="3505200" cy="0"/>
          </a:xfrm>
          <a:prstGeom prst="line">
            <a:avLst/>
          </a:prstGeom>
          <a:ln w="38100">
            <a:solidFill>
              <a:srgbClr val="E9972D"/>
            </a:solidFill>
          </a:ln>
        </p:spPr>
      </p:cxnSp>
      <p:sp>
        <p:nvSpPr>
          <p:cNvPr name="GraphCompose Text Line" id="30"/>
          <p:cNvSpPr txBox="true"/>
          <p:nvPr/>
        </p:nvSpPr>
        <p:spPr>
          <a:xfrm>
            <a:off x="863600" y="3869416"/>
            <a:ext cx="1973720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true" i="false" u="none" strike="noStrike" kern="0">
                <a:solidFill>
                  <a:srgbClr val="F7F8FC"/>
                </a:solidFill>
                <a:latin typeface="Arial"/>
              </a:rPr>
              <a:t>Ordered by the algorithm</a:t>
            </a:r>
            <a:endParaRPr lang="en-US" sz="1100"/>
          </a:p>
        </p:txBody>
      </p:sp>
      <p:sp>
        <p:nvSpPr>
          <p:cNvPr name="GraphCompose Text Line" id="31"/>
          <p:cNvSpPr txBox="true"/>
          <p:nvPr/>
        </p:nvSpPr>
        <p:spPr>
          <a:xfrm>
            <a:off x="863600" y="4115791"/>
            <a:ext cx="3045054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Lines resolve through UAX #9, so a Latin word or</a:t>
            </a:r>
            <a:endParaRPr lang="en-US" sz="1100"/>
          </a:p>
        </p:txBody>
      </p:sp>
      <p:sp>
        <p:nvSpPr>
          <p:cNvPr name="GraphCompose Text Line" id="32"/>
          <p:cNvSpPr txBox="true"/>
          <p:nvPr/>
        </p:nvSpPr>
        <p:spPr>
          <a:xfrm>
            <a:off x="863600" y="4283113"/>
            <a:ext cx="3005938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a number inside Hebrew keeps running forwards</a:t>
            </a:r>
            <a:endParaRPr lang="en-US" sz="1100"/>
          </a:p>
        </p:txBody>
      </p:sp>
      <p:sp>
        <p:nvSpPr>
          <p:cNvPr name="GraphCompose Text Line" id="33"/>
          <p:cNvSpPr txBox="true"/>
          <p:nvPr/>
        </p:nvSpPr>
        <p:spPr>
          <a:xfrm>
            <a:off x="863600" y="4450436"/>
            <a:ext cx="2866657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and paired punctuation faces what it encloses.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>
            <a:off x="4343400" y="3697135"/>
            <a:ext cx="3505200" cy="1111885"/>
          </a:xfrm>
          <a:prstGeom prst="roundRect">
            <a:avLst>
              <a:gd name="adj" fmla="val 11422"/>
            </a:avLst>
          </a:prstGeom>
          <a:solidFill>
            <a:srgbClr val="192038"/>
          </a:solidFill>
          <a:ln>
            <a:noFill/>
          </a:ln>
        </p:spPr>
      </p:sp>
      <p:cxnSp>
        <p:nvCxnSpPr>
          <p:cNvPr name="Connector 35" id="35"/>
          <p:cNvCxnSpPr/>
          <p:nvPr/>
        </p:nvCxnSpPr>
        <p:spPr>
          <a:xfrm>
            <a:off x="4343400" y="3697135"/>
            <a:ext cx="3505200" cy="0"/>
          </a:xfrm>
          <a:prstGeom prst="line">
            <a:avLst/>
          </a:prstGeom>
          <a:ln w="38100">
            <a:solidFill>
              <a:srgbClr val="E9972D"/>
            </a:solidFill>
          </a:ln>
        </p:spPr>
      </p:cxnSp>
      <p:sp>
        <p:nvSpPr>
          <p:cNvPr name="GraphCompose Text Line" id="36"/>
          <p:cNvSpPr txBox="true"/>
          <p:nvPr/>
        </p:nvSpPr>
        <p:spPr>
          <a:xfrm>
            <a:off x="4546600" y="3869416"/>
            <a:ext cx="1799539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true" i="false" u="none" strike="noStrike" kern="0">
                <a:solidFill>
                  <a:srgbClr val="F7F8FC"/>
                </a:solidFill>
                <a:latin typeface="Arial"/>
              </a:rPr>
              <a:t>Joined, then measured</a:t>
            </a:r>
            <a:endParaRPr lang="en-US" sz="1100"/>
          </a:p>
        </p:txBody>
      </p:sp>
      <p:sp>
        <p:nvSpPr>
          <p:cNvPr name="GraphCompose Text Line" id="37"/>
          <p:cNvSpPr txBox="true"/>
          <p:nvPr/>
        </p:nvSpPr>
        <p:spPr>
          <a:xfrm>
            <a:off x="4546600" y="4115791"/>
            <a:ext cx="2975064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Arabic is shaped into its contextual forms before</a:t>
            </a:r>
            <a:endParaRPr lang="en-US" sz="1100"/>
          </a:p>
        </p:txBody>
      </p:sp>
      <p:sp>
        <p:nvSpPr>
          <p:cNvPr name="GraphCompose Text Line" id="38"/>
          <p:cNvSpPr txBox="true"/>
          <p:nvPr/>
        </p:nvSpPr>
        <p:spPr>
          <a:xfrm>
            <a:off x="4546600" y="4283113"/>
            <a:ext cx="2975064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the line is measured, so a column is sized to the</a:t>
            </a:r>
            <a:endParaRPr lang="en-US" sz="1100"/>
          </a:p>
        </p:txBody>
      </p:sp>
      <p:sp>
        <p:nvSpPr>
          <p:cNvPr name="GraphCompose Text Line" id="39"/>
          <p:cNvSpPr txBox="true"/>
          <p:nvPr/>
        </p:nvSpPr>
        <p:spPr>
          <a:xfrm>
            <a:off x="4546600" y="4450436"/>
            <a:ext cx="1926895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letters the page actually draws.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>
            <a:off x="8026400" y="3697135"/>
            <a:ext cx="3505200" cy="1111885"/>
          </a:xfrm>
          <a:prstGeom prst="roundRect">
            <a:avLst>
              <a:gd name="adj" fmla="val 11422"/>
            </a:avLst>
          </a:prstGeom>
          <a:solidFill>
            <a:srgbClr val="192038"/>
          </a:solidFill>
          <a:ln>
            <a:noFill/>
          </a:ln>
        </p:spPr>
      </p:sp>
      <p:cxnSp>
        <p:nvCxnSpPr>
          <p:cNvPr name="Connector 41" id="41"/>
          <p:cNvCxnSpPr/>
          <p:nvPr/>
        </p:nvCxnSpPr>
        <p:spPr>
          <a:xfrm>
            <a:off x="8026400" y="3697135"/>
            <a:ext cx="3505200" cy="0"/>
          </a:xfrm>
          <a:prstGeom prst="line">
            <a:avLst/>
          </a:prstGeom>
          <a:ln w="38100">
            <a:solidFill>
              <a:srgbClr val="E9972D"/>
            </a:solidFill>
          </a:ln>
        </p:spPr>
      </p:cxnSp>
      <p:sp>
        <p:nvSpPr>
          <p:cNvPr name="GraphCompose Text Line" id="42"/>
          <p:cNvSpPr txBox="true"/>
          <p:nvPr/>
        </p:nvSpPr>
        <p:spPr>
          <a:xfrm>
            <a:off x="8229600" y="3869416"/>
            <a:ext cx="2056435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true" i="false" u="none" strike="noStrike" kern="0">
                <a:solidFill>
                  <a:srgbClr val="F7F8FC"/>
                </a:solidFill>
                <a:latin typeface="Arial"/>
              </a:rPr>
              <a:t>The same in three formats</a:t>
            </a:r>
            <a:endParaRPr lang="en-US" sz="1100"/>
          </a:p>
        </p:txBody>
      </p:sp>
      <p:sp>
        <p:nvSpPr>
          <p:cNvPr name="GraphCompose Text Line" id="43"/>
          <p:cNvSpPr txBox="true"/>
          <p:nvPr/>
        </p:nvSpPr>
        <p:spPr>
          <a:xfrm>
            <a:off x="8229600" y="4115791"/>
            <a:ext cx="2936227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PDF, PowerPoint and Word each get what their</a:t>
            </a:r>
            <a:endParaRPr lang="en-US" sz="1100"/>
          </a:p>
        </p:txBody>
      </p:sp>
      <p:sp>
        <p:nvSpPr>
          <p:cNvPr name="GraphCompose Text Line" id="44"/>
          <p:cNvSpPr txBox="true"/>
          <p:nvPr/>
        </p:nvSpPr>
        <p:spPr>
          <a:xfrm>
            <a:off x="8229600" y="4283113"/>
            <a:ext cx="2602624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own text engine needs — the document is</a:t>
            </a:r>
            <a:endParaRPr lang="en-US" sz="1100"/>
          </a:p>
        </p:txBody>
      </p:sp>
      <p:sp>
        <p:nvSpPr>
          <p:cNvPr name="GraphCompose Text Line" id="45"/>
          <p:cNvSpPr txBox="true"/>
          <p:nvPr/>
        </p:nvSpPr>
        <p:spPr>
          <a:xfrm>
            <a:off x="8229600" y="4450436"/>
            <a:ext cx="933209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authored once.</a:t>
            </a:r>
            <a:endParaRPr lang="en-US" sz="1100"/>
          </a:p>
        </p:txBody>
      </p:sp>
      <p:sp>
        <p:nvSpPr>
          <p:cNvPr name="GraphCompose Text Line" id="46"/>
          <p:cNvSpPr txBox="true"/>
          <p:nvPr/>
        </p:nvSpPr>
        <p:spPr>
          <a:xfrm>
            <a:off x="660400" y="5040426"/>
            <a:ext cx="8329981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false" i="false" u="none" strike="noStrike" kern="0">
                <a:solidFill>
                  <a:srgbClr val="68728E"/>
                </a:solidFill>
                <a:latin typeface="Arial"/>
              </a:rPr>
              <a:t>Each card names its FontName constant. Every word of Hebrew and Arabic above was laid out by the engine that drew this page — no image is embedded.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GraphCompose Examples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creator>GraphCompose</dc:creator>
  <cp:keywords>graphcompose, java, maven central, pdf, pptx, document engine</cp:keywords>
  <dcterms:modified xsi:type="dcterms:W3CDTF">2011-08-01T06:04:30Z</dcterms:modified>
  <cp:revision>1</cp:revision>
  <dc:subject>Declarative document generation for Java — one model, PDF and PPTX outputs</dc:subject>
  <dc:title>GraphCompose — available on Maven Central</dc:title>
</cp:coreProperties>
</file>